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trictFirstAndLastChars="0" embedTrueTypeFonts="1" saveSubsetFonts="1" autoCompressPictures="0">
  <p:sldMasterIdLst>
    <p:sldMasterId id="2147483648" r:id="rId1"/>
  </p:sldMasterIdLst>
  <p:notesMasterIdLst>
    <p:notesMasterId r:id="rId7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Lst>
  <p:sldSz cx="16256000" cy="9144000"/>
  <p:notesSz cx="6858000" cy="9144000"/>
  <p:embeddedFontLst>
    <p:embeddedFont>
      <p:font typeface="Calibri" pitchFamily="34" charset="0"/>
      <p:regular r:id="rId78"/>
      <p:bold r:id="rId79"/>
      <p:italic r:id="rId80"/>
      <p:boldItalic r:id="rId81"/>
    </p:embeddedFont>
    <p:embeddedFont>
      <p:font typeface="Open Sans" charset="0"/>
      <p:regular r:id="rId82"/>
      <p:bold r:id="rId83"/>
      <p:italic r:id="rId84"/>
      <p:boldItalic r:id="rId8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modifyVerifier cryptProviderType="rsaFull" cryptAlgorithmClass="hash" cryptAlgorithmType="typeAny" cryptAlgorithmSid="4" spinCount="100000" saltData="FAPdcbAWvD9Om1Porlu99g==" hashData="wogtcZCbCMM/j9pist3+3kp0kp8="/>
  <p:extLst>
    <p:ext uri="{EFAFB233-063F-42B5-8137-9DF3F51BA10A}">
      <p15:sldGuideLst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2880">
          <p15:clr>
            <a:srgbClr val="A4A3A4"/>
          </p15:clr>
        </p15:guide>
        <p15:guide id="2" pos="5120">
          <p15:clr>
            <a:srgbClr val="A4A3A4"/>
          </p15:clr>
        </p15:guide>
      </p15:sldGuideLst>
    </p:ext>
    <p:ext uri="http://customooxmlschemas.google.com/">
      <go:slidesCustomData xmlns:go="http://customooxmlschemas.google.com/"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86" roundtripDataSignature="AMtx7miN3J2+4kvaeaCYnvGPNDi4zpk4M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1317" autoAdjust="0"/>
  </p:normalViewPr>
  <p:slideViewPr>
    <p:cSldViewPr snapToGrid="0">
      <p:cViewPr>
        <p:scale>
          <a:sx n="41" d="100"/>
          <a:sy n="41" d="100"/>
        </p:scale>
        <p:origin x="-1320" y="-198"/>
      </p:cViewPr>
      <p:guideLst>
        <p:guide orient="horz" pos="2880"/>
        <p:guide pos="5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font" Target="fonts/font7.fntdata"/><Relationship Id="rId89" Type="http://schemas.openxmlformats.org/officeDocument/2006/relationships/theme" Target="theme/theme1.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font" Target="fonts/font2.fntdata"/><Relationship Id="rId5" Type="http://schemas.openxmlformats.org/officeDocument/2006/relationships/slide" Target="slides/slide4.xml"/><Relationship Id="rId90" Type="http://schemas.openxmlformats.org/officeDocument/2006/relationships/tableStyles" Target="tableStyles.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font" Target="fonts/font6.fntdata"/><Relationship Id="rId88"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font" Target="fonts/font1.fntdata"/><Relationship Id="rId81" Type="http://schemas.openxmlformats.org/officeDocument/2006/relationships/font" Target="fonts/font4.fntdata"/><Relationship Id="rId86" Type="http://customschemas.google.com/relationships/presentationmetadata" Target="meta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font" Target="fonts/font5.fntdata"/><Relationship Id="rId19"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3168857797"/>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9"/>
        <p:cNvGrpSpPr/>
        <p:nvPr/>
      </p:nvGrpSpPr>
      <p:grpSpPr>
        <a:xfrm>
          <a:off x="0" y="0"/>
          <a:ext cx="0" cy="0"/>
          <a:chOff x="0" y="0"/>
          <a:chExt cx="0" cy="0"/>
        </a:xfrm>
      </p:grpSpPr>
      <p:sp>
        <p:nvSpPr>
          <p:cNvPr id="200" name="Google Shape;200;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4"/>
        <p:cNvGrpSpPr/>
        <p:nvPr/>
      </p:nvGrpSpPr>
      <p:grpSpPr>
        <a:xfrm>
          <a:off x="0" y="0"/>
          <a:ext cx="0" cy="0"/>
          <a:chOff x="0" y="0"/>
          <a:chExt cx="0" cy="0"/>
        </a:xfrm>
      </p:grpSpPr>
      <p:sp>
        <p:nvSpPr>
          <p:cNvPr id="205" name="Google Shape;205;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6" name="Google Shape;206;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These are the OSL names where a learner is expected to go through before attending this class. </a:t>
            </a:r>
            <a:endParaRPr/>
          </a:p>
        </p:txBody>
      </p:sp>
      <p:sp>
        <p:nvSpPr>
          <p:cNvPr id="207" name="Google Shape;207;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771170f5ba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3" name="Google Shape;213;g771170f5ba_0_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Trainer Notes: This is a recap of the OSL module(s) that the learners are expected to go through before attending this lesson. </a:t>
            </a:r>
            <a:endParaRPr/>
          </a:p>
          <a:p>
            <a:pPr marL="0" lvl="0" indent="0" algn="l" rtl="0">
              <a:lnSpc>
                <a:spcPct val="100000"/>
              </a:lnSpc>
              <a:spcBef>
                <a:spcPts val="0"/>
              </a:spcBef>
              <a:spcAft>
                <a:spcPts val="0"/>
              </a:spcAft>
              <a:buSzPts val="1400"/>
              <a:buNone/>
            </a:pPr>
            <a:endParaRPr/>
          </a:p>
        </p:txBody>
      </p:sp>
      <p:sp>
        <p:nvSpPr>
          <p:cNvPr id="214" name="Google Shape;214;g771170f5ba_0_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6" name="Google Shape;226;p4: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400"/>
              <a:buFont typeface="Open Sans"/>
              <a:buNone/>
            </a:pPr>
            <a:r>
              <a:rPr lang="en-US"/>
              <a:t>Trainer Notes: Explain this project matching it to real-life scenario mentioned on the slide to the learners, and instruct them to work on it after the Knowledge checks. Feel free to share more information about other applications of the concept.</a:t>
            </a:r>
            <a:endParaRPr sz="1200" i="0" u="none" strike="noStrike" cap="none">
              <a:solidFill>
                <a:schemeClr val="dk1"/>
              </a:solidFill>
            </a:endParaRPr>
          </a:p>
        </p:txBody>
      </p:sp>
      <p:sp>
        <p:nvSpPr>
          <p:cNvPr id="227" name="Google Shape;227;p4: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4</a:t>
            </a:fld>
            <a:endParaRPr sz="1200">
              <a:solidFill>
                <a:schemeClr val="dk1"/>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Clr>
                <a:schemeClr val="dk1"/>
              </a:buClr>
              <a:buSzPts val="1200"/>
              <a:buFont typeface="Calibri"/>
              <a:buNone/>
            </a:pPr>
            <a:r>
              <a:rPr lang="en-US"/>
              <a:t>Trainer Notes: Summarize all the points and set an expectation about learning these pointers in this lesson. </a:t>
            </a:r>
            <a:endParaRPr sz="1200" b="0" i="0" u="none" strike="noStrike">
              <a:solidFill>
                <a:schemeClr val="dk1"/>
              </a:solidFill>
              <a:latin typeface="Calibri"/>
              <a:ea typeface="Calibri"/>
              <a:cs typeface="Calibri"/>
              <a:sym typeface="Calibri"/>
            </a:endParaRPr>
          </a:p>
        </p:txBody>
      </p:sp>
      <p:sp>
        <p:nvSpPr>
          <p:cNvPr id="232" name="Google Shape;232;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249" name="Google Shape;249;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4" name="Google Shape;254;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Give an overview of Hibernate.</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255" name="Google Shape;255;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8" name="Google Shape;288;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the features of Hibernate.</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289" name="Google Shape;289;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2" name="Google Shape;312;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the features of Hibernate.</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313" name="Google Shape;313;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List the databases and technologies supported by Hibernate.</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337" name="Google Shape;337;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high-level Hibernate architecture.</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the components of hibernate architecture.</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365" name="Google Shape;365;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0"/>
        <p:cNvGrpSpPr/>
        <p:nvPr/>
      </p:nvGrpSpPr>
      <p:grpSpPr>
        <a:xfrm>
          <a:off x="0" y="0"/>
          <a:ext cx="0" cy="0"/>
          <a:chOff x="0" y="0"/>
          <a:chExt cx="0" cy="0"/>
        </a:xfrm>
      </p:grpSpPr>
      <p:sp>
        <p:nvSpPr>
          <p:cNvPr id="391" name="Google Shape;391;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2" name="Google Shape;392;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hibernate architecture in detail.</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all the methods in detail.</a:t>
            </a: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393" name="Google Shape;393;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3" name="Google Shape;423;p1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the elements of hibernate architecture.</a:t>
            </a:r>
            <a:endParaRPr/>
          </a:p>
        </p:txBody>
      </p:sp>
      <p:sp>
        <p:nvSpPr>
          <p:cNvPr id="424" name="Google Shape;424;p1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3"/>
        <p:cNvGrpSpPr/>
        <p:nvPr/>
      </p:nvGrpSpPr>
      <p:grpSpPr>
        <a:xfrm>
          <a:off x="0" y="0"/>
          <a:ext cx="0" cy="0"/>
          <a:chOff x="0" y="0"/>
          <a:chExt cx="0" cy="0"/>
        </a:xfrm>
      </p:grpSpPr>
      <p:sp>
        <p:nvSpPr>
          <p:cNvPr id="444" name="Google Shape;444;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45" name="Google Shape;445;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creation of a Hibernate application on command prompt.</a:t>
            </a:r>
            <a:endParaRPr/>
          </a:p>
        </p:txBody>
      </p:sp>
      <p:sp>
        <p:nvSpPr>
          <p:cNvPr id="446" name="Google Shape;446;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3" name="Google Shape;473;p15: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Explain the problem statement and move to the next slide before proceeding towards the practical.</a:t>
            </a:r>
            <a:endParaRPr dirty="0"/>
          </a:p>
        </p:txBody>
      </p:sp>
      <p:sp>
        <p:nvSpPr>
          <p:cNvPr id="474" name="Google Shape;474;p15: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15</a:t>
            </a:fld>
            <a:endParaRPr sz="120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1" name="Google Shape;481;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482" name="Google Shape;482;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7"/>
        <p:cNvGrpSpPr/>
        <p:nvPr/>
      </p:nvGrpSpPr>
      <p:grpSpPr>
        <a:xfrm>
          <a:off x="0" y="0"/>
          <a:ext cx="0" cy="0"/>
          <a:chOff x="0" y="0"/>
          <a:chExt cx="0" cy="0"/>
        </a:xfrm>
      </p:grpSpPr>
      <p:sp>
        <p:nvSpPr>
          <p:cNvPr id="488" name="Google Shape;488;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9" name="Google Shape;489;p17: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dirty="0" smtClean="0"/>
              <a:t>Trainer Notes:</a:t>
            </a:r>
          </a:p>
          <a:p>
            <a:pPr marL="0" lvl="0" indent="0" algn="l" rtl="0">
              <a:lnSpc>
                <a:spcPct val="115000"/>
              </a:lnSpc>
              <a:spcBef>
                <a:spcPts val="0"/>
              </a:spcBef>
              <a:spcAft>
                <a:spcPts val="0"/>
              </a:spcAft>
              <a:buClr>
                <a:schemeClr val="dk1"/>
              </a:buClr>
              <a:buSzPts val="1100"/>
              <a:buFont typeface="Arial"/>
              <a:buNone/>
            </a:pPr>
            <a:r>
              <a:rPr lang="en-US" sz="1600" dirty="0" smtClean="0"/>
              <a:t>Explain the problem statement and move to the next slide before proceeding towards the practical.</a:t>
            </a:r>
            <a:endParaRPr sz="1600" b="1" i="0" u="none" strike="noStrike" cap="none" dirty="0">
              <a:solidFill>
                <a:schemeClr val="dk1"/>
              </a:solidFill>
            </a:endParaRPr>
          </a:p>
        </p:txBody>
      </p:sp>
      <p:sp>
        <p:nvSpPr>
          <p:cNvPr id="490" name="Google Shape;490;p17: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17</a:t>
            </a:fld>
            <a:endParaRPr sz="120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5"/>
        <p:cNvGrpSpPr/>
        <p:nvPr/>
      </p:nvGrpSpPr>
      <p:grpSpPr>
        <a:xfrm>
          <a:off x="0" y="0"/>
          <a:ext cx="0" cy="0"/>
          <a:chOff x="0" y="0"/>
          <a:chExt cx="0" cy="0"/>
        </a:xfrm>
      </p:grpSpPr>
      <p:sp>
        <p:nvSpPr>
          <p:cNvPr id="496" name="Google Shape;49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7" name="Google Shape;497;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498" name="Google Shape;498;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3"/>
        <p:cNvGrpSpPr/>
        <p:nvPr/>
      </p:nvGrpSpPr>
      <p:grpSpPr>
        <a:xfrm>
          <a:off x="0" y="0"/>
          <a:ext cx="0" cy="0"/>
          <a:chOff x="0" y="0"/>
          <a:chExt cx="0" cy="0"/>
        </a:xfrm>
      </p:grpSpPr>
      <p:sp>
        <p:nvSpPr>
          <p:cNvPr id="504" name="Google Shape;504;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5" name="Google Shape;505;p19: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dirty="0" smtClean="0"/>
              <a:t>Trainer Notes:</a:t>
            </a:r>
          </a:p>
          <a:p>
            <a:pPr marL="0" lvl="0" indent="0" algn="l" rtl="0">
              <a:lnSpc>
                <a:spcPct val="115000"/>
              </a:lnSpc>
              <a:spcBef>
                <a:spcPts val="0"/>
              </a:spcBef>
              <a:spcAft>
                <a:spcPts val="0"/>
              </a:spcAft>
              <a:buClr>
                <a:schemeClr val="dk1"/>
              </a:buClr>
              <a:buSzPts val="1100"/>
              <a:buFont typeface="Arial"/>
              <a:buNone/>
            </a:pPr>
            <a:r>
              <a:rPr lang="en-US" sz="1600" dirty="0" smtClean="0"/>
              <a:t>Explain the problem statement and move to the next slide before proceeding towards the practical.</a:t>
            </a:r>
            <a:endParaRPr sz="1600" b="1" i="0" u="none" strike="noStrike" cap="none" dirty="0">
              <a:solidFill>
                <a:schemeClr val="dk1"/>
              </a:solidFill>
            </a:endParaRPr>
          </a:p>
        </p:txBody>
      </p:sp>
      <p:sp>
        <p:nvSpPr>
          <p:cNvPr id="506" name="Google Shape;506;p19: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19</a:t>
            </a:fld>
            <a:endParaRPr sz="1200">
              <a:solidFill>
                <a:schemeClr val="dk1"/>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1"/>
        <p:cNvGrpSpPr/>
        <p:nvPr/>
      </p:nvGrpSpPr>
      <p:grpSpPr>
        <a:xfrm>
          <a:off x="0" y="0"/>
          <a:ext cx="0" cy="0"/>
          <a:chOff x="0" y="0"/>
          <a:chExt cx="0" cy="0"/>
        </a:xfrm>
      </p:grpSpPr>
      <p:sp>
        <p:nvSpPr>
          <p:cNvPr id="512" name="Google Shape;512;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3" name="Google Shape;513;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514" name="Google Shape;514;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521" name="Google Shape;521;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26" name="Google Shape;526;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what logging is.</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the need for logging.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logging in hibernate.</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List the two ways of performing logging in hibernate using Log4j.</a:t>
            </a: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p:txBody>
      </p:sp>
      <p:sp>
        <p:nvSpPr>
          <p:cNvPr id="527" name="Google Shape;527;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53" name="Google Shape;553;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logging using log4j.xml</a:t>
            </a: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554" name="Google Shape;554;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23</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8"/>
        <p:cNvGrpSpPr/>
        <p:nvPr/>
      </p:nvGrpSpPr>
      <p:grpSpPr>
        <a:xfrm>
          <a:off x="0" y="0"/>
          <a:ext cx="0" cy="0"/>
          <a:chOff x="0" y="0"/>
          <a:chExt cx="0" cy="0"/>
        </a:xfrm>
      </p:grpSpPr>
      <p:sp>
        <p:nvSpPr>
          <p:cNvPr id="569" name="Google Shape;569;p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0" name="Google Shape;570;p2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logging using log4j.xml</a:t>
            </a: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571" name="Google Shape;571;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5"/>
        <p:cNvGrpSpPr/>
        <p:nvPr/>
      </p:nvGrpSpPr>
      <p:grpSpPr>
        <a:xfrm>
          <a:off x="0" y="0"/>
          <a:ext cx="0" cy="0"/>
          <a:chOff x="0" y="0"/>
          <a:chExt cx="0" cy="0"/>
        </a:xfrm>
      </p:grpSpPr>
      <p:sp>
        <p:nvSpPr>
          <p:cNvPr id="586" name="Google Shape;586;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7" name="Google Shape;587;p25: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dirty="0" smtClean="0"/>
              <a:t>Trainer Notes:</a:t>
            </a:r>
          </a:p>
          <a:p>
            <a:pPr marL="0" lvl="0" indent="0" algn="l" rtl="0">
              <a:lnSpc>
                <a:spcPct val="115000"/>
              </a:lnSpc>
              <a:spcBef>
                <a:spcPts val="0"/>
              </a:spcBef>
              <a:spcAft>
                <a:spcPts val="0"/>
              </a:spcAft>
              <a:buClr>
                <a:schemeClr val="dk1"/>
              </a:buClr>
              <a:buSzPts val="1100"/>
              <a:buFont typeface="Arial"/>
              <a:buNone/>
            </a:pPr>
            <a:r>
              <a:rPr lang="en-US" sz="1600" dirty="0" smtClean="0"/>
              <a:t>Explain the problem statement and move to the next slide before proceeding towards the practical.</a:t>
            </a:r>
            <a:endParaRPr sz="1600" b="1" i="0" u="none" strike="noStrike" cap="none" dirty="0">
              <a:solidFill>
                <a:schemeClr val="dk1"/>
              </a:solidFill>
            </a:endParaRPr>
          </a:p>
        </p:txBody>
      </p:sp>
      <p:sp>
        <p:nvSpPr>
          <p:cNvPr id="588" name="Google Shape;588;p25: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25</a:t>
            </a:fld>
            <a:endParaRPr sz="120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3"/>
        <p:cNvGrpSpPr/>
        <p:nvPr/>
      </p:nvGrpSpPr>
      <p:grpSpPr>
        <a:xfrm>
          <a:off x="0" y="0"/>
          <a:ext cx="0" cy="0"/>
          <a:chOff x="0" y="0"/>
          <a:chExt cx="0" cy="0"/>
        </a:xfrm>
      </p:grpSpPr>
      <p:sp>
        <p:nvSpPr>
          <p:cNvPr id="594" name="Google Shape;594;p2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5" name="Google Shape;595;p2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596" name="Google Shape;596;p2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1"/>
        <p:cNvGrpSpPr/>
        <p:nvPr/>
      </p:nvGrpSpPr>
      <p:grpSpPr>
        <a:xfrm>
          <a:off x="0" y="0"/>
          <a:ext cx="0" cy="0"/>
          <a:chOff x="0" y="0"/>
          <a:chExt cx="0" cy="0"/>
        </a:xfrm>
      </p:grpSpPr>
      <p:sp>
        <p:nvSpPr>
          <p:cNvPr id="602" name="Google Shape;602;p2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603" name="Google Shape;603;p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8" name="Google Shape;608;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collection mapping in Hibernate.</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609" name="Google Shape;609;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7"/>
        <p:cNvGrpSpPr/>
        <p:nvPr/>
      </p:nvGrpSpPr>
      <p:grpSpPr>
        <a:xfrm>
          <a:off x="0" y="0"/>
          <a:ext cx="0" cy="0"/>
          <a:chOff x="0" y="0"/>
          <a:chExt cx="0" cy="0"/>
        </a:xfrm>
      </p:grpSpPr>
      <p:sp>
        <p:nvSpPr>
          <p:cNvPr id="628" name="Google Shape;628;p2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9" name="Google Shape;629;p2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List and explain the collection mapping elements in Hibernate.</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630" name="Google Shape;630;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29</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649" name="Google Shape;649;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p3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4" name="Google Shape;654;p3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how a list is mapped in Hibernate using XML file.</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655" name="Google Shape;65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4" name="Google Shape;664;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how a bag is mapped in Hibernate using XML file.</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665" name="Google Shape;665;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2"/>
        <p:cNvGrpSpPr/>
        <p:nvPr/>
      </p:nvGrpSpPr>
      <p:grpSpPr>
        <a:xfrm>
          <a:off x="0" y="0"/>
          <a:ext cx="0" cy="0"/>
          <a:chOff x="0" y="0"/>
          <a:chExt cx="0" cy="0"/>
        </a:xfrm>
      </p:grpSpPr>
      <p:sp>
        <p:nvSpPr>
          <p:cNvPr id="673" name="Google Shape;673;p3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4" name="Google Shape;674;p3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how a set is mapped in Hibernate using XML file.</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State the difference between a Set and a List.</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675" name="Google Shape;675;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33</a:t>
            </a:fld>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2"/>
        <p:cNvGrpSpPr/>
        <p:nvPr/>
      </p:nvGrpSpPr>
      <p:grpSpPr>
        <a:xfrm>
          <a:off x="0" y="0"/>
          <a:ext cx="0" cy="0"/>
          <a:chOff x="0" y="0"/>
          <a:chExt cx="0" cy="0"/>
        </a:xfrm>
      </p:grpSpPr>
      <p:sp>
        <p:nvSpPr>
          <p:cNvPr id="683" name="Google Shape;683;p3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4" name="Google Shape;684;p3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how a map is mapped in Hibernate using XML file.</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a:p>
        </p:txBody>
      </p:sp>
      <p:sp>
        <p:nvSpPr>
          <p:cNvPr id="685" name="Google Shape;685;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2"/>
        <p:cNvGrpSpPr/>
        <p:nvPr/>
      </p:nvGrpSpPr>
      <p:grpSpPr>
        <a:xfrm>
          <a:off x="0" y="0"/>
          <a:ext cx="0" cy="0"/>
          <a:chOff x="0" y="0"/>
          <a:chExt cx="0" cy="0"/>
        </a:xfrm>
      </p:grpSpPr>
      <p:sp>
        <p:nvSpPr>
          <p:cNvPr id="693" name="Google Shape;693;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4" name="Google Shape;694;p35: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dirty="0" smtClean="0"/>
              <a:t>Trainer Notes:</a:t>
            </a:r>
          </a:p>
          <a:p>
            <a:pPr marL="0" lvl="0" indent="0" algn="l" rtl="0">
              <a:lnSpc>
                <a:spcPct val="115000"/>
              </a:lnSpc>
              <a:spcBef>
                <a:spcPts val="0"/>
              </a:spcBef>
              <a:spcAft>
                <a:spcPts val="0"/>
              </a:spcAft>
              <a:buClr>
                <a:schemeClr val="dk1"/>
              </a:buClr>
              <a:buSzPts val="1100"/>
              <a:buFont typeface="Arial"/>
              <a:buNone/>
            </a:pPr>
            <a:r>
              <a:rPr lang="en-US" sz="1600" dirty="0" smtClean="0"/>
              <a:t>Explain the problem statement and move to the next slide before proceeding towards the practical.</a:t>
            </a:r>
            <a:endParaRPr sz="1600" b="1" i="0" u="none" strike="noStrike" cap="none" dirty="0">
              <a:solidFill>
                <a:schemeClr val="dk1"/>
              </a:solidFill>
            </a:endParaRPr>
          </a:p>
        </p:txBody>
      </p:sp>
      <p:sp>
        <p:nvSpPr>
          <p:cNvPr id="695" name="Google Shape;695;p35: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35</a:t>
            </a:fld>
            <a:endParaRPr sz="1200">
              <a:solidFill>
                <a:schemeClr val="dk1"/>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0"/>
        <p:cNvGrpSpPr/>
        <p:nvPr/>
      </p:nvGrpSpPr>
      <p:grpSpPr>
        <a:xfrm>
          <a:off x="0" y="0"/>
          <a:ext cx="0" cy="0"/>
          <a:chOff x="0" y="0"/>
          <a:chExt cx="0" cy="0"/>
        </a:xfrm>
      </p:grpSpPr>
      <p:sp>
        <p:nvSpPr>
          <p:cNvPr id="701" name="Google Shape;701;p3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02" name="Google Shape;702;p3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703" name="Google Shape;703;p3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8"/>
        <p:cNvGrpSpPr/>
        <p:nvPr/>
      </p:nvGrpSpPr>
      <p:grpSpPr>
        <a:xfrm>
          <a:off x="0" y="0"/>
          <a:ext cx="0" cy="0"/>
          <a:chOff x="0" y="0"/>
          <a:chExt cx="0" cy="0"/>
        </a:xfrm>
      </p:grpSpPr>
      <p:sp>
        <p:nvSpPr>
          <p:cNvPr id="709" name="Google Shape;709;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710" name="Google Shape;710;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3"/>
        <p:cNvGrpSpPr/>
        <p:nvPr/>
      </p:nvGrpSpPr>
      <p:grpSpPr>
        <a:xfrm>
          <a:off x="0" y="0"/>
          <a:ext cx="0" cy="0"/>
          <a:chOff x="0" y="0"/>
          <a:chExt cx="0" cy="0"/>
        </a:xfrm>
      </p:grpSpPr>
      <p:sp>
        <p:nvSpPr>
          <p:cNvPr id="714" name="Google Shape;714;p3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15" name="Google Shape;715;p3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the importance of mapping of associations between entity classes and tables in Hibernate.</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List the four ways of expressing the cardinality of the relationship between objects.</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716" name="Google Shape;716;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7"/>
        <p:cNvGrpSpPr/>
        <p:nvPr/>
      </p:nvGrpSpPr>
      <p:grpSpPr>
        <a:xfrm>
          <a:off x="0" y="0"/>
          <a:ext cx="0" cy="0"/>
          <a:chOff x="0" y="0"/>
          <a:chExt cx="0" cy="0"/>
        </a:xfrm>
      </p:grpSpPr>
      <p:sp>
        <p:nvSpPr>
          <p:cNvPr id="738" name="Google Shape;738;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9" name="Google Shape;739;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how association mapping can be done.</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.hbm.xml file.</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740" name="Google Shape;740;p3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2"/>
        <p:cNvGrpSpPr/>
        <p:nvPr/>
      </p:nvGrpSpPr>
      <p:grpSpPr>
        <a:xfrm>
          <a:off x="0" y="0"/>
          <a:ext cx="0" cy="0"/>
          <a:chOff x="0" y="0"/>
          <a:chExt cx="0" cy="0"/>
        </a:xfrm>
      </p:grpSpPr>
      <p:sp>
        <p:nvSpPr>
          <p:cNvPr id="753" name="Google Shape;753;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4" name="Google Shape;754;p4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hibernate association mapping using XML.</a:t>
            </a:r>
            <a:endParaRPr/>
          </a:p>
        </p:txBody>
      </p:sp>
      <p:sp>
        <p:nvSpPr>
          <p:cNvPr id="755" name="Google Shape;755;p4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3"/>
        <p:cNvGrpSpPr/>
        <p:nvPr/>
      </p:nvGrpSpPr>
      <p:grpSpPr>
        <a:xfrm>
          <a:off x="0" y="0"/>
          <a:ext cx="0" cy="0"/>
          <a:chOff x="0" y="0"/>
          <a:chExt cx="0" cy="0"/>
        </a:xfrm>
      </p:grpSpPr>
      <p:sp>
        <p:nvSpPr>
          <p:cNvPr id="774" name="Google Shape;774;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75" name="Google Shape;775;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hibernate mapping using XML</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776" name="Google Shape;776;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4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794" name="Google Shape;794;p4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7"/>
        <p:cNvGrpSpPr/>
        <p:nvPr/>
      </p:nvGrpSpPr>
      <p:grpSpPr>
        <a:xfrm>
          <a:off x="0" y="0"/>
          <a:ext cx="0" cy="0"/>
          <a:chOff x="0" y="0"/>
          <a:chExt cx="0" cy="0"/>
        </a:xfrm>
      </p:grpSpPr>
      <p:sp>
        <p:nvSpPr>
          <p:cNvPr id="798" name="Google Shape;798;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99" name="Google Shape;799;p4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what annotations are.</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configuring Annotations and how annotations are used.</a:t>
            </a:r>
            <a:endParaRPr/>
          </a:p>
          <a:p>
            <a:pPr marL="228600" lvl="0" indent="-152400" algn="l" rtl="0">
              <a:lnSpc>
                <a:spcPct val="100000"/>
              </a:lnSpc>
              <a:spcBef>
                <a:spcPts val="0"/>
              </a:spcBef>
              <a:spcAft>
                <a:spcPts val="0"/>
              </a:spcAft>
              <a:buClr>
                <a:schemeClr val="dk1"/>
              </a:buClr>
              <a:buSzPts val="1200"/>
              <a:buFont typeface="Calibri"/>
              <a:buNone/>
            </a:pPr>
            <a:endParaRPr/>
          </a:p>
          <a:p>
            <a:pPr marL="0" lvl="0" indent="0" algn="l" rtl="0">
              <a:lnSpc>
                <a:spcPct val="100000"/>
              </a:lnSpc>
              <a:spcBef>
                <a:spcPts val="0"/>
              </a:spcBef>
              <a:spcAft>
                <a:spcPts val="0"/>
              </a:spcAft>
              <a:buSzPts val="1400"/>
              <a:buNone/>
            </a:pPr>
            <a:endParaRPr sz="1200" b="0" i="0">
              <a:solidFill>
                <a:schemeClr val="dk1"/>
              </a:solidFill>
              <a:latin typeface="Calibri"/>
              <a:ea typeface="Calibri"/>
              <a:cs typeface="Calibri"/>
              <a:sym typeface="Calibri"/>
            </a:endParaRPr>
          </a:p>
        </p:txBody>
      </p:sp>
      <p:sp>
        <p:nvSpPr>
          <p:cNvPr id="800" name="Google Shape;800;p4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8"/>
        <p:cNvGrpSpPr/>
        <p:nvPr/>
      </p:nvGrpSpPr>
      <p:grpSpPr>
        <a:xfrm>
          <a:off x="0" y="0"/>
          <a:ext cx="0" cy="0"/>
          <a:chOff x="0" y="0"/>
          <a:chExt cx="0" cy="0"/>
        </a:xfrm>
      </p:grpSpPr>
      <p:sp>
        <p:nvSpPr>
          <p:cNvPr id="809" name="Google Shape;809;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0" name="Google Shape;810;p4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association mapping using annotations.</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811" name="Google Shape;811;p4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6"/>
        <p:cNvGrpSpPr/>
        <p:nvPr/>
      </p:nvGrpSpPr>
      <p:grpSpPr>
        <a:xfrm>
          <a:off x="0" y="0"/>
          <a:ext cx="0" cy="0"/>
          <a:chOff x="0" y="0"/>
          <a:chExt cx="0" cy="0"/>
        </a:xfrm>
      </p:grpSpPr>
      <p:sp>
        <p:nvSpPr>
          <p:cNvPr id="837" name="Google Shape;837;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838" name="Google Shape;838;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1"/>
        <p:cNvGrpSpPr/>
        <p:nvPr/>
      </p:nvGrpSpPr>
      <p:grpSpPr>
        <a:xfrm>
          <a:off x="0" y="0"/>
          <a:ext cx="0" cy="0"/>
          <a:chOff x="0" y="0"/>
          <a:chExt cx="0" cy="0"/>
        </a:xfrm>
      </p:grpSpPr>
      <p:sp>
        <p:nvSpPr>
          <p:cNvPr id="842" name="Google Shape;842;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43" name="Google Shape;843;p4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what bidirectional mapping is.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the differences between unidirectional mapping and bidirectional mapping.</a:t>
            </a: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844" name="Google Shape;844;p4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2"/>
        <p:cNvGrpSpPr/>
        <p:nvPr/>
      </p:nvGrpSpPr>
      <p:grpSpPr>
        <a:xfrm>
          <a:off x="0" y="0"/>
          <a:ext cx="0" cy="0"/>
          <a:chOff x="0" y="0"/>
          <a:chExt cx="0" cy="0"/>
        </a:xfrm>
      </p:grpSpPr>
      <p:sp>
        <p:nvSpPr>
          <p:cNvPr id="853" name="Google Shape;85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54" name="Google Shape;854;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bidirectional mapping rules.</a:t>
            </a:r>
            <a:endParaRPr/>
          </a:p>
          <a:p>
            <a:pPr marL="228600" lvl="0" indent="-152400" algn="l" rtl="0">
              <a:lnSpc>
                <a:spcPct val="100000"/>
              </a:lnSpc>
              <a:spcBef>
                <a:spcPts val="0"/>
              </a:spcBef>
              <a:spcAft>
                <a:spcPts val="0"/>
              </a:spcAft>
              <a:buClr>
                <a:schemeClr val="dk1"/>
              </a:buClr>
              <a:buSzPts val="1200"/>
              <a:buFont typeface="Calibri"/>
              <a:buNone/>
            </a:pPr>
            <a:endParaRPr/>
          </a:p>
          <a:p>
            <a:pPr marL="228600" lvl="0" indent="-152400" algn="l" rtl="0">
              <a:lnSpc>
                <a:spcPct val="100000"/>
              </a:lnSpc>
              <a:spcBef>
                <a:spcPts val="0"/>
              </a:spcBef>
              <a:spcAft>
                <a:spcPts val="0"/>
              </a:spcAft>
              <a:buClr>
                <a:schemeClr val="dk1"/>
              </a:buClr>
              <a:buSzPts val="1200"/>
              <a:buFont typeface="Calibri"/>
              <a:buNone/>
            </a:pPr>
            <a:endParaRPr/>
          </a:p>
        </p:txBody>
      </p:sp>
      <p:sp>
        <p:nvSpPr>
          <p:cNvPr id="855" name="Google Shape;855;p4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47</a:t>
            </a:fld>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3"/>
        <p:cNvGrpSpPr/>
        <p:nvPr/>
      </p:nvGrpSpPr>
      <p:grpSpPr>
        <a:xfrm>
          <a:off x="0" y="0"/>
          <a:ext cx="0" cy="0"/>
          <a:chOff x="0" y="0"/>
          <a:chExt cx="0" cy="0"/>
        </a:xfrm>
      </p:grpSpPr>
      <p:sp>
        <p:nvSpPr>
          <p:cNvPr id="864" name="Google Shape;864;p4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865" name="Google Shape;865;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8"/>
        <p:cNvGrpSpPr/>
        <p:nvPr/>
      </p:nvGrpSpPr>
      <p:grpSpPr>
        <a:xfrm>
          <a:off x="0" y="0"/>
          <a:ext cx="0" cy="0"/>
          <a:chOff x="0" y="0"/>
          <a:chExt cx="0" cy="0"/>
        </a:xfrm>
      </p:grpSpPr>
      <p:sp>
        <p:nvSpPr>
          <p:cNvPr id="869" name="Google Shape;869;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0" name="Google Shape;870;p4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lazy collection in Hibernate.</a:t>
            </a:r>
            <a:endParaRPr/>
          </a:p>
        </p:txBody>
      </p:sp>
      <p:sp>
        <p:nvSpPr>
          <p:cNvPr id="871" name="Google Shape;871;p4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49</a:t>
            </a:fld>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9"/>
        <p:cNvGrpSpPr/>
        <p:nvPr/>
      </p:nvGrpSpPr>
      <p:grpSpPr>
        <a:xfrm>
          <a:off x="0" y="0"/>
          <a:ext cx="0" cy="0"/>
          <a:chOff x="0" y="0"/>
          <a:chExt cx="0" cy="0"/>
        </a:xfrm>
      </p:grpSpPr>
      <p:sp>
        <p:nvSpPr>
          <p:cNvPr id="880" name="Google Shape;880;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1" name="Google Shape;881;p50: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dirty="0" smtClean="0"/>
              <a:t>Trainer Notes:</a:t>
            </a:r>
          </a:p>
          <a:p>
            <a:pPr marL="0" lvl="0" indent="0" algn="l" rtl="0">
              <a:lnSpc>
                <a:spcPct val="115000"/>
              </a:lnSpc>
              <a:spcBef>
                <a:spcPts val="0"/>
              </a:spcBef>
              <a:spcAft>
                <a:spcPts val="0"/>
              </a:spcAft>
              <a:buClr>
                <a:schemeClr val="dk1"/>
              </a:buClr>
              <a:buSzPts val="1100"/>
              <a:buFont typeface="Arial"/>
              <a:buNone/>
            </a:pPr>
            <a:r>
              <a:rPr lang="en-US" sz="1600" dirty="0" smtClean="0"/>
              <a:t>Explain the problem statement and move to the next slide before proceeding towards the practical.</a:t>
            </a:r>
            <a:endParaRPr sz="1600" b="1" i="0" u="none" strike="noStrike" cap="none" dirty="0">
              <a:solidFill>
                <a:schemeClr val="dk1"/>
              </a:solidFill>
            </a:endParaRPr>
          </a:p>
        </p:txBody>
      </p:sp>
      <p:sp>
        <p:nvSpPr>
          <p:cNvPr id="882" name="Google Shape;882;p50: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50</a:t>
            </a:fld>
            <a:endParaRPr sz="1200">
              <a:solidFill>
                <a:schemeClr val="dk1"/>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7"/>
        <p:cNvGrpSpPr/>
        <p:nvPr/>
      </p:nvGrpSpPr>
      <p:grpSpPr>
        <a:xfrm>
          <a:off x="0" y="0"/>
          <a:ext cx="0" cy="0"/>
          <a:chOff x="0" y="0"/>
          <a:chExt cx="0" cy="0"/>
        </a:xfrm>
      </p:grpSpPr>
      <p:sp>
        <p:nvSpPr>
          <p:cNvPr id="888" name="Google Shape;888;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9" name="Google Shape;889;p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890" name="Google Shape;890;p5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51</a:t>
            </a:fld>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95"/>
        <p:cNvGrpSpPr/>
        <p:nvPr/>
      </p:nvGrpSpPr>
      <p:grpSpPr>
        <a:xfrm>
          <a:off x="0" y="0"/>
          <a:ext cx="0" cy="0"/>
          <a:chOff x="0" y="0"/>
          <a:chExt cx="0" cy="0"/>
        </a:xfrm>
      </p:grpSpPr>
      <p:sp>
        <p:nvSpPr>
          <p:cNvPr id="896" name="Google Shape;896;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897" name="Google Shape;897;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0"/>
        <p:cNvGrpSpPr/>
        <p:nvPr/>
      </p:nvGrpSpPr>
      <p:grpSpPr>
        <a:xfrm>
          <a:off x="0" y="0"/>
          <a:ext cx="0" cy="0"/>
          <a:chOff x="0" y="0"/>
          <a:chExt cx="0" cy="0"/>
        </a:xfrm>
      </p:grpSpPr>
      <p:sp>
        <p:nvSpPr>
          <p:cNvPr id="901" name="Google Shape;901;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2" name="Google Shape;902;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the concept of component mapping in Hibernate.</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what a component is.</a:t>
            </a:r>
            <a:endParaRPr/>
          </a:p>
        </p:txBody>
      </p:sp>
      <p:sp>
        <p:nvSpPr>
          <p:cNvPr id="903" name="Google Shape;903;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53</a:t>
            </a:fld>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18"/>
        <p:cNvGrpSpPr/>
        <p:nvPr/>
      </p:nvGrpSpPr>
      <p:grpSpPr>
        <a:xfrm>
          <a:off x="0" y="0"/>
          <a:ext cx="0" cy="0"/>
          <a:chOff x="0" y="0"/>
          <a:chExt cx="0" cy="0"/>
        </a:xfrm>
      </p:grpSpPr>
      <p:sp>
        <p:nvSpPr>
          <p:cNvPr id="919" name="Google Shape;919;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20" name="Google Shape;920;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when component mapping is used.</a:t>
            </a:r>
            <a:endParaRPr/>
          </a:p>
        </p:txBody>
      </p:sp>
      <p:sp>
        <p:nvSpPr>
          <p:cNvPr id="921" name="Google Shape;921;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54</a:t>
            </a:fld>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6"/>
        <p:cNvGrpSpPr/>
        <p:nvPr/>
      </p:nvGrpSpPr>
      <p:grpSpPr>
        <a:xfrm>
          <a:off x="0" y="0"/>
          <a:ext cx="0" cy="0"/>
          <a:chOff x="0" y="0"/>
          <a:chExt cx="0" cy="0"/>
        </a:xfrm>
      </p:grpSpPr>
      <p:sp>
        <p:nvSpPr>
          <p:cNvPr id="937" name="Google Shape;937;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38" name="Google Shape;938;p55: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Explain the problem statement and move to the next slide before proceeding towards the practical.</a:t>
            </a:r>
            <a:endParaRPr dirty="0"/>
          </a:p>
        </p:txBody>
      </p:sp>
      <p:sp>
        <p:nvSpPr>
          <p:cNvPr id="939" name="Google Shape;939;p55: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55</a:t>
            </a:fld>
            <a:endParaRPr sz="1200">
              <a:solidFill>
                <a:schemeClr val="dk1"/>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4"/>
        <p:cNvGrpSpPr/>
        <p:nvPr/>
      </p:nvGrpSpPr>
      <p:grpSpPr>
        <a:xfrm>
          <a:off x="0" y="0"/>
          <a:ext cx="0" cy="0"/>
          <a:chOff x="0" y="0"/>
          <a:chExt cx="0" cy="0"/>
        </a:xfrm>
      </p:grpSpPr>
      <p:sp>
        <p:nvSpPr>
          <p:cNvPr id="945" name="Google Shape;945;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6" name="Google Shape;946;p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947" name="Google Shape;947;p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56</a:t>
            </a:fld>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600"/>
              <a:buFont typeface="Calibri"/>
              <a:buNone/>
            </a:pPr>
            <a:endParaRPr/>
          </a:p>
        </p:txBody>
      </p:sp>
      <p:sp>
        <p:nvSpPr>
          <p:cNvPr id="954" name="Google Shape;954;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7"/>
        <p:cNvGrpSpPr/>
        <p:nvPr/>
      </p:nvGrpSpPr>
      <p:grpSpPr>
        <a:xfrm>
          <a:off x="0" y="0"/>
          <a:ext cx="0" cy="0"/>
          <a:chOff x="0" y="0"/>
          <a:chExt cx="0" cy="0"/>
        </a:xfrm>
      </p:grpSpPr>
      <p:sp>
        <p:nvSpPr>
          <p:cNvPr id="958" name="Google Shape;958;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59" name="Google Shape;959;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Spring framework.</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Discuss the advantages of Spring framework.</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sz="1200" b="0" i="0">
                <a:solidFill>
                  <a:schemeClr val="dk1"/>
                </a:solidFill>
                <a:latin typeface="Calibri"/>
                <a:ea typeface="Calibri"/>
                <a:cs typeface="Calibri"/>
                <a:sym typeface="Calibri"/>
              </a:rPr>
              <a:t> </a:t>
            </a:r>
            <a:endParaRPr/>
          </a:p>
        </p:txBody>
      </p:sp>
      <p:sp>
        <p:nvSpPr>
          <p:cNvPr id="960" name="Google Shape;960;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58</a:t>
            </a:fld>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5"/>
        <p:cNvGrpSpPr/>
        <p:nvPr/>
      </p:nvGrpSpPr>
      <p:grpSpPr>
        <a:xfrm>
          <a:off x="0" y="0"/>
          <a:ext cx="0" cy="0"/>
          <a:chOff x="0" y="0"/>
          <a:chExt cx="0" cy="0"/>
        </a:xfrm>
      </p:grpSpPr>
      <p:sp>
        <p:nvSpPr>
          <p:cNvPr id="976" name="Google Shape;976;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77" name="Google Shape;977;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US"/>
              <a:t>Trainer Notes: </a:t>
            </a:r>
            <a:endParaRPr/>
          </a:p>
          <a:p>
            <a:pPr marL="228600" lvl="0" indent="-228600" algn="l" rtl="0">
              <a:lnSpc>
                <a:spcPct val="100000"/>
              </a:lnSpc>
              <a:spcBef>
                <a:spcPts val="0"/>
              </a:spcBef>
              <a:spcAft>
                <a:spcPts val="0"/>
              </a:spcAft>
              <a:buClr>
                <a:schemeClr val="dk1"/>
              </a:buClr>
              <a:buSzPts val="1200"/>
              <a:buFont typeface="Calibri"/>
              <a:buAutoNum type="arabicPeriod"/>
            </a:pPr>
            <a:r>
              <a:rPr lang="en-US"/>
              <a:t>Explain how hibernate is integrated with Spring framework.</a:t>
            </a:r>
            <a:endParaRPr/>
          </a:p>
          <a:p>
            <a:pPr marL="0" lvl="0" indent="0" algn="l" rtl="0">
              <a:lnSpc>
                <a:spcPct val="100000"/>
              </a:lnSpc>
              <a:spcBef>
                <a:spcPts val="0"/>
              </a:spcBef>
              <a:spcAft>
                <a:spcPts val="0"/>
              </a:spcAft>
              <a:buClr>
                <a:schemeClr val="dk1"/>
              </a:buClr>
              <a:buSzPts val="1200"/>
              <a:buFont typeface="Calibri"/>
              <a:buNone/>
            </a:pPr>
            <a:endParaRPr/>
          </a:p>
        </p:txBody>
      </p:sp>
      <p:sp>
        <p:nvSpPr>
          <p:cNvPr id="978" name="Google Shape;978;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59</a:t>
            </a:fld>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9"/>
        <p:cNvGrpSpPr/>
        <p:nvPr/>
      </p:nvGrpSpPr>
      <p:grpSpPr>
        <a:xfrm>
          <a:off x="0" y="0"/>
          <a:ext cx="0" cy="0"/>
          <a:chOff x="0" y="0"/>
          <a:chExt cx="0" cy="0"/>
        </a:xfrm>
      </p:grpSpPr>
      <p:sp>
        <p:nvSpPr>
          <p:cNvPr id="990" name="Google Shape;990;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1" name="Google Shape;991;p60: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sz="1600" dirty="0" smtClean="0"/>
              <a:t>Trainer Notes:</a:t>
            </a:r>
          </a:p>
          <a:p>
            <a:pPr marL="0" lvl="0" indent="0" algn="l" rtl="0">
              <a:lnSpc>
                <a:spcPct val="115000"/>
              </a:lnSpc>
              <a:spcBef>
                <a:spcPts val="0"/>
              </a:spcBef>
              <a:spcAft>
                <a:spcPts val="0"/>
              </a:spcAft>
              <a:buClr>
                <a:schemeClr val="dk1"/>
              </a:buClr>
              <a:buSzPts val="1100"/>
              <a:buFont typeface="Arial"/>
              <a:buNone/>
            </a:pPr>
            <a:r>
              <a:rPr lang="en-US" sz="1600" dirty="0" smtClean="0"/>
              <a:t>Explain the problem statement and move to the next slide before proceeding towards the practical.</a:t>
            </a:r>
            <a:endParaRPr sz="1600" b="1" i="0" u="none" strike="noStrike" cap="none" dirty="0">
              <a:solidFill>
                <a:schemeClr val="dk1"/>
              </a:solidFill>
            </a:endParaRPr>
          </a:p>
        </p:txBody>
      </p:sp>
      <p:sp>
        <p:nvSpPr>
          <p:cNvPr id="992" name="Google Shape;992;p60: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60</a:t>
            </a:fld>
            <a:endParaRPr sz="1200">
              <a:solidFill>
                <a:schemeClr val="dk1"/>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7"/>
        <p:cNvGrpSpPr/>
        <p:nvPr/>
      </p:nvGrpSpPr>
      <p:grpSpPr>
        <a:xfrm>
          <a:off x="0" y="0"/>
          <a:ext cx="0" cy="0"/>
          <a:chOff x="0" y="0"/>
          <a:chExt cx="0" cy="0"/>
        </a:xfrm>
      </p:grpSpPr>
      <p:sp>
        <p:nvSpPr>
          <p:cNvPr id="998" name="Google Shape;998;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99" name="Google Shape;999;p6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15000"/>
              </a:lnSpc>
              <a:spcBef>
                <a:spcPts val="0"/>
              </a:spcBef>
              <a:spcAft>
                <a:spcPts val="0"/>
              </a:spcAft>
              <a:buClr>
                <a:schemeClr val="dk1"/>
              </a:buClr>
              <a:buSzPts val="1100"/>
              <a:buFont typeface="Arial"/>
              <a:buNone/>
            </a:pPr>
            <a:r>
              <a:rPr lang="en-US" dirty="0" smtClean="0"/>
              <a:t>Trainer Notes:</a:t>
            </a:r>
          </a:p>
          <a:p>
            <a:pPr marL="0" lvl="0" indent="0" algn="l" rtl="0">
              <a:lnSpc>
                <a:spcPct val="115000"/>
              </a:lnSpc>
              <a:spcBef>
                <a:spcPts val="0"/>
              </a:spcBef>
              <a:spcAft>
                <a:spcPts val="0"/>
              </a:spcAft>
              <a:buClr>
                <a:schemeClr val="dk1"/>
              </a:buClr>
              <a:buSzPts val="1100"/>
              <a:buFont typeface="Arial"/>
              <a:buNone/>
            </a:pPr>
            <a:r>
              <a:rPr lang="en-US" dirty="0" smtClean="0"/>
              <a:t>Walk through the steps in detail.</a:t>
            </a:r>
          </a:p>
          <a:p>
            <a:pPr marL="0" lvl="0" indent="0" algn="l" rtl="0">
              <a:lnSpc>
                <a:spcPct val="100000"/>
              </a:lnSpc>
              <a:spcBef>
                <a:spcPts val="0"/>
              </a:spcBef>
              <a:spcAft>
                <a:spcPts val="0"/>
              </a:spcAft>
              <a:buClr>
                <a:schemeClr val="dk1"/>
              </a:buClr>
              <a:buSzPts val="1200"/>
              <a:buFont typeface="Calibri"/>
              <a:buNone/>
            </a:pPr>
            <a:endParaRPr dirty="0"/>
          </a:p>
        </p:txBody>
      </p:sp>
      <p:sp>
        <p:nvSpPr>
          <p:cNvPr id="1000" name="Google Shape;1000;p6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61</a:t>
            </a:fld>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5"/>
        <p:cNvGrpSpPr/>
        <p:nvPr/>
      </p:nvGrpSpPr>
      <p:grpSpPr>
        <a:xfrm>
          <a:off x="0" y="0"/>
          <a:ext cx="0" cy="0"/>
          <a:chOff x="0" y="0"/>
          <a:chExt cx="0" cy="0"/>
        </a:xfrm>
      </p:grpSpPr>
      <p:sp>
        <p:nvSpPr>
          <p:cNvPr id="1006" name="Google Shape;1006;p8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07" name="Google Shape;1007;p8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IN" dirty="0" smtClean="0"/>
              <a:t>Summarize the points given on the slide.</a:t>
            </a:r>
            <a:endParaRPr dirty="0"/>
          </a:p>
        </p:txBody>
      </p:sp>
      <p:sp>
        <p:nvSpPr>
          <p:cNvPr id="1008" name="Google Shape;1008;p8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62</a:t>
            </a:fld>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8"/>
        <p:cNvGrpSpPr/>
        <p:nvPr/>
      </p:nvGrpSpPr>
      <p:grpSpPr>
        <a:xfrm>
          <a:off x="0" y="0"/>
          <a:ext cx="0" cy="0"/>
          <a:chOff x="0" y="0"/>
          <a:chExt cx="0" cy="0"/>
        </a:xfrm>
      </p:grpSpPr>
      <p:sp>
        <p:nvSpPr>
          <p:cNvPr id="1019" name="Google Shape;1019;p8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600"/>
              <a:buFont typeface="Calibri"/>
              <a:buNone/>
            </a:pPr>
            <a:endParaRPr/>
          </a:p>
        </p:txBody>
      </p:sp>
      <p:sp>
        <p:nvSpPr>
          <p:cNvPr id="1020" name="Google Shape;1020;p8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2"/>
        <p:cNvGrpSpPr/>
        <p:nvPr/>
      </p:nvGrpSpPr>
      <p:grpSpPr>
        <a:xfrm>
          <a:off x="0" y="0"/>
          <a:ext cx="0" cy="0"/>
          <a:chOff x="0" y="0"/>
          <a:chExt cx="0" cy="0"/>
        </a:xfrm>
      </p:grpSpPr>
      <p:sp>
        <p:nvSpPr>
          <p:cNvPr id="1023" name="Google Shape;1023;p8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24" name="Google Shape;1024;p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2"/>
        <p:cNvGrpSpPr/>
        <p:nvPr/>
      </p:nvGrpSpPr>
      <p:grpSpPr>
        <a:xfrm>
          <a:off x="0" y="0"/>
          <a:ext cx="0" cy="0"/>
          <a:chOff x="0" y="0"/>
          <a:chExt cx="0" cy="0"/>
        </a:xfrm>
      </p:grpSpPr>
      <p:sp>
        <p:nvSpPr>
          <p:cNvPr id="1033" name="Google Shape;1033;p8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34" name="Google Shape;1034;p8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8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46" name="Google Shape;1046;p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4"/>
        <p:cNvGrpSpPr/>
        <p:nvPr/>
      </p:nvGrpSpPr>
      <p:grpSpPr>
        <a:xfrm>
          <a:off x="0" y="0"/>
          <a:ext cx="0" cy="0"/>
          <a:chOff x="0" y="0"/>
          <a:chExt cx="0" cy="0"/>
        </a:xfrm>
      </p:grpSpPr>
      <p:sp>
        <p:nvSpPr>
          <p:cNvPr id="1055" name="Google Shape;1055;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56" name="Google Shape;1056;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6"/>
        <p:cNvGrpSpPr/>
        <p:nvPr/>
      </p:nvGrpSpPr>
      <p:grpSpPr>
        <a:xfrm>
          <a:off x="0" y="0"/>
          <a:ext cx="0" cy="0"/>
          <a:chOff x="0" y="0"/>
          <a:chExt cx="0" cy="0"/>
        </a:xfrm>
      </p:grpSpPr>
      <p:sp>
        <p:nvSpPr>
          <p:cNvPr id="1067" name="Google Shape;1067;p8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8" name="Google Shape;1068;p8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6"/>
        <p:cNvGrpSpPr/>
        <p:nvPr/>
      </p:nvGrpSpPr>
      <p:grpSpPr>
        <a:xfrm>
          <a:off x="0" y="0"/>
          <a:ext cx="0" cy="0"/>
          <a:chOff x="0" y="0"/>
          <a:chExt cx="0" cy="0"/>
        </a:xfrm>
      </p:grpSpPr>
      <p:sp>
        <p:nvSpPr>
          <p:cNvPr id="1077" name="Google Shape;1077;p8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8" name="Google Shape;1078;p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8"/>
        <p:cNvGrpSpPr/>
        <p:nvPr/>
      </p:nvGrpSpPr>
      <p:grpSpPr>
        <a:xfrm>
          <a:off x="0" y="0"/>
          <a:ext cx="0" cy="0"/>
          <a:chOff x="0" y="0"/>
          <a:chExt cx="0" cy="0"/>
        </a:xfrm>
      </p:grpSpPr>
      <p:sp>
        <p:nvSpPr>
          <p:cNvPr id="1089" name="Google Shape;1089;p9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90" name="Google Shape;1090;p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8"/>
        <p:cNvGrpSpPr/>
        <p:nvPr/>
      </p:nvGrpSpPr>
      <p:grpSpPr>
        <a:xfrm>
          <a:off x="0" y="0"/>
          <a:ext cx="0" cy="0"/>
          <a:chOff x="0" y="0"/>
          <a:chExt cx="0" cy="0"/>
        </a:xfrm>
      </p:grpSpPr>
      <p:sp>
        <p:nvSpPr>
          <p:cNvPr id="1099" name="Google Shape;1099;p9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00" name="Google Shape;1100;p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0"/>
        <p:cNvGrpSpPr/>
        <p:nvPr/>
      </p:nvGrpSpPr>
      <p:grpSpPr>
        <a:xfrm>
          <a:off x="0" y="0"/>
          <a:ext cx="0" cy="0"/>
          <a:chOff x="0" y="0"/>
          <a:chExt cx="0" cy="0"/>
        </a:xfrm>
      </p:grpSpPr>
      <p:sp>
        <p:nvSpPr>
          <p:cNvPr id="1111" name="Google Shape;1111;p9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12" name="Google Shape;1112;p9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9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22" name="Google Shape;1122;p9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2"/>
        <p:cNvGrpSpPr/>
        <p:nvPr/>
      </p:nvGrpSpPr>
      <p:grpSpPr>
        <a:xfrm>
          <a:off x="0" y="0"/>
          <a:ext cx="0" cy="0"/>
          <a:chOff x="0" y="0"/>
          <a:chExt cx="0" cy="0"/>
        </a:xfrm>
      </p:grpSpPr>
      <p:sp>
        <p:nvSpPr>
          <p:cNvPr id="1133" name="Google Shape;1133;p9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4" name="Google Shape;1134;p94:notes"/>
          <p:cNvSpPr txBox="1">
            <a:spLocks noGrp="1"/>
          </p:cNvSpPr>
          <p:nvPr>
            <p:ph type="body" idx="1"/>
          </p:nvPr>
        </p:nvSpPr>
        <p:spPr>
          <a:xfrm>
            <a:off x="685800" y="4400550"/>
            <a:ext cx="5486399"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400"/>
              <a:buFont typeface="Open Sans"/>
              <a:buNone/>
            </a:pPr>
            <a:r>
              <a:rPr lang="en-US" sz="1600"/>
              <a:t>Trainer Notes: Explain the project to the learners, and instruct them to work on it.</a:t>
            </a:r>
            <a:endParaRPr sz="1600" i="0" u="none" strike="noStrike" cap="none">
              <a:solidFill>
                <a:schemeClr val="dk1"/>
              </a:solidFill>
            </a:endParaRPr>
          </a:p>
        </p:txBody>
      </p:sp>
      <p:sp>
        <p:nvSpPr>
          <p:cNvPr id="1135" name="Google Shape;1135;p94:notes"/>
          <p:cNvSpPr txBox="1">
            <a:spLocks noGrp="1"/>
          </p:cNvSpPr>
          <p:nvPr>
            <p:ph type="sldNum" idx="12"/>
          </p:nvPr>
        </p:nvSpPr>
        <p:spPr>
          <a:xfrm>
            <a:off x="3884612" y="8685213"/>
            <a:ext cx="2971799" cy="458786"/>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chemeClr val="dk1"/>
              </a:buClr>
              <a:buSzPts val="300"/>
              <a:buFont typeface="Open Sans"/>
              <a:buNone/>
            </a:pPr>
            <a:fld id="{00000000-1234-1234-1234-123412341234}" type="slidenum">
              <a:rPr lang="en-US" sz="1200">
                <a:solidFill>
                  <a:schemeClr val="dk1"/>
                </a:solidFill>
              </a:rPr>
              <a:t>74</a:t>
            </a:fld>
            <a:endParaRPr sz="1200">
              <a:solidFill>
                <a:schemeClr val="dk1"/>
              </a:solidFill>
            </a:endParaRPr>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40"/>
        <p:cNvGrpSpPr/>
        <p:nvPr/>
      </p:nvGrpSpPr>
      <p:grpSpPr>
        <a:xfrm>
          <a:off x="0" y="0"/>
          <a:ext cx="0" cy="0"/>
          <a:chOff x="0" y="0"/>
          <a:chExt cx="0" cy="0"/>
        </a:xfrm>
      </p:grpSpPr>
      <p:sp>
        <p:nvSpPr>
          <p:cNvPr id="1141" name="Google Shape;1141;p1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2" name="Google Shape;1142;p15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200"/>
              <a:buFont typeface="Calibri"/>
              <a:buNone/>
            </a:pPr>
            <a:r>
              <a:rPr lang="en-US"/>
              <a:t>Trainer Notes:  Summarize these pointers and instruct learners to be prepared before attending the next class. </a:t>
            </a:r>
            <a:endParaRPr/>
          </a:p>
        </p:txBody>
      </p:sp>
      <p:sp>
        <p:nvSpPr>
          <p:cNvPr id="1143" name="Google Shape;1143;p15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200"/>
              <a:buFont typeface="Calibri"/>
              <a:buNone/>
            </a:pPr>
            <a:fld id="{00000000-1234-1234-1234-123412341234}" type="slidenum">
              <a:rPr lang="en-US"/>
              <a:t>75</a:t>
            </a:fld>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9.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image" Target="../media/image13.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16.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1.png"/><Relationship Id="rId1" Type="http://schemas.openxmlformats.org/officeDocument/2006/relationships/slideMaster" Target="../slideMasters/slideMaster1.xml"/><Relationship Id="rId4" Type="http://schemas.openxmlformats.org/officeDocument/2006/relationships/image" Target="../media/image10.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5.png"/><Relationship Id="rId1" Type="http://schemas.openxmlformats.org/officeDocument/2006/relationships/slideMaster" Target="../slideMasters/slideMaster1.xml"/><Relationship Id="rId4" Type="http://schemas.openxmlformats.org/officeDocument/2006/relationships/image" Target="../media/image23.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esson Name">
  <p:cSld name="Lesson Name">
    <p:spTree>
      <p:nvGrpSpPr>
        <p:cNvPr id="1" name="Shape 15"/>
        <p:cNvGrpSpPr/>
        <p:nvPr/>
      </p:nvGrpSpPr>
      <p:grpSpPr>
        <a:xfrm>
          <a:off x="0" y="0"/>
          <a:ext cx="0" cy="0"/>
          <a:chOff x="0" y="0"/>
          <a:chExt cx="0" cy="0"/>
        </a:xfrm>
      </p:grpSpPr>
      <p:pic>
        <p:nvPicPr>
          <p:cNvPr id="16" name="Google Shape;16;p96" descr="A picture containing wate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7" name="Google Shape;17;p96"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8" name="Google Shape;18;p96"/>
          <p:cNvSpPr txBox="1">
            <a:spLocks noGrp="1"/>
          </p:cNvSpPr>
          <p:nvPr>
            <p:ph type="body" idx="1"/>
          </p:nvPr>
        </p:nvSpPr>
        <p:spPr>
          <a:xfrm>
            <a:off x="3075048" y="4114800"/>
            <a:ext cx="6960049" cy="914400"/>
          </a:xfrm>
          <a:prstGeom prst="rect">
            <a:avLst/>
          </a:prstGeom>
          <a:noFill/>
          <a:ln>
            <a:noFill/>
          </a:ln>
        </p:spPr>
        <p:txBody>
          <a:bodyPr spcFirstLastPara="1" wrap="square" lIns="91425" tIns="91425" rIns="91425" bIns="91425" anchor="t" anchorCtr="0">
            <a:noAutofit/>
          </a:bodyPr>
          <a:lstStyle>
            <a:lvl1pPr marL="457200" lvl="0" indent="-406400" algn="l">
              <a:lnSpc>
                <a:spcPct val="90000"/>
              </a:lnSpc>
              <a:spcBef>
                <a:spcPts val="1000"/>
              </a:spcBef>
              <a:spcAft>
                <a:spcPts val="0"/>
              </a:spcAft>
              <a:buSzPts val="2800"/>
              <a:buChar char="•"/>
              <a:defRPr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You Already Know">
  <p:cSld name="You Already Know">
    <p:spTree>
      <p:nvGrpSpPr>
        <p:cNvPr id="1" name="Shape 19"/>
        <p:cNvGrpSpPr/>
        <p:nvPr/>
      </p:nvGrpSpPr>
      <p:grpSpPr>
        <a:xfrm>
          <a:off x="0" y="0"/>
          <a:ext cx="0" cy="0"/>
          <a:chOff x="0" y="0"/>
          <a:chExt cx="0" cy="0"/>
        </a:xfrm>
      </p:grpSpPr>
      <p:pic>
        <p:nvPicPr>
          <p:cNvPr id="20" name="Google Shape;20;p97" descr="A screenshot of a compute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21" name="Google Shape;21;p97" descr="A picture containing object&#10;&#10;Description automatically generated"/>
          <p:cNvPicPr preferRelativeResize="0"/>
          <p:nvPr/>
        </p:nvPicPr>
        <p:blipFill rotWithShape="1">
          <a:blip r:embed="rId3">
            <a:alphaModFix/>
          </a:blip>
          <a:srcRect/>
          <a:stretch/>
        </p:blipFill>
        <p:spPr>
          <a:xfrm>
            <a:off x="0" y="228487"/>
            <a:ext cx="16255999" cy="8687026"/>
          </a:xfrm>
          <a:prstGeom prst="rect">
            <a:avLst/>
          </a:prstGeom>
          <a:noFill/>
          <a:ln>
            <a:noFill/>
          </a:ln>
        </p:spPr>
      </p:pic>
      <p:pic>
        <p:nvPicPr>
          <p:cNvPr id="22" name="Google Shape;22;p97" descr="A close up of a logo&#10;&#10;Description automatically generated"/>
          <p:cNvPicPr preferRelativeResize="0"/>
          <p:nvPr/>
        </p:nvPicPr>
        <p:blipFill rotWithShape="1">
          <a:blip r:embed="rId4">
            <a:alphaModFix/>
          </a:blip>
          <a:srcRect/>
          <a:stretch/>
        </p:blipFill>
        <p:spPr>
          <a:xfrm>
            <a:off x="0" y="0"/>
            <a:ext cx="16256000" cy="9144000"/>
          </a:xfrm>
          <a:prstGeom prst="rect">
            <a:avLst/>
          </a:prstGeom>
          <a:noFill/>
          <a:ln>
            <a:noFill/>
          </a:ln>
        </p:spPr>
      </p:pic>
      <p:sp>
        <p:nvSpPr>
          <p:cNvPr id="23" name="Google Shape;23;p97"/>
          <p:cNvSpPr/>
          <p:nvPr/>
        </p:nvSpPr>
        <p:spPr>
          <a:xfrm>
            <a:off x="5718038" y="569353"/>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chemeClr val="lt1"/>
              </a:buClr>
              <a:buSzPts val="2800"/>
              <a:buFont typeface="Open Sans"/>
              <a:buNone/>
            </a:pPr>
            <a:r>
              <a:rPr lang="en-US" sz="2800" b="1" i="0" u="none" strike="noStrike" cap="none">
                <a:solidFill>
                  <a:schemeClr val="lt1"/>
                </a:solidFill>
                <a:latin typeface="Open Sans"/>
                <a:ea typeface="Open Sans"/>
                <a:cs typeface="Open Sans"/>
                <a:sym typeface="Open Sans"/>
              </a:rPr>
              <a:t>You Already Know</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Recap">
  <p:cSld name="Recap">
    <p:spTree>
      <p:nvGrpSpPr>
        <p:cNvPr id="1" name="Shape 24"/>
        <p:cNvGrpSpPr/>
        <p:nvPr/>
      </p:nvGrpSpPr>
      <p:grpSpPr>
        <a:xfrm>
          <a:off x="0" y="0"/>
          <a:ext cx="0" cy="0"/>
          <a:chOff x="0" y="0"/>
          <a:chExt cx="0" cy="0"/>
        </a:xfrm>
      </p:grpSpPr>
      <p:pic>
        <p:nvPicPr>
          <p:cNvPr id="25" name="Google Shape;25;p98"/>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26" name="Google Shape;26;p98"/>
          <p:cNvPicPr preferRelativeResize="0"/>
          <p:nvPr/>
        </p:nvPicPr>
        <p:blipFill rotWithShape="1">
          <a:blip r:embed="rId3">
            <a:alphaModFix/>
          </a:blip>
          <a:srcRect/>
          <a:stretch/>
        </p:blipFill>
        <p:spPr>
          <a:xfrm>
            <a:off x="0" y="324852"/>
            <a:ext cx="16256000" cy="9144000"/>
          </a:xfrm>
          <a:prstGeom prst="rect">
            <a:avLst/>
          </a:prstGeom>
          <a:noFill/>
          <a:ln>
            <a:noFill/>
          </a:ln>
        </p:spPr>
      </p:pic>
      <p:pic>
        <p:nvPicPr>
          <p:cNvPr id="27" name="Google Shape;27;p98" descr="A close up of a logo&#10;&#10;Description automatically generated"/>
          <p:cNvPicPr preferRelativeResize="0"/>
          <p:nvPr/>
        </p:nvPicPr>
        <p:blipFill rotWithShape="1">
          <a:blip r:embed="rId4">
            <a:alphaModFix/>
          </a:blip>
          <a:srcRect/>
          <a:stretch/>
        </p:blipFill>
        <p:spPr>
          <a:xfrm>
            <a:off x="0" y="0"/>
            <a:ext cx="16256000" cy="9144000"/>
          </a:xfrm>
          <a:prstGeom prst="rect">
            <a:avLst/>
          </a:prstGeom>
          <a:noFill/>
          <a:ln>
            <a:noFill/>
          </a:ln>
        </p:spPr>
      </p:pic>
      <p:sp>
        <p:nvSpPr>
          <p:cNvPr id="28" name="Google Shape;28;p98"/>
          <p:cNvSpPr txBox="1">
            <a:spLocks noGrp="1"/>
          </p:cNvSpPr>
          <p:nvPr>
            <p:ph type="body" idx="1"/>
          </p:nvPr>
        </p:nvSpPr>
        <p:spPr>
          <a:xfrm>
            <a:off x="1632860" y="1987907"/>
            <a:ext cx="9405257"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29" name="Google Shape;29;p98"/>
          <p:cNvSpPr/>
          <p:nvPr/>
        </p:nvSpPr>
        <p:spPr>
          <a:xfrm rot="-3026872">
            <a:off x="-270651" y="848918"/>
            <a:ext cx="2404969"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chemeClr val="lt1"/>
              </a:buClr>
              <a:buSzPts val="2800"/>
              <a:buFont typeface="Open Sans"/>
              <a:buNone/>
            </a:pPr>
            <a:r>
              <a:rPr lang="en-US" sz="2800" b="1" i="0" u="none" strike="noStrike" cap="none">
                <a:solidFill>
                  <a:schemeClr val="lt1"/>
                </a:solidFill>
                <a:latin typeface="Open Sans"/>
                <a:ea typeface="Open Sans"/>
                <a:cs typeface="Open Sans"/>
                <a:sym typeface="Open Sans"/>
              </a:rPr>
              <a:t>Recap</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A day in the life">
  <p:cSld name="A day in the life">
    <p:spTree>
      <p:nvGrpSpPr>
        <p:cNvPr id="1" name="Shape 30"/>
        <p:cNvGrpSpPr/>
        <p:nvPr/>
      </p:nvGrpSpPr>
      <p:grpSpPr>
        <a:xfrm>
          <a:off x="0" y="0"/>
          <a:ext cx="0" cy="0"/>
          <a:chOff x="0" y="0"/>
          <a:chExt cx="0" cy="0"/>
        </a:xfrm>
      </p:grpSpPr>
      <p:pic>
        <p:nvPicPr>
          <p:cNvPr id="31" name="Google Shape;31;p99"/>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32" name="Google Shape;32;p99"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33" name="Google Shape;33;p99"/>
          <p:cNvSpPr txBox="1">
            <a:spLocks noGrp="1"/>
          </p:cNvSpPr>
          <p:nvPr>
            <p:ph type="body" idx="1"/>
          </p:nvPr>
        </p:nvSpPr>
        <p:spPr>
          <a:xfrm>
            <a:off x="1453243" y="1808291"/>
            <a:ext cx="9405257"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34" name="Google Shape;34;p99"/>
          <p:cNvSpPr/>
          <p:nvPr/>
        </p:nvSpPr>
        <p:spPr>
          <a:xfrm>
            <a:off x="2089150" y="569353"/>
            <a:ext cx="12077700"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rgbClr val="262626"/>
              </a:buClr>
              <a:buSzPts val="2800"/>
              <a:buFont typeface="Open Sans"/>
              <a:buNone/>
            </a:pPr>
            <a:r>
              <a:rPr lang="en-US" sz="2800" b="1" i="0" u="none" strike="noStrike" cap="none">
                <a:solidFill>
                  <a:srgbClr val="262626"/>
                </a:solidFill>
                <a:latin typeface="Open Sans"/>
                <a:ea typeface="Open Sans"/>
                <a:cs typeface="Open Sans"/>
                <a:sym typeface="Open Sans"/>
              </a:rPr>
              <a:t>A Day in the Life of a Full Stack Developer</a:t>
            </a:r>
            <a:endParaRPr sz="1800" b="0" i="0" u="none" strike="noStrike" cap="none">
              <a:solidFill>
                <a:srgbClr val="262626"/>
              </a:solidFill>
              <a:latin typeface="Arial"/>
              <a:ea typeface="Arial"/>
              <a:cs typeface="Arial"/>
              <a:sym typeface="Arial"/>
            </a:endParaRPr>
          </a:p>
        </p:txBody>
      </p:sp>
      <p:pic>
        <p:nvPicPr>
          <p:cNvPr id="35" name="Google Shape;35;p99"/>
          <p:cNvPicPr preferRelativeResize="0"/>
          <p:nvPr/>
        </p:nvPicPr>
        <p:blipFill rotWithShape="1">
          <a:blip r:embed="rId4">
            <a:alphaModFix/>
          </a:blip>
          <a:srcRect/>
          <a:stretch/>
        </p:blipFill>
        <p:spPr>
          <a:xfrm>
            <a:off x="2958485" y="1000240"/>
            <a:ext cx="10332955" cy="36576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earning Objectives">
  <p:cSld name="Learning Objectives">
    <p:spTree>
      <p:nvGrpSpPr>
        <p:cNvPr id="1" name="Shape 36"/>
        <p:cNvGrpSpPr/>
        <p:nvPr/>
      </p:nvGrpSpPr>
      <p:grpSpPr>
        <a:xfrm>
          <a:off x="0" y="0"/>
          <a:ext cx="0" cy="0"/>
          <a:chOff x="0" y="0"/>
          <a:chExt cx="0" cy="0"/>
        </a:xfrm>
      </p:grpSpPr>
      <p:pic>
        <p:nvPicPr>
          <p:cNvPr id="37" name="Google Shape;37;p100" descr="A close up of a sign&#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38" name="Google Shape;38;p100"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39" name="Google Shape;39;p100"/>
          <p:cNvSpPr/>
          <p:nvPr/>
        </p:nvSpPr>
        <p:spPr>
          <a:xfrm>
            <a:off x="2747395" y="769174"/>
            <a:ext cx="4819925" cy="52322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rgbClr val="3F3F3F"/>
                </a:solidFill>
                <a:latin typeface="Open Sans"/>
                <a:ea typeface="Open Sans"/>
                <a:cs typeface="Open Sans"/>
                <a:sym typeface="Open Sans"/>
              </a:rPr>
              <a:t>Learning Objectives</a:t>
            </a:r>
            <a:endParaRPr sz="1800" b="0" i="0" u="none" strike="noStrike" cap="none">
              <a:solidFill>
                <a:schemeClr val="dk1"/>
              </a:solidFill>
              <a:latin typeface="Arial"/>
              <a:ea typeface="Arial"/>
              <a:cs typeface="Arial"/>
              <a:sym typeface="Arial"/>
            </a:endParaRPr>
          </a:p>
        </p:txBody>
      </p:sp>
      <p:sp>
        <p:nvSpPr>
          <p:cNvPr id="40" name="Google Shape;40;p100"/>
          <p:cNvSpPr txBox="1">
            <a:spLocks noGrp="1"/>
          </p:cNvSpPr>
          <p:nvPr>
            <p:ph type="body" idx="1"/>
          </p:nvPr>
        </p:nvSpPr>
        <p:spPr>
          <a:xfrm>
            <a:off x="1470660" y="2204378"/>
            <a:ext cx="8229600" cy="548640"/>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41" name="Google Shape;41;p100"/>
          <p:cNvSpPr txBox="1">
            <a:spLocks noGrp="1"/>
          </p:cNvSpPr>
          <p:nvPr>
            <p:ph type="body" idx="2"/>
          </p:nvPr>
        </p:nvSpPr>
        <p:spPr>
          <a:xfrm>
            <a:off x="1470660" y="3377721"/>
            <a:ext cx="8229600" cy="548640"/>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42" name="Google Shape;42;p100"/>
          <p:cNvSpPr txBox="1">
            <a:spLocks noGrp="1"/>
          </p:cNvSpPr>
          <p:nvPr>
            <p:ph type="body" idx="3"/>
          </p:nvPr>
        </p:nvSpPr>
        <p:spPr>
          <a:xfrm>
            <a:off x="1470660" y="4551064"/>
            <a:ext cx="8229600" cy="548640"/>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43" name="Google Shape;43;p100"/>
          <p:cNvSpPr txBox="1">
            <a:spLocks noGrp="1"/>
          </p:cNvSpPr>
          <p:nvPr>
            <p:ph type="body" idx="4"/>
          </p:nvPr>
        </p:nvSpPr>
        <p:spPr>
          <a:xfrm>
            <a:off x="1470660" y="5724407"/>
            <a:ext cx="8229600" cy="548640"/>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pic>
        <p:nvPicPr>
          <p:cNvPr id="44" name="Google Shape;44;p100"/>
          <p:cNvPicPr preferRelativeResize="0"/>
          <p:nvPr/>
        </p:nvPicPr>
        <p:blipFill rotWithShape="1">
          <a:blip r:embed="rId4">
            <a:alphaModFix/>
          </a:blip>
          <a:srcRect/>
          <a:stretch/>
        </p:blipFill>
        <p:spPr>
          <a:xfrm>
            <a:off x="2870200" y="1186581"/>
            <a:ext cx="4819924" cy="36576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opic Name">
  <p:cSld name="Topic Name">
    <p:spTree>
      <p:nvGrpSpPr>
        <p:cNvPr id="1" name="Shape 45"/>
        <p:cNvGrpSpPr/>
        <p:nvPr/>
      </p:nvGrpSpPr>
      <p:grpSpPr>
        <a:xfrm>
          <a:off x="0" y="0"/>
          <a:ext cx="0" cy="0"/>
          <a:chOff x="0" y="0"/>
          <a:chExt cx="0" cy="0"/>
        </a:xfrm>
      </p:grpSpPr>
      <p:pic>
        <p:nvPicPr>
          <p:cNvPr id="46" name="Google Shape;46;p101" descr="A picture containing water, outdoo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47" name="Google Shape;47;p101"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pic>
        <p:nvPicPr>
          <p:cNvPr id="48" name="Google Shape;48;p101" descr="A close up of a logo&#10;&#10;Description automatically generated"/>
          <p:cNvPicPr preferRelativeResize="0"/>
          <p:nvPr/>
        </p:nvPicPr>
        <p:blipFill rotWithShape="1">
          <a:blip r:embed="rId4">
            <a:alphaModFix/>
          </a:blip>
          <a:srcRect/>
          <a:stretch/>
        </p:blipFill>
        <p:spPr>
          <a:xfrm>
            <a:off x="0" y="0"/>
            <a:ext cx="16256000" cy="9144000"/>
          </a:xfrm>
          <a:prstGeom prst="rect">
            <a:avLst/>
          </a:prstGeom>
          <a:noFill/>
          <a:ln>
            <a:noFill/>
          </a:ln>
        </p:spPr>
      </p:pic>
      <p:sp>
        <p:nvSpPr>
          <p:cNvPr id="49" name="Google Shape;49;p101"/>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lvl1pPr marL="457200" lvl="0" indent="-406400" algn="ctr">
              <a:lnSpc>
                <a:spcPct val="90000"/>
              </a:lnSpc>
              <a:spcBef>
                <a:spcPts val="1000"/>
              </a:spcBef>
              <a:spcAft>
                <a:spcPts val="0"/>
              </a:spcAft>
              <a:buSzPts val="2800"/>
              <a:buChar char="•"/>
              <a:defRPr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Slide">
  <p:cSld name="Content Slide">
    <p:spTree>
      <p:nvGrpSpPr>
        <p:cNvPr id="1" name="Shape 50"/>
        <p:cNvGrpSpPr/>
        <p:nvPr/>
      </p:nvGrpSpPr>
      <p:grpSpPr>
        <a:xfrm>
          <a:off x="0" y="0"/>
          <a:ext cx="0" cy="0"/>
          <a:chOff x="0" y="0"/>
          <a:chExt cx="0" cy="0"/>
        </a:xfrm>
      </p:grpSpPr>
      <p:pic>
        <p:nvPicPr>
          <p:cNvPr id="51" name="Google Shape;51;p102" descr="A close up of a logo&#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52" name="Google Shape;52;p102"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53" name="Google Shape;53;p102"/>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SzPts val="4400"/>
              <a:buNone/>
              <a:defRPr sz="2800" b="1">
                <a:solidFill>
                  <a:srgbClr val="3F3F3F"/>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Assisted Practice">
  <p:cSld name="Assisted Practice">
    <p:spTree>
      <p:nvGrpSpPr>
        <p:cNvPr id="1" name="Shape 54"/>
        <p:cNvGrpSpPr/>
        <p:nvPr/>
      </p:nvGrpSpPr>
      <p:grpSpPr>
        <a:xfrm>
          <a:off x="0" y="0"/>
          <a:ext cx="0" cy="0"/>
          <a:chOff x="0" y="0"/>
          <a:chExt cx="0" cy="0"/>
        </a:xfrm>
      </p:grpSpPr>
      <p:pic>
        <p:nvPicPr>
          <p:cNvPr id="55" name="Google Shape;55;p103" descr="A screenshot of a compute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56" name="Google Shape;56;p103"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pic>
        <p:nvPicPr>
          <p:cNvPr id="57" name="Google Shape;57;p103" descr="A close up of a logo&#10;&#10;Description automatically generated"/>
          <p:cNvPicPr preferRelativeResize="0"/>
          <p:nvPr/>
        </p:nvPicPr>
        <p:blipFill rotWithShape="1">
          <a:blip r:embed="rId4">
            <a:alphaModFix/>
          </a:blip>
          <a:srcRect/>
          <a:stretch/>
        </p:blipFill>
        <p:spPr>
          <a:xfrm>
            <a:off x="0" y="0"/>
            <a:ext cx="16256000" cy="9144000"/>
          </a:xfrm>
          <a:prstGeom prst="rect">
            <a:avLst/>
          </a:prstGeom>
          <a:noFill/>
          <a:ln>
            <a:noFill/>
          </a:ln>
        </p:spPr>
      </p:pic>
      <p:sp>
        <p:nvSpPr>
          <p:cNvPr id="58" name="Google Shape;58;p103"/>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440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3"/>
          <p:cNvSpPr txBox="1">
            <a:spLocks noGrp="1"/>
          </p:cNvSpPr>
          <p:nvPr>
            <p:ph type="body" idx="1"/>
          </p:nvPr>
        </p:nvSpPr>
        <p:spPr>
          <a:xfrm>
            <a:off x="1902091" y="2363465"/>
            <a:ext cx="12451817"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Key Takeaways">
  <p:cSld name="Key Takeaways">
    <p:spTree>
      <p:nvGrpSpPr>
        <p:cNvPr id="1" name="Shape 60"/>
        <p:cNvGrpSpPr/>
        <p:nvPr/>
      </p:nvGrpSpPr>
      <p:grpSpPr>
        <a:xfrm>
          <a:off x="0" y="0"/>
          <a:ext cx="0" cy="0"/>
          <a:chOff x="0" y="0"/>
          <a:chExt cx="0" cy="0"/>
        </a:xfrm>
      </p:grpSpPr>
      <p:pic>
        <p:nvPicPr>
          <p:cNvPr id="61" name="Google Shape;61;p104" descr="A close up of a sign&#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62" name="Google Shape;62;p104"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pic>
        <p:nvPicPr>
          <p:cNvPr id="63" name="Google Shape;63;p104"/>
          <p:cNvPicPr preferRelativeResize="0"/>
          <p:nvPr/>
        </p:nvPicPr>
        <p:blipFill rotWithShape="1">
          <a:blip r:embed="rId4">
            <a:alphaModFix/>
          </a:blip>
          <a:srcRect/>
          <a:stretch/>
        </p:blipFill>
        <p:spPr>
          <a:xfrm>
            <a:off x="3302000" y="1186581"/>
            <a:ext cx="3975100" cy="365760"/>
          </a:xfrm>
          <a:prstGeom prst="rect">
            <a:avLst/>
          </a:prstGeom>
          <a:noFill/>
          <a:ln>
            <a:noFill/>
          </a:ln>
        </p:spPr>
      </p:pic>
      <p:sp>
        <p:nvSpPr>
          <p:cNvPr id="64" name="Google Shape;64;p104"/>
          <p:cNvSpPr/>
          <p:nvPr/>
        </p:nvSpPr>
        <p:spPr>
          <a:xfrm>
            <a:off x="2747395" y="769174"/>
            <a:ext cx="4819925" cy="523220"/>
          </a:xfrm>
          <a:prstGeom prst="rect">
            <a:avLst/>
          </a:prstGeom>
          <a:noFill/>
          <a:ln>
            <a:noFill/>
          </a:ln>
        </p:spPr>
        <p:txBody>
          <a:bodyPr spcFirstLastPara="1" wrap="square" lIns="91425" tIns="45700" rIns="91425" bIns="45700" anchor="t" anchorCtr="0">
            <a:spAutoFit/>
          </a:bodyPr>
          <a:lstStyle/>
          <a:p>
            <a:pPr marL="457200" marR="0" lvl="0" indent="-228600" algn="ctr" rtl="0">
              <a:lnSpc>
                <a:spcPct val="100000"/>
              </a:lnSpc>
              <a:spcBef>
                <a:spcPts val="0"/>
              </a:spcBef>
              <a:spcAft>
                <a:spcPts val="0"/>
              </a:spcAft>
              <a:buClr>
                <a:srgbClr val="3F3F3F"/>
              </a:buClr>
              <a:buSzPts val="2200"/>
              <a:buFont typeface="Arial"/>
              <a:buNone/>
            </a:pPr>
            <a:r>
              <a:rPr lang="en-US" sz="2800" b="1" i="0" u="none" strike="noStrike" cap="none">
                <a:solidFill>
                  <a:srgbClr val="3F3F3F"/>
                </a:solidFill>
                <a:latin typeface="Open Sans"/>
                <a:ea typeface="Open Sans"/>
                <a:cs typeface="Open Sans"/>
                <a:sym typeface="Open Sans"/>
              </a:rPr>
              <a:t>Key Takeaways</a:t>
            </a:r>
            <a:endParaRPr sz="1800" b="0" i="0" u="none" strike="noStrike" cap="none">
              <a:solidFill>
                <a:schemeClr val="dk1"/>
              </a:solidFill>
              <a:latin typeface="Arial"/>
              <a:ea typeface="Arial"/>
              <a:cs typeface="Arial"/>
              <a:sym typeface="Arial"/>
            </a:endParaRPr>
          </a:p>
        </p:txBody>
      </p:sp>
      <p:sp>
        <p:nvSpPr>
          <p:cNvPr id="65" name="Google Shape;65;p104"/>
          <p:cNvSpPr txBox="1">
            <a:spLocks noGrp="1"/>
          </p:cNvSpPr>
          <p:nvPr>
            <p:ph type="body" idx="1"/>
          </p:nvPr>
        </p:nvSpPr>
        <p:spPr>
          <a:xfrm>
            <a:off x="1432121" y="2180141"/>
            <a:ext cx="8099408" cy="58624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66" name="Google Shape;66;p104"/>
          <p:cNvSpPr txBox="1">
            <a:spLocks noGrp="1"/>
          </p:cNvSpPr>
          <p:nvPr>
            <p:ph type="body" idx="2"/>
          </p:nvPr>
        </p:nvSpPr>
        <p:spPr>
          <a:xfrm>
            <a:off x="1432121" y="3372838"/>
            <a:ext cx="8099408" cy="58624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67" name="Google Shape;67;p104"/>
          <p:cNvSpPr txBox="1">
            <a:spLocks noGrp="1"/>
          </p:cNvSpPr>
          <p:nvPr>
            <p:ph type="body" idx="3"/>
          </p:nvPr>
        </p:nvSpPr>
        <p:spPr>
          <a:xfrm>
            <a:off x="1432121" y="4565535"/>
            <a:ext cx="8099408" cy="58624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68" name="Google Shape;68;p104"/>
          <p:cNvSpPr txBox="1">
            <a:spLocks noGrp="1"/>
          </p:cNvSpPr>
          <p:nvPr>
            <p:ph type="body" idx="4"/>
          </p:nvPr>
        </p:nvSpPr>
        <p:spPr>
          <a:xfrm>
            <a:off x="1432121" y="5758233"/>
            <a:ext cx="8099408" cy="58624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Knowledge Check ">
  <p:cSld name="Knowledge Check ">
    <p:spTree>
      <p:nvGrpSpPr>
        <p:cNvPr id="1" name="Shape 69"/>
        <p:cNvGrpSpPr/>
        <p:nvPr/>
      </p:nvGrpSpPr>
      <p:grpSpPr>
        <a:xfrm>
          <a:off x="0" y="0"/>
          <a:ext cx="0" cy="0"/>
          <a:chOff x="0" y="0"/>
          <a:chExt cx="0" cy="0"/>
        </a:xfrm>
      </p:grpSpPr>
      <p:pic>
        <p:nvPicPr>
          <p:cNvPr id="70" name="Google Shape;70;p105"/>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71" name="Google Shape;71;p105"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72" name="Google Shape;72;p105"/>
          <p:cNvSpPr/>
          <p:nvPr/>
        </p:nvSpPr>
        <p:spPr>
          <a:xfrm>
            <a:off x="8128000" y="4310390"/>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chemeClr val="lt1"/>
              </a:buClr>
              <a:buSzPts val="2800"/>
              <a:buFont typeface="Open Sans"/>
              <a:buNone/>
            </a:pPr>
            <a:r>
              <a:rPr lang="en-US" sz="2800" b="1" i="0" u="none" strike="noStrike" cap="none">
                <a:solidFill>
                  <a:schemeClr val="lt1"/>
                </a:solidFill>
                <a:latin typeface="Open Sans"/>
                <a:ea typeface="Open Sans"/>
                <a:cs typeface="Open Sans"/>
                <a:sym typeface="Open Sans"/>
              </a:rPr>
              <a:t>Knowledge Check</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_quiz content">
  <p:cSld name="1_quiz content">
    <p:spTree>
      <p:nvGrpSpPr>
        <p:cNvPr id="1" name="Shape 73"/>
        <p:cNvGrpSpPr/>
        <p:nvPr/>
      </p:nvGrpSpPr>
      <p:grpSpPr>
        <a:xfrm>
          <a:off x="0" y="0"/>
          <a:ext cx="0" cy="0"/>
          <a:chOff x="0" y="0"/>
          <a:chExt cx="0" cy="0"/>
        </a:xfrm>
      </p:grpSpPr>
      <p:pic>
        <p:nvPicPr>
          <p:cNvPr id="74" name="Google Shape;74;p106"/>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75" name="Google Shape;75;p106"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76" name="Google Shape;76;p106"/>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77" name="Google Shape;77;p106"/>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200"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78" name="Google Shape;78;p106"/>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lvl1pPr marL="457200" lvl="0" indent="-406400" algn="l">
              <a:lnSpc>
                <a:spcPct val="90000"/>
              </a:lnSpc>
              <a:spcBef>
                <a:spcPts val="1000"/>
              </a:spcBef>
              <a:spcAft>
                <a:spcPts val="0"/>
              </a:spcAft>
              <a:buSzPts val="2800"/>
              <a:buChar char="•"/>
              <a:defRPr sz="22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79" name="Google Shape;79;p106"/>
          <p:cNvSpPr txBox="1"/>
          <p:nvPr/>
        </p:nvSpPr>
        <p:spPr>
          <a:xfrm>
            <a:off x="1716761" y="283654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A</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80" name="Google Shape;80;p106"/>
          <p:cNvSpPr txBox="1"/>
          <p:nvPr/>
        </p:nvSpPr>
        <p:spPr>
          <a:xfrm>
            <a:off x="1716761" y="365714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B</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81" name="Google Shape;81;p106"/>
          <p:cNvSpPr txBox="1"/>
          <p:nvPr/>
        </p:nvSpPr>
        <p:spPr>
          <a:xfrm>
            <a:off x="1716761" y="447775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C</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82" name="Google Shape;82;p106"/>
          <p:cNvSpPr txBox="1"/>
          <p:nvPr/>
        </p:nvSpPr>
        <p:spPr>
          <a:xfrm>
            <a:off x="1716761" y="529835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D</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83" name="Google Shape;83;p106"/>
          <p:cNvSpPr txBox="1">
            <a:spLocks noGrp="1"/>
          </p:cNvSpPr>
          <p:nvPr>
            <p:ph type="body" idx="3"/>
          </p:nvPr>
        </p:nvSpPr>
        <p:spPr>
          <a:xfrm>
            <a:off x="2329744" y="278841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84" name="Google Shape;84;p106"/>
          <p:cNvSpPr txBox="1">
            <a:spLocks noGrp="1"/>
          </p:cNvSpPr>
          <p:nvPr>
            <p:ph type="body" idx="4"/>
          </p:nvPr>
        </p:nvSpPr>
        <p:spPr>
          <a:xfrm>
            <a:off x="2329744" y="360902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85" name="Google Shape;85;p106"/>
          <p:cNvSpPr txBox="1">
            <a:spLocks noGrp="1"/>
          </p:cNvSpPr>
          <p:nvPr>
            <p:ph type="body" idx="5"/>
          </p:nvPr>
        </p:nvSpPr>
        <p:spPr>
          <a:xfrm>
            <a:off x="2329744" y="442962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86" name="Google Shape;86;p106"/>
          <p:cNvSpPr txBox="1">
            <a:spLocks noGrp="1"/>
          </p:cNvSpPr>
          <p:nvPr>
            <p:ph type="body" idx="6"/>
          </p:nvPr>
        </p:nvSpPr>
        <p:spPr>
          <a:xfrm>
            <a:off x="2329744" y="525023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_quiz ans">
  <p:cSld name="1_quiz ans">
    <p:spTree>
      <p:nvGrpSpPr>
        <p:cNvPr id="1" name="Shape 87"/>
        <p:cNvGrpSpPr/>
        <p:nvPr/>
      </p:nvGrpSpPr>
      <p:grpSpPr>
        <a:xfrm>
          <a:off x="0" y="0"/>
          <a:ext cx="0" cy="0"/>
          <a:chOff x="0" y="0"/>
          <a:chExt cx="0" cy="0"/>
        </a:xfrm>
      </p:grpSpPr>
      <p:pic>
        <p:nvPicPr>
          <p:cNvPr id="88" name="Google Shape;88;p107"/>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89" name="Google Shape;89;p107"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90" name="Google Shape;90;p107"/>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91" name="Google Shape;91;p107"/>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200"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92" name="Google Shape;92;p107"/>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lvl1pPr marL="457200" lvl="0" indent="-406400" algn="l">
              <a:lnSpc>
                <a:spcPct val="90000"/>
              </a:lnSpc>
              <a:spcBef>
                <a:spcPts val="1000"/>
              </a:spcBef>
              <a:spcAft>
                <a:spcPts val="0"/>
              </a:spcAft>
              <a:buSzPts val="2800"/>
              <a:buChar char="•"/>
              <a:defRPr sz="22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93" name="Google Shape;93;p107"/>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0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94" name="Google Shape;94;p107"/>
          <p:cNvSpPr txBox="1"/>
          <p:nvPr/>
        </p:nvSpPr>
        <p:spPr>
          <a:xfrm>
            <a:off x="670034" y="7373503"/>
            <a:ext cx="274905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is</a:t>
            </a:r>
            <a:endParaRPr sz="1400" b="0" i="0" u="none" strike="noStrike" cap="none">
              <a:solidFill>
                <a:srgbClr val="000000"/>
              </a:solidFill>
              <a:latin typeface="Open Sans"/>
              <a:ea typeface="Open Sans"/>
              <a:cs typeface="Open Sans"/>
              <a:sym typeface="Open Sans"/>
            </a:endParaRPr>
          </a:p>
        </p:txBody>
      </p:sp>
      <p:cxnSp>
        <p:nvCxnSpPr>
          <p:cNvPr id="95" name="Google Shape;95;p107"/>
          <p:cNvCxnSpPr/>
          <p:nvPr/>
        </p:nvCxnSpPr>
        <p:spPr>
          <a:xfrm>
            <a:off x="670034" y="7854368"/>
            <a:ext cx="15074462" cy="0"/>
          </a:xfrm>
          <a:prstGeom prst="straightConnector1">
            <a:avLst/>
          </a:prstGeom>
          <a:noFill/>
          <a:ln w="9525" cap="flat" cmpd="sng">
            <a:solidFill>
              <a:schemeClr val="dk1"/>
            </a:solidFill>
            <a:prstDash val="solid"/>
            <a:round/>
            <a:headEnd type="none" w="sm" len="sm"/>
            <a:tailEnd type="none" w="sm" len="sm"/>
          </a:ln>
        </p:spPr>
      </p:cxnSp>
      <p:sp>
        <p:nvSpPr>
          <p:cNvPr id="96" name="Google Shape;96;p107"/>
          <p:cNvSpPr txBox="1">
            <a:spLocks noGrp="1"/>
          </p:cNvSpPr>
          <p:nvPr>
            <p:ph type="body" idx="4"/>
          </p:nvPr>
        </p:nvSpPr>
        <p:spPr>
          <a:xfrm>
            <a:off x="3346904" y="7368182"/>
            <a:ext cx="9022188" cy="400110"/>
          </a:xfrm>
          <a:prstGeom prst="rect">
            <a:avLst/>
          </a:prstGeom>
          <a:noFill/>
          <a:ln>
            <a:noFill/>
          </a:ln>
        </p:spPr>
        <p:txBody>
          <a:bodyPr spcFirstLastPara="1" wrap="square" lIns="91425" tIns="0" rIns="91425" bIns="0" anchor="b" anchorCtr="0">
            <a:noAutofit/>
          </a:bodyPr>
          <a:lstStyle>
            <a:lvl1pPr marL="457200" lvl="0" indent="-406400" algn="l">
              <a:lnSpc>
                <a:spcPct val="90000"/>
              </a:lnSpc>
              <a:spcBef>
                <a:spcPts val="1000"/>
              </a:spcBef>
              <a:spcAft>
                <a:spcPts val="0"/>
              </a:spcAft>
              <a:buSzPts val="2800"/>
              <a:buChar char="•"/>
              <a:defRPr sz="2200" b="1">
                <a:solidFill>
                  <a:srgbClr val="024F93"/>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97" name="Google Shape;97;p107"/>
          <p:cNvSpPr txBox="1"/>
          <p:nvPr/>
        </p:nvSpPr>
        <p:spPr>
          <a:xfrm>
            <a:off x="1716761" y="283654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A</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98" name="Google Shape;98;p107"/>
          <p:cNvSpPr txBox="1"/>
          <p:nvPr/>
        </p:nvSpPr>
        <p:spPr>
          <a:xfrm>
            <a:off x="1716761" y="365714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B</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99" name="Google Shape;99;p107"/>
          <p:cNvSpPr txBox="1"/>
          <p:nvPr/>
        </p:nvSpPr>
        <p:spPr>
          <a:xfrm>
            <a:off x="1716761" y="447775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C</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100" name="Google Shape;100;p107"/>
          <p:cNvSpPr txBox="1"/>
          <p:nvPr/>
        </p:nvSpPr>
        <p:spPr>
          <a:xfrm>
            <a:off x="1716761" y="529835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a:solidFill>
                  <a:srgbClr val="3F3F3F"/>
                </a:solidFill>
                <a:latin typeface="Open Sans"/>
                <a:ea typeface="Open Sans"/>
                <a:cs typeface="Open Sans"/>
                <a:sym typeface="Open Sans"/>
              </a:rPr>
              <a:t>D</a:t>
            </a:r>
            <a:r>
              <a:rPr lang="en-US" sz="2000" b="0" i="0" u="none" strike="noStrike" cap="none">
                <a:solidFill>
                  <a:srgbClr val="3F3F3F"/>
                </a:solidFill>
                <a:latin typeface="Open Sans"/>
                <a:ea typeface="Open Sans"/>
                <a:cs typeface="Open Sans"/>
                <a:sym typeface="Open Sans"/>
              </a:rPr>
              <a:t>.</a:t>
            </a:r>
            <a:endParaRPr sz="2000" b="0" i="0" u="none" strike="noStrike" cap="none">
              <a:solidFill>
                <a:srgbClr val="000000"/>
              </a:solidFill>
              <a:latin typeface="Open Sans"/>
              <a:ea typeface="Open Sans"/>
              <a:cs typeface="Open Sans"/>
              <a:sym typeface="Open Sans"/>
            </a:endParaRPr>
          </a:p>
        </p:txBody>
      </p:sp>
      <p:sp>
        <p:nvSpPr>
          <p:cNvPr id="101" name="Google Shape;101;p107"/>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02" name="Google Shape;102;p107"/>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03" name="Google Shape;103;p107"/>
          <p:cNvSpPr txBox="1">
            <a:spLocks noGrp="1"/>
          </p:cNvSpPr>
          <p:nvPr>
            <p:ph type="body" idx="7"/>
          </p:nvPr>
        </p:nvSpPr>
        <p:spPr>
          <a:xfrm>
            <a:off x="2329744" y="442962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04" name="Google Shape;104;p107"/>
          <p:cNvSpPr txBox="1">
            <a:spLocks noGrp="1"/>
          </p:cNvSpPr>
          <p:nvPr>
            <p:ph type="body" idx="8"/>
          </p:nvPr>
        </p:nvSpPr>
        <p:spPr>
          <a:xfrm>
            <a:off x="2329744" y="525023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esson-end Project">
  <p:cSld name="Lesson-end Project">
    <p:spTree>
      <p:nvGrpSpPr>
        <p:cNvPr id="1" name="Shape 105"/>
        <p:cNvGrpSpPr/>
        <p:nvPr/>
      </p:nvGrpSpPr>
      <p:grpSpPr>
        <a:xfrm>
          <a:off x="0" y="0"/>
          <a:ext cx="0" cy="0"/>
          <a:chOff x="0" y="0"/>
          <a:chExt cx="0" cy="0"/>
        </a:xfrm>
      </p:grpSpPr>
      <p:pic>
        <p:nvPicPr>
          <p:cNvPr id="106" name="Google Shape;106;p108"/>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07" name="Google Shape;107;p108"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08" name="Google Shape;108;p108"/>
          <p:cNvSpPr/>
          <p:nvPr/>
        </p:nvSpPr>
        <p:spPr>
          <a:xfrm>
            <a:off x="4254500" y="1303972"/>
            <a:ext cx="10896600" cy="6875496"/>
          </a:xfrm>
          <a:prstGeom prst="roundRect">
            <a:avLst>
              <a:gd name="adj" fmla="val 3063"/>
            </a:avLst>
          </a:prstGeom>
          <a:solidFill>
            <a:srgbClr val="000000">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9" name="Google Shape;109;p108"/>
          <p:cNvSpPr txBox="1">
            <a:spLocks noGrp="1"/>
          </p:cNvSpPr>
          <p:nvPr>
            <p:ph type="title"/>
          </p:nvPr>
        </p:nvSpPr>
        <p:spPr>
          <a:xfrm>
            <a:off x="0" y="539514"/>
            <a:ext cx="16256001" cy="665045"/>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0"/>
              </a:spcBef>
              <a:spcAft>
                <a:spcPts val="0"/>
              </a:spcAft>
              <a:buClr>
                <a:srgbClr val="3F3F3F"/>
              </a:buClr>
              <a:buSzPts val="3200"/>
              <a:buFont typeface="Open Sans ExtraBold"/>
              <a:buNone/>
              <a:defRPr sz="2800" b="1"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0" name="Google Shape;110;p108"/>
          <p:cNvSpPr txBox="1">
            <a:spLocks noGrp="1"/>
          </p:cNvSpPr>
          <p:nvPr>
            <p:ph type="body" idx="1"/>
          </p:nvPr>
        </p:nvSpPr>
        <p:spPr>
          <a:xfrm>
            <a:off x="4699001" y="1770191"/>
            <a:ext cx="9956800"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Before the Next Class">
  <p:cSld name="Before the Next Class">
    <p:spTree>
      <p:nvGrpSpPr>
        <p:cNvPr id="1" name="Shape 111"/>
        <p:cNvGrpSpPr/>
        <p:nvPr/>
      </p:nvGrpSpPr>
      <p:grpSpPr>
        <a:xfrm>
          <a:off x="0" y="0"/>
          <a:ext cx="0" cy="0"/>
          <a:chOff x="0" y="0"/>
          <a:chExt cx="0" cy="0"/>
        </a:xfrm>
      </p:grpSpPr>
      <p:pic>
        <p:nvPicPr>
          <p:cNvPr id="112" name="Google Shape;112;p116" descr="A picture containing water, outdoo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13" name="Google Shape;113;p116"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14" name="Google Shape;114;p116"/>
          <p:cNvSpPr/>
          <p:nvPr/>
        </p:nvSpPr>
        <p:spPr>
          <a:xfrm>
            <a:off x="663026" y="1342072"/>
            <a:ext cx="9046458" cy="6875496"/>
          </a:xfrm>
          <a:prstGeom prst="roundRect">
            <a:avLst>
              <a:gd name="adj" fmla="val 3063"/>
            </a:avLst>
          </a:prstGeom>
          <a:solidFill>
            <a:srgbClr val="000000">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15" name="Google Shape;115;p116"/>
          <p:cNvSpPr txBox="1">
            <a:spLocks noGrp="1"/>
          </p:cNvSpPr>
          <p:nvPr>
            <p:ph type="body" idx="1"/>
          </p:nvPr>
        </p:nvSpPr>
        <p:spPr>
          <a:xfrm>
            <a:off x="1120875" y="1808291"/>
            <a:ext cx="8092571"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16" name="Google Shape;116;p116"/>
          <p:cNvSpPr/>
          <p:nvPr/>
        </p:nvSpPr>
        <p:spPr>
          <a:xfrm>
            <a:off x="2464058" y="762715"/>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chemeClr val="lt1"/>
              </a:buClr>
              <a:buSzPts val="2800"/>
              <a:buFont typeface="Open Sans"/>
              <a:buNone/>
            </a:pPr>
            <a:r>
              <a:rPr lang="en-US" sz="2800" b="1" i="0" u="none" strike="noStrike" cap="none">
                <a:solidFill>
                  <a:schemeClr val="lt1"/>
                </a:solidFill>
                <a:latin typeface="Open Sans"/>
                <a:ea typeface="Open Sans"/>
                <a:cs typeface="Open Sans"/>
                <a:sym typeface="Open Sans"/>
              </a:rPr>
              <a:t>Before the Next Class</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Course Name">
  <p:cSld name="Course Name">
    <p:spTree>
      <p:nvGrpSpPr>
        <p:cNvPr id="1" name="Shape 117"/>
        <p:cNvGrpSpPr/>
        <p:nvPr/>
      </p:nvGrpSpPr>
      <p:grpSpPr>
        <a:xfrm>
          <a:off x="0" y="0"/>
          <a:ext cx="0" cy="0"/>
          <a:chOff x="0" y="0"/>
          <a:chExt cx="0" cy="0"/>
        </a:xfrm>
      </p:grpSpPr>
      <p:pic>
        <p:nvPicPr>
          <p:cNvPr id="118" name="Google Shape;118;p109" descr="A picture containing wate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19" name="Google Shape;119;p109"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20" name="Google Shape;120;p109"/>
          <p:cNvSpPr txBox="1">
            <a:spLocks noGrp="1"/>
          </p:cNvSpPr>
          <p:nvPr>
            <p:ph type="body" idx="1"/>
          </p:nvPr>
        </p:nvSpPr>
        <p:spPr>
          <a:xfrm>
            <a:off x="7304150" y="4114800"/>
            <a:ext cx="7554850" cy="914400"/>
          </a:xfrm>
          <a:prstGeom prst="rect">
            <a:avLst/>
          </a:prstGeom>
          <a:noFill/>
          <a:ln>
            <a:noFill/>
          </a:ln>
        </p:spPr>
        <p:txBody>
          <a:bodyPr spcFirstLastPara="1" wrap="square" lIns="91425" tIns="91425" rIns="91425" bIns="91425" anchor="t" anchorCtr="0">
            <a:noAutofit/>
          </a:bodyPr>
          <a:lstStyle>
            <a:lvl1pPr marL="457200" lvl="0" indent="-406400" algn="l">
              <a:lnSpc>
                <a:spcPct val="90000"/>
              </a:lnSpc>
              <a:spcBef>
                <a:spcPts val="1000"/>
              </a:spcBef>
              <a:spcAft>
                <a:spcPts val="0"/>
              </a:spcAft>
              <a:buSzPts val="2800"/>
              <a:buChar char="•"/>
              <a:defRPr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quiz content">
  <p:cSld name="2_quiz content">
    <p:spTree>
      <p:nvGrpSpPr>
        <p:cNvPr id="1" name="Shape 121"/>
        <p:cNvGrpSpPr/>
        <p:nvPr/>
      </p:nvGrpSpPr>
      <p:grpSpPr>
        <a:xfrm>
          <a:off x="0" y="0"/>
          <a:ext cx="0" cy="0"/>
          <a:chOff x="0" y="0"/>
          <a:chExt cx="0" cy="0"/>
        </a:xfrm>
      </p:grpSpPr>
      <p:pic>
        <p:nvPicPr>
          <p:cNvPr id="122" name="Google Shape;122;p110"/>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23" name="Google Shape;123;p110"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24" name="Google Shape;124;p110"/>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25" name="Google Shape;125;p110"/>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200"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26" name="Google Shape;126;p110"/>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lvl1pPr marL="457200" lvl="0" indent="-406400" algn="l">
              <a:lnSpc>
                <a:spcPct val="90000"/>
              </a:lnSpc>
              <a:spcBef>
                <a:spcPts val="1000"/>
              </a:spcBef>
              <a:spcAft>
                <a:spcPts val="0"/>
              </a:spcAft>
              <a:buSzPts val="2800"/>
              <a:buChar char="•"/>
              <a:defRPr sz="22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27" name="Google Shape;127;p110"/>
          <p:cNvSpPr txBox="1"/>
          <p:nvPr/>
        </p:nvSpPr>
        <p:spPr>
          <a:xfrm>
            <a:off x="1716761" y="283654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a.</a:t>
            </a:r>
            <a:endParaRPr sz="2000" b="0" i="0" u="none" strike="noStrike" cap="none">
              <a:solidFill>
                <a:srgbClr val="000000"/>
              </a:solidFill>
              <a:latin typeface="Open Sans"/>
              <a:ea typeface="Open Sans"/>
              <a:cs typeface="Open Sans"/>
              <a:sym typeface="Open Sans"/>
            </a:endParaRPr>
          </a:p>
        </p:txBody>
      </p:sp>
      <p:sp>
        <p:nvSpPr>
          <p:cNvPr id="128" name="Google Shape;128;p110"/>
          <p:cNvSpPr txBox="1"/>
          <p:nvPr/>
        </p:nvSpPr>
        <p:spPr>
          <a:xfrm>
            <a:off x="1716761" y="365714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b.</a:t>
            </a:r>
            <a:endParaRPr sz="2000" b="0" i="0" u="none" strike="noStrike" cap="none">
              <a:solidFill>
                <a:srgbClr val="000000"/>
              </a:solidFill>
              <a:latin typeface="Open Sans"/>
              <a:ea typeface="Open Sans"/>
              <a:cs typeface="Open Sans"/>
              <a:sym typeface="Open Sans"/>
            </a:endParaRPr>
          </a:p>
        </p:txBody>
      </p:sp>
      <p:sp>
        <p:nvSpPr>
          <p:cNvPr id="129" name="Google Shape;129;p110"/>
          <p:cNvSpPr txBox="1">
            <a:spLocks noGrp="1"/>
          </p:cNvSpPr>
          <p:nvPr>
            <p:ph type="body" idx="3"/>
          </p:nvPr>
        </p:nvSpPr>
        <p:spPr>
          <a:xfrm>
            <a:off x="2329744" y="278841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30" name="Google Shape;130;p110"/>
          <p:cNvSpPr txBox="1">
            <a:spLocks noGrp="1"/>
          </p:cNvSpPr>
          <p:nvPr>
            <p:ph type="body" idx="4"/>
          </p:nvPr>
        </p:nvSpPr>
        <p:spPr>
          <a:xfrm>
            <a:off x="2329744" y="360902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_quiz ans">
  <p:cSld name="2_quiz ans">
    <p:spTree>
      <p:nvGrpSpPr>
        <p:cNvPr id="1" name="Shape 131"/>
        <p:cNvGrpSpPr/>
        <p:nvPr/>
      </p:nvGrpSpPr>
      <p:grpSpPr>
        <a:xfrm>
          <a:off x="0" y="0"/>
          <a:ext cx="0" cy="0"/>
          <a:chOff x="0" y="0"/>
          <a:chExt cx="0" cy="0"/>
        </a:xfrm>
      </p:grpSpPr>
      <p:pic>
        <p:nvPicPr>
          <p:cNvPr id="132" name="Google Shape;132;p111"/>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33" name="Google Shape;133;p111"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34" name="Google Shape;134;p111"/>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35" name="Google Shape;135;p111"/>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200"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36" name="Google Shape;136;p111"/>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lvl1pPr marL="457200" lvl="0" indent="-406400" algn="l">
              <a:lnSpc>
                <a:spcPct val="90000"/>
              </a:lnSpc>
              <a:spcBef>
                <a:spcPts val="1000"/>
              </a:spcBef>
              <a:spcAft>
                <a:spcPts val="0"/>
              </a:spcAft>
              <a:buSzPts val="2800"/>
              <a:buChar char="•"/>
              <a:defRPr sz="22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37" name="Google Shape;137;p111"/>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0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38" name="Google Shape;138;p111"/>
          <p:cNvSpPr txBox="1"/>
          <p:nvPr/>
        </p:nvSpPr>
        <p:spPr>
          <a:xfrm>
            <a:off x="670034" y="7373503"/>
            <a:ext cx="274905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is</a:t>
            </a:r>
            <a:endParaRPr sz="1400" b="0" i="0" u="none" strike="noStrike" cap="none">
              <a:solidFill>
                <a:srgbClr val="000000"/>
              </a:solidFill>
              <a:latin typeface="Open Sans"/>
              <a:ea typeface="Open Sans"/>
              <a:cs typeface="Open Sans"/>
              <a:sym typeface="Open Sans"/>
            </a:endParaRPr>
          </a:p>
        </p:txBody>
      </p:sp>
      <p:cxnSp>
        <p:nvCxnSpPr>
          <p:cNvPr id="139" name="Google Shape;139;p111"/>
          <p:cNvCxnSpPr/>
          <p:nvPr/>
        </p:nvCxnSpPr>
        <p:spPr>
          <a:xfrm>
            <a:off x="670034" y="7854368"/>
            <a:ext cx="15074462" cy="0"/>
          </a:xfrm>
          <a:prstGeom prst="straightConnector1">
            <a:avLst/>
          </a:prstGeom>
          <a:noFill/>
          <a:ln w="9525" cap="flat" cmpd="sng">
            <a:solidFill>
              <a:schemeClr val="dk1"/>
            </a:solidFill>
            <a:prstDash val="solid"/>
            <a:round/>
            <a:headEnd type="none" w="sm" len="sm"/>
            <a:tailEnd type="none" w="sm" len="sm"/>
          </a:ln>
        </p:spPr>
      </p:cxnSp>
      <p:sp>
        <p:nvSpPr>
          <p:cNvPr id="140" name="Google Shape;140;p111"/>
          <p:cNvSpPr txBox="1">
            <a:spLocks noGrp="1"/>
          </p:cNvSpPr>
          <p:nvPr>
            <p:ph type="body" idx="4"/>
          </p:nvPr>
        </p:nvSpPr>
        <p:spPr>
          <a:xfrm>
            <a:off x="3346904" y="7368182"/>
            <a:ext cx="9022188" cy="400110"/>
          </a:xfrm>
          <a:prstGeom prst="rect">
            <a:avLst/>
          </a:prstGeom>
          <a:noFill/>
          <a:ln>
            <a:noFill/>
          </a:ln>
        </p:spPr>
        <p:txBody>
          <a:bodyPr spcFirstLastPara="1" wrap="square" lIns="91425" tIns="0" rIns="91425" bIns="0" anchor="b" anchorCtr="0">
            <a:noAutofit/>
          </a:bodyPr>
          <a:lstStyle>
            <a:lvl1pPr marL="457200" lvl="0" indent="-406400" algn="l">
              <a:lnSpc>
                <a:spcPct val="90000"/>
              </a:lnSpc>
              <a:spcBef>
                <a:spcPts val="1000"/>
              </a:spcBef>
              <a:spcAft>
                <a:spcPts val="0"/>
              </a:spcAft>
              <a:buSzPts val="2800"/>
              <a:buChar char="•"/>
              <a:defRPr sz="2200" b="1">
                <a:solidFill>
                  <a:srgbClr val="024F93"/>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41" name="Google Shape;141;p111"/>
          <p:cNvSpPr txBox="1"/>
          <p:nvPr/>
        </p:nvSpPr>
        <p:spPr>
          <a:xfrm>
            <a:off x="1716761" y="283654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a.</a:t>
            </a:r>
            <a:endParaRPr sz="2000" b="0" i="0" u="none" strike="noStrike" cap="none">
              <a:solidFill>
                <a:srgbClr val="000000"/>
              </a:solidFill>
              <a:latin typeface="Open Sans"/>
              <a:ea typeface="Open Sans"/>
              <a:cs typeface="Open Sans"/>
              <a:sym typeface="Open Sans"/>
            </a:endParaRPr>
          </a:p>
        </p:txBody>
      </p:sp>
      <p:sp>
        <p:nvSpPr>
          <p:cNvPr id="142" name="Google Shape;142;p111"/>
          <p:cNvSpPr txBox="1"/>
          <p:nvPr/>
        </p:nvSpPr>
        <p:spPr>
          <a:xfrm>
            <a:off x="1716761" y="365714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b.</a:t>
            </a:r>
            <a:endParaRPr sz="2000" b="0" i="0" u="none" strike="noStrike" cap="none">
              <a:solidFill>
                <a:srgbClr val="000000"/>
              </a:solidFill>
              <a:latin typeface="Open Sans"/>
              <a:ea typeface="Open Sans"/>
              <a:cs typeface="Open Sans"/>
              <a:sym typeface="Open Sans"/>
            </a:endParaRPr>
          </a:p>
        </p:txBody>
      </p:sp>
      <p:sp>
        <p:nvSpPr>
          <p:cNvPr id="143" name="Google Shape;143;p111"/>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44" name="Google Shape;144;p111"/>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1_quiz content">
  <p:cSld name="2_quiz content 2">
    <p:spTree>
      <p:nvGrpSpPr>
        <p:cNvPr id="1" name="Shape 145"/>
        <p:cNvGrpSpPr/>
        <p:nvPr/>
      </p:nvGrpSpPr>
      <p:grpSpPr>
        <a:xfrm>
          <a:off x="0" y="0"/>
          <a:ext cx="0" cy="0"/>
          <a:chOff x="0" y="0"/>
          <a:chExt cx="0" cy="0"/>
        </a:xfrm>
      </p:grpSpPr>
      <p:pic>
        <p:nvPicPr>
          <p:cNvPr id="146" name="Google Shape;146;p112"/>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47" name="Google Shape;147;p112"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48" name="Google Shape;148;p112"/>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49" name="Google Shape;149;p112"/>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200"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50" name="Google Shape;150;p112"/>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lvl1pPr marL="457200" lvl="0" indent="-406400" algn="l">
              <a:lnSpc>
                <a:spcPct val="90000"/>
              </a:lnSpc>
              <a:spcBef>
                <a:spcPts val="1000"/>
              </a:spcBef>
              <a:spcAft>
                <a:spcPts val="0"/>
              </a:spcAft>
              <a:buSzPts val="2800"/>
              <a:buChar char="•"/>
              <a:defRPr sz="22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51" name="Google Shape;151;p112"/>
          <p:cNvSpPr txBox="1"/>
          <p:nvPr/>
        </p:nvSpPr>
        <p:spPr>
          <a:xfrm>
            <a:off x="1716761" y="283654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a.</a:t>
            </a:r>
            <a:endParaRPr sz="2000" b="0" i="0" u="none" strike="noStrike" cap="none">
              <a:solidFill>
                <a:srgbClr val="000000"/>
              </a:solidFill>
              <a:latin typeface="Open Sans"/>
              <a:ea typeface="Open Sans"/>
              <a:cs typeface="Open Sans"/>
              <a:sym typeface="Open Sans"/>
            </a:endParaRPr>
          </a:p>
        </p:txBody>
      </p:sp>
      <p:sp>
        <p:nvSpPr>
          <p:cNvPr id="152" name="Google Shape;152;p112"/>
          <p:cNvSpPr txBox="1"/>
          <p:nvPr/>
        </p:nvSpPr>
        <p:spPr>
          <a:xfrm>
            <a:off x="1716761" y="365714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b.</a:t>
            </a:r>
            <a:endParaRPr sz="2000" b="0" i="0" u="none" strike="noStrike" cap="none">
              <a:solidFill>
                <a:srgbClr val="000000"/>
              </a:solidFill>
              <a:latin typeface="Open Sans"/>
              <a:ea typeface="Open Sans"/>
              <a:cs typeface="Open Sans"/>
              <a:sym typeface="Open Sans"/>
            </a:endParaRPr>
          </a:p>
        </p:txBody>
      </p:sp>
      <p:sp>
        <p:nvSpPr>
          <p:cNvPr id="153" name="Google Shape;153;p112"/>
          <p:cNvSpPr txBox="1"/>
          <p:nvPr/>
        </p:nvSpPr>
        <p:spPr>
          <a:xfrm>
            <a:off x="1716761" y="447775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c.</a:t>
            </a:r>
            <a:endParaRPr sz="2000" b="0" i="0" u="none" strike="noStrike" cap="none">
              <a:solidFill>
                <a:srgbClr val="000000"/>
              </a:solidFill>
              <a:latin typeface="Open Sans"/>
              <a:ea typeface="Open Sans"/>
              <a:cs typeface="Open Sans"/>
              <a:sym typeface="Open Sans"/>
            </a:endParaRPr>
          </a:p>
        </p:txBody>
      </p:sp>
      <p:sp>
        <p:nvSpPr>
          <p:cNvPr id="154" name="Google Shape;154;p112"/>
          <p:cNvSpPr txBox="1"/>
          <p:nvPr/>
        </p:nvSpPr>
        <p:spPr>
          <a:xfrm>
            <a:off x="1716761" y="529835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d.</a:t>
            </a:r>
            <a:endParaRPr sz="2000" b="0" i="0" u="none" strike="noStrike" cap="none">
              <a:solidFill>
                <a:srgbClr val="000000"/>
              </a:solidFill>
              <a:latin typeface="Open Sans"/>
              <a:ea typeface="Open Sans"/>
              <a:cs typeface="Open Sans"/>
              <a:sym typeface="Open Sans"/>
            </a:endParaRPr>
          </a:p>
        </p:txBody>
      </p:sp>
      <p:sp>
        <p:nvSpPr>
          <p:cNvPr id="155" name="Google Shape;155;p112"/>
          <p:cNvSpPr txBox="1">
            <a:spLocks noGrp="1"/>
          </p:cNvSpPr>
          <p:nvPr>
            <p:ph type="body" idx="3"/>
          </p:nvPr>
        </p:nvSpPr>
        <p:spPr>
          <a:xfrm>
            <a:off x="2329744" y="278841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56" name="Google Shape;156;p112"/>
          <p:cNvSpPr txBox="1">
            <a:spLocks noGrp="1"/>
          </p:cNvSpPr>
          <p:nvPr>
            <p:ph type="body" idx="4"/>
          </p:nvPr>
        </p:nvSpPr>
        <p:spPr>
          <a:xfrm>
            <a:off x="2329744" y="360902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57" name="Google Shape;157;p112"/>
          <p:cNvSpPr txBox="1">
            <a:spLocks noGrp="1"/>
          </p:cNvSpPr>
          <p:nvPr>
            <p:ph type="body" idx="5"/>
          </p:nvPr>
        </p:nvSpPr>
        <p:spPr>
          <a:xfrm>
            <a:off x="2329744" y="442962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58" name="Google Shape;158;p112"/>
          <p:cNvSpPr txBox="1">
            <a:spLocks noGrp="1"/>
          </p:cNvSpPr>
          <p:nvPr>
            <p:ph type="body" idx="6"/>
          </p:nvPr>
        </p:nvSpPr>
        <p:spPr>
          <a:xfrm>
            <a:off x="2329744" y="525023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59" name="Google Shape;159;p112"/>
          <p:cNvSpPr txBox="1"/>
          <p:nvPr/>
        </p:nvSpPr>
        <p:spPr>
          <a:xfrm>
            <a:off x="1716761" y="6167089"/>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e.</a:t>
            </a:r>
            <a:endParaRPr sz="2000" b="0" i="0" u="none" strike="noStrike" cap="none">
              <a:solidFill>
                <a:srgbClr val="000000"/>
              </a:solidFill>
              <a:latin typeface="Open Sans"/>
              <a:ea typeface="Open Sans"/>
              <a:cs typeface="Open Sans"/>
              <a:sym typeface="Open Sans"/>
            </a:endParaRPr>
          </a:p>
        </p:txBody>
      </p:sp>
      <p:sp>
        <p:nvSpPr>
          <p:cNvPr id="160" name="Google Shape;160;p112"/>
          <p:cNvSpPr txBox="1">
            <a:spLocks noGrp="1"/>
          </p:cNvSpPr>
          <p:nvPr>
            <p:ph type="body" idx="7"/>
          </p:nvPr>
        </p:nvSpPr>
        <p:spPr>
          <a:xfrm>
            <a:off x="2329744" y="6118963"/>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1_quiz ans">
  <p:cSld name="2_quiz ans 2">
    <p:spTree>
      <p:nvGrpSpPr>
        <p:cNvPr id="1" name="Shape 161"/>
        <p:cNvGrpSpPr/>
        <p:nvPr/>
      </p:nvGrpSpPr>
      <p:grpSpPr>
        <a:xfrm>
          <a:off x="0" y="0"/>
          <a:ext cx="0" cy="0"/>
          <a:chOff x="0" y="0"/>
          <a:chExt cx="0" cy="0"/>
        </a:xfrm>
      </p:grpSpPr>
      <p:pic>
        <p:nvPicPr>
          <p:cNvPr id="162" name="Google Shape;162;p113"/>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63" name="Google Shape;163;p113"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64" name="Google Shape;164;p113"/>
          <p:cNvSpPr txBox="1"/>
          <p:nvPr/>
        </p:nvSpPr>
        <p:spPr>
          <a:xfrm>
            <a:off x="1280469" y="732325"/>
            <a:ext cx="1698904" cy="46166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000" b="1" i="0" u="none" strike="noStrike" cap="none">
                <a:solidFill>
                  <a:srgbClr val="FFFFFF"/>
                </a:solidFill>
                <a:latin typeface="Open Sans"/>
                <a:ea typeface="Open Sans"/>
                <a:cs typeface="Open Sans"/>
                <a:sym typeface="Open Sans"/>
              </a:rPr>
              <a:t>Knowledge Check</a:t>
            </a:r>
            <a:endParaRPr sz="2000" b="1" i="0" u="none" strike="noStrike" cap="none">
              <a:solidFill>
                <a:srgbClr val="FFFFFF"/>
              </a:solidFill>
              <a:latin typeface="Open Sans"/>
              <a:ea typeface="Open Sans"/>
              <a:cs typeface="Open Sans"/>
              <a:sym typeface="Open Sans"/>
            </a:endParaRPr>
          </a:p>
        </p:txBody>
      </p:sp>
      <p:sp>
        <p:nvSpPr>
          <p:cNvPr id="165" name="Google Shape;165;p113"/>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200" b="1">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66" name="Google Shape;166;p113"/>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lvl1pPr marL="457200" lvl="0" indent="-406400" algn="l">
              <a:lnSpc>
                <a:spcPct val="90000"/>
              </a:lnSpc>
              <a:spcBef>
                <a:spcPts val="1000"/>
              </a:spcBef>
              <a:spcAft>
                <a:spcPts val="0"/>
              </a:spcAft>
              <a:buSzPts val="2800"/>
              <a:buChar char="•"/>
              <a:defRPr sz="22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67" name="Google Shape;167;p113"/>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lvl1pPr marL="457200" lvl="0" indent="-406400" algn="l">
              <a:lnSpc>
                <a:spcPct val="90000"/>
              </a:lnSpc>
              <a:spcBef>
                <a:spcPts val="1000"/>
              </a:spcBef>
              <a:spcAft>
                <a:spcPts val="0"/>
              </a:spcAft>
              <a:buSzPts val="2800"/>
              <a:buChar char="•"/>
              <a:defRPr sz="2000" b="1">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68" name="Google Shape;168;p113"/>
          <p:cNvSpPr txBox="1"/>
          <p:nvPr/>
        </p:nvSpPr>
        <p:spPr>
          <a:xfrm>
            <a:off x="670034" y="7373503"/>
            <a:ext cx="2749059" cy="40011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rgbClr val="3F3F3F"/>
                </a:solidFill>
                <a:latin typeface="Open Sans"/>
                <a:ea typeface="Open Sans"/>
                <a:cs typeface="Open Sans"/>
                <a:sym typeface="Open Sans"/>
              </a:rPr>
              <a:t>The correct answer is</a:t>
            </a:r>
            <a:endParaRPr sz="1400" b="0" i="0" u="none" strike="noStrike" cap="none">
              <a:solidFill>
                <a:srgbClr val="000000"/>
              </a:solidFill>
              <a:latin typeface="Open Sans"/>
              <a:ea typeface="Open Sans"/>
              <a:cs typeface="Open Sans"/>
              <a:sym typeface="Open Sans"/>
            </a:endParaRPr>
          </a:p>
        </p:txBody>
      </p:sp>
      <p:cxnSp>
        <p:nvCxnSpPr>
          <p:cNvPr id="169" name="Google Shape;169;p113"/>
          <p:cNvCxnSpPr/>
          <p:nvPr/>
        </p:nvCxnSpPr>
        <p:spPr>
          <a:xfrm>
            <a:off x="670034" y="7854368"/>
            <a:ext cx="15074462" cy="0"/>
          </a:xfrm>
          <a:prstGeom prst="straightConnector1">
            <a:avLst/>
          </a:prstGeom>
          <a:noFill/>
          <a:ln w="9525" cap="flat" cmpd="sng">
            <a:solidFill>
              <a:schemeClr val="dk1"/>
            </a:solidFill>
            <a:prstDash val="solid"/>
            <a:round/>
            <a:headEnd type="none" w="sm" len="sm"/>
            <a:tailEnd type="none" w="sm" len="sm"/>
          </a:ln>
        </p:spPr>
      </p:cxnSp>
      <p:sp>
        <p:nvSpPr>
          <p:cNvPr id="170" name="Google Shape;170;p113"/>
          <p:cNvSpPr txBox="1">
            <a:spLocks noGrp="1"/>
          </p:cNvSpPr>
          <p:nvPr>
            <p:ph type="body" idx="4"/>
          </p:nvPr>
        </p:nvSpPr>
        <p:spPr>
          <a:xfrm>
            <a:off x="3328590" y="7334926"/>
            <a:ext cx="9022188" cy="400110"/>
          </a:xfrm>
          <a:prstGeom prst="rect">
            <a:avLst/>
          </a:prstGeom>
          <a:noFill/>
          <a:ln>
            <a:noFill/>
          </a:ln>
        </p:spPr>
        <p:txBody>
          <a:bodyPr spcFirstLastPara="1" wrap="square" lIns="91425" tIns="0" rIns="91425" bIns="0" anchor="b" anchorCtr="0">
            <a:noAutofit/>
          </a:bodyPr>
          <a:lstStyle>
            <a:lvl1pPr marL="457200" lvl="0" indent="-406400" algn="l">
              <a:lnSpc>
                <a:spcPct val="90000"/>
              </a:lnSpc>
              <a:spcBef>
                <a:spcPts val="1000"/>
              </a:spcBef>
              <a:spcAft>
                <a:spcPts val="0"/>
              </a:spcAft>
              <a:buSzPts val="2800"/>
              <a:buChar char="•"/>
              <a:defRPr sz="2200" b="1">
                <a:solidFill>
                  <a:srgbClr val="024F93"/>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71" name="Google Shape;171;p113"/>
          <p:cNvSpPr txBox="1"/>
          <p:nvPr/>
        </p:nvSpPr>
        <p:spPr>
          <a:xfrm>
            <a:off x="1716761" y="283654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a.</a:t>
            </a:r>
            <a:endParaRPr sz="2000" b="0" i="0" u="none" strike="noStrike" cap="none">
              <a:solidFill>
                <a:srgbClr val="000000"/>
              </a:solidFill>
              <a:latin typeface="Open Sans"/>
              <a:ea typeface="Open Sans"/>
              <a:cs typeface="Open Sans"/>
              <a:sym typeface="Open Sans"/>
            </a:endParaRPr>
          </a:p>
        </p:txBody>
      </p:sp>
      <p:sp>
        <p:nvSpPr>
          <p:cNvPr id="172" name="Google Shape;172;p113"/>
          <p:cNvSpPr txBox="1"/>
          <p:nvPr/>
        </p:nvSpPr>
        <p:spPr>
          <a:xfrm>
            <a:off x="1716761" y="365714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b.</a:t>
            </a:r>
            <a:endParaRPr sz="2000" b="0" i="0" u="none" strike="noStrike" cap="none">
              <a:solidFill>
                <a:srgbClr val="000000"/>
              </a:solidFill>
              <a:latin typeface="Open Sans"/>
              <a:ea typeface="Open Sans"/>
              <a:cs typeface="Open Sans"/>
              <a:sym typeface="Open Sans"/>
            </a:endParaRPr>
          </a:p>
        </p:txBody>
      </p:sp>
      <p:sp>
        <p:nvSpPr>
          <p:cNvPr id="173" name="Google Shape;173;p113"/>
          <p:cNvSpPr txBox="1"/>
          <p:nvPr/>
        </p:nvSpPr>
        <p:spPr>
          <a:xfrm>
            <a:off x="1716761" y="4477753"/>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c.</a:t>
            </a:r>
            <a:endParaRPr sz="2000" b="0" i="0" u="none" strike="noStrike" cap="none">
              <a:solidFill>
                <a:srgbClr val="000000"/>
              </a:solidFill>
              <a:latin typeface="Open Sans"/>
              <a:ea typeface="Open Sans"/>
              <a:cs typeface="Open Sans"/>
              <a:sym typeface="Open Sans"/>
            </a:endParaRPr>
          </a:p>
        </p:txBody>
      </p:sp>
      <p:sp>
        <p:nvSpPr>
          <p:cNvPr id="174" name="Google Shape;174;p113"/>
          <p:cNvSpPr txBox="1"/>
          <p:nvPr/>
        </p:nvSpPr>
        <p:spPr>
          <a:xfrm>
            <a:off x="1716761" y="5298358"/>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d.</a:t>
            </a:r>
            <a:endParaRPr sz="2000" b="0" i="0" u="none" strike="noStrike" cap="none">
              <a:solidFill>
                <a:srgbClr val="000000"/>
              </a:solidFill>
              <a:latin typeface="Open Sans"/>
              <a:ea typeface="Open Sans"/>
              <a:cs typeface="Open Sans"/>
              <a:sym typeface="Open Sans"/>
            </a:endParaRPr>
          </a:p>
        </p:txBody>
      </p:sp>
      <p:sp>
        <p:nvSpPr>
          <p:cNvPr id="175" name="Google Shape;175;p113"/>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76" name="Google Shape;176;p113"/>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77" name="Google Shape;177;p113"/>
          <p:cNvSpPr txBox="1">
            <a:spLocks noGrp="1"/>
          </p:cNvSpPr>
          <p:nvPr>
            <p:ph type="body" idx="7"/>
          </p:nvPr>
        </p:nvSpPr>
        <p:spPr>
          <a:xfrm>
            <a:off x="2329744" y="4429627"/>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78" name="Google Shape;178;p113"/>
          <p:cNvSpPr txBox="1">
            <a:spLocks noGrp="1"/>
          </p:cNvSpPr>
          <p:nvPr>
            <p:ph type="body" idx="8"/>
          </p:nvPr>
        </p:nvSpPr>
        <p:spPr>
          <a:xfrm>
            <a:off x="2329744" y="5250232"/>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79" name="Google Shape;179;p113"/>
          <p:cNvSpPr txBox="1"/>
          <p:nvPr/>
        </p:nvSpPr>
        <p:spPr>
          <a:xfrm>
            <a:off x="1716761" y="6167089"/>
            <a:ext cx="548640" cy="54864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400"/>
              <a:buFont typeface="Arial"/>
              <a:buNone/>
            </a:pPr>
            <a:r>
              <a:rPr lang="en-US" sz="2000" b="0" i="0" u="none" strike="noStrike" cap="none">
                <a:solidFill>
                  <a:srgbClr val="3F3F3F"/>
                </a:solidFill>
                <a:latin typeface="Open Sans"/>
                <a:ea typeface="Open Sans"/>
                <a:cs typeface="Open Sans"/>
                <a:sym typeface="Open Sans"/>
              </a:rPr>
              <a:t>e.</a:t>
            </a:r>
            <a:endParaRPr sz="2000" b="0" i="0" u="none" strike="noStrike" cap="none">
              <a:solidFill>
                <a:srgbClr val="000000"/>
              </a:solidFill>
              <a:latin typeface="Open Sans"/>
              <a:ea typeface="Open Sans"/>
              <a:cs typeface="Open Sans"/>
              <a:sym typeface="Open Sans"/>
            </a:endParaRPr>
          </a:p>
        </p:txBody>
      </p:sp>
      <p:sp>
        <p:nvSpPr>
          <p:cNvPr id="180" name="Google Shape;180;p113"/>
          <p:cNvSpPr txBox="1">
            <a:spLocks noGrp="1"/>
          </p:cNvSpPr>
          <p:nvPr>
            <p:ph type="body" idx="9"/>
          </p:nvPr>
        </p:nvSpPr>
        <p:spPr>
          <a:xfrm>
            <a:off x="2329744" y="6118963"/>
            <a:ext cx="11250640" cy="701711"/>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0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Unassisted Practice">
  <p:cSld name="Unassisted Practice">
    <p:spTree>
      <p:nvGrpSpPr>
        <p:cNvPr id="1" name="Shape 181"/>
        <p:cNvGrpSpPr/>
        <p:nvPr/>
      </p:nvGrpSpPr>
      <p:grpSpPr>
        <a:xfrm>
          <a:off x="0" y="0"/>
          <a:ext cx="0" cy="0"/>
          <a:chOff x="0" y="0"/>
          <a:chExt cx="0" cy="0"/>
        </a:xfrm>
      </p:grpSpPr>
      <p:pic>
        <p:nvPicPr>
          <p:cNvPr id="182" name="Google Shape;182;p114" descr="A screenshot of a compute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83" name="Google Shape;183;p114"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pic>
        <p:nvPicPr>
          <p:cNvPr id="184" name="Google Shape;184;p114" descr="A close up of a logo&#10;&#10;Description automatically generated"/>
          <p:cNvPicPr preferRelativeResize="0"/>
          <p:nvPr/>
        </p:nvPicPr>
        <p:blipFill rotWithShape="1">
          <a:blip r:embed="rId4">
            <a:alphaModFix/>
          </a:blip>
          <a:srcRect/>
          <a:stretch/>
        </p:blipFill>
        <p:spPr>
          <a:xfrm>
            <a:off x="0" y="0"/>
            <a:ext cx="16256000" cy="9144000"/>
          </a:xfrm>
          <a:prstGeom prst="rect">
            <a:avLst/>
          </a:prstGeom>
          <a:noFill/>
          <a:ln>
            <a:noFill/>
          </a:ln>
        </p:spPr>
      </p:pic>
      <p:sp>
        <p:nvSpPr>
          <p:cNvPr id="185" name="Google Shape;185;p114"/>
          <p:cNvSpPr txBox="1">
            <a:spLocks noGrp="1"/>
          </p:cNvSpPr>
          <p:nvPr>
            <p:ph type="body" idx="1"/>
          </p:nvPr>
        </p:nvSpPr>
        <p:spPr>
          <a:xfrm>
            <a:off x="1902091" y="2363465"/>
            <a:ext cx="12451817"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rgbClr val="3F3F3F"/>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86" name="Google Shape;186;p114"/>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SzPts val="4400"/>
              <a:buNone/>
              <a:defRPr sz="2800" b="1">
                <a:solidFill>
                  <a:schemeClr val="lt1"/>
                </a:solidFill>
                <a:latin typeface="Open Sans"/>
                <a:ea typeface="Open Sans"/>
                <a:cs typeface="Open Sans"/>
                <a:sym typeface="Open Sans"/>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Course-end Project">
  <p:cSld name="Course-end Project">
    <p:spTree>
      <p:nvGrpSpPr>
        <p:cNvPr id="1" name="Shape 187"/>
        <p:cNvGrpSpPr/>
        <p:nvPr/>
      </p:nvGrpSpPr>
      <p:grpSpPr>
        <a:xfrm>
          <a:off x="0" y="0"/>
          <a:ext cx="0" cy="0"/>
          <a:chOff x="0" y="0"/>
          <a:chExt cx="0" cy="0"/>
        </a:xfrm>
      </p:grpSpPr>
      <p:pic>
        <p:nvPicPr>
          <p:cNvPr id="188" name="Google Shape;188;p115"/>
          <p:cNvPicPr preferRelativeResize="0"/>
          <p:nvPr/>
        </p:nvPicPr>
        <p:blipFill rotWithShape="1">
          <a:blip r:embed="rId2">
            <a:alphaModFix/>
          </a:blip>
          <a:srcRect/>
          <a:stretch/>
        </p:blipFill>
        <p:spPr>
          <a:xfrm>
            <a:off x="0" y="0"/>
            <a:ext cx="16256000" cy="9143999"/>
          </a:xfrm>
          <a:prstGeom prst="rect">
            <a:avLst/>
          </a:prstGeom>
          <a:noFill/>
          <a:ln>
            <a:noFill/>
          </a:ln>
        </p:spPr>
      </p:pic>
      <p:pic>
        <p:nvPicPr>
          <p:cNvPr id="189" name="Google Shape;189;p115"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90" name="Google Shape;190;p115"/>
          <p:cNvSpPr/>
          <p:nvPr/>
        </p:nvSpPr>
        <p:spPr>
          <a:xfrm>
            <a:off x="4254500" y="1303972"/>
            <a:ext cx="10896600" cy="6875496"/>
          </a:xfrm>
          <a:prstGeom prst="roundRect">
            <a:avLst>
              <a:gd name="adj" fmla="val 3063"/>
            </a:avLst>
          </a:prstGeom>
          <a:solidFill>
            <a:srgbClr val="000000">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1" name="Google Shape;191;p115"/>
          <p:cNvSpPr txBox="1">
            <a:spLocks noGrp="1"/>
          </p:cNvSpPr>
          <p:nvPr>
            <p:ph type="title"/>
          </p:nvPr>
        </p:nvSpPr>
        <p:spPr>
          <a:xfrm>
            <a:off x="0" y="539514"/>
            <a:ext cx="16256001" cy="665045"/>
          </a:xfrm>
          <a:prstGeom prst="rect">
            <a:avLst/>
          </a:prstGeom>
          <a:noFill/>
          <a:ln>
            <a:noFill/>
          </a:ln>
        </p:spPr>
        <p:txBody>
          <a:bodyPr spcFirstLastPara="1" wrap="square" lIns="91425" tIns="45700" rIns="91425" bIns="45700" anchor="ctr" anchorCtr="0">
            <a:noAutofit/>
          </a:bodyPr>
          <a:lstStyle>
            <a:lvl1pPr marR="0" lvl="0" algn="ctr">
              <a:lnSpc>
                <a:spcPct val="90000"/>
              </a:lnSpc>
              <a:spcBef>
                <a:spcPts val="0"/>
              </a:spcBef>
              <a:spcAft>
                <a:spcPts val="0"/>
              </a:spcAft>
              <a:buClr>
                <a:srgbClr val="3F3F3F"/>
              </a:buClr>
              <a:buSzPts val="3200"/>
              <a:buFont typeface="Open Sans ExtraBold"/>
              <a:buNone/>
              <a:defRPr sz="2800" b="1" i="0" u="none" strike="noStrike" cap="none">
                <a:solidFill>
                  <a:schemeClr val="lt1"/>
                </a:solidFill>
                <a:latin typeface="Open Sans"/>
                <a:ea typeface="Open Sans"/>
                <a:cs typeface="Open Sans"/>
                <a:sym typeface="Open Sans"/>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2" name="Google Shape;192;p115"/>
          <p:cNvSpPr txBox="1">
            <a:spLocks noGrp="1"/>
          </p:cNvSpPr>
          <p:nvPr>
            <p:ph type="body" idx="1"/>
          </p:nvPr>
        </p:nvSpPr>
        <p:spPr>
          <a:xfrm>
            <a:off x="4699001" y="1770191"/>
            <a:ext cx="9956800"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What Next?">
  <p:cSld name="What Next?">
    <p:spTree>
      <p:nvGrpSpPr>
        <p:cNvPr id="1" name="Shape 193"/>
        <p:cNvGrpSpPr/>
        <p:nvPr/>
      </p:nvGrpSpPr>
      <p:grpSpPr>
        <a:xfrm>
          <a:off x="0" y="0"/>
          <a:ext cx="0" cy="0"/>
          <a:chOff x="0" y="0"/>
          <a:chExt cx="0" cy="0"/>
        </a:xfrm>
      </p:grpSpPr>
      <p:pic>
        <p:nvPicPr>
          <p:cNvPr id="194" name="Google Shape;194;p117" descr="A picture containing water, outdoor&#10;&#10;Description automatically generated"/>
          <p:cNvPicPr preferRelativeResize="0"/>
          <p:nvPr/>
        </p:nvPicPr>
        <p:blipFill rotWithShape="1">
          <a:blip r:embed="rId2">
            <a:alphaModFix/>
          </a:blip>
          <a:srcRect/>
          <a:stretch/>
        </p:blipFill>
        <p:spPr>
          <a:xfrm>
            <a:off x="0" y="0"/>
            <a:ext cx="16256000" cy="9144000"/>
          </a:xfrm>
          <a:prstGeom prst="rect">
            <a:avLst/>
          </a:prstGeom>
          <a:noFill/>
          <a:ln>
            <a:noFill/>
          </a:ln>
        </p:spPr>
      </p:pic>
      <p:pic>
        <p:nvPicPr>
          <p:cNvPr id="195" name="Google Shape;195;p117" descr="A close up of a logo&#10;&#10;Description automatically generated"/>
          <p:cNvPicPr preferRelativeResize="0"/>
          <p:nvPr/>
        </p:nvPicPr>
        <p:blipFill rotWithShape="1">
          <a:blip r:embed="rId3">
            <a:alphaModFix/>
          </a:blip>
          <a:srcRect/>
          <a:stretch/>
        </p:blipFill>
        <p:spPr>
          <a:xfrm>
            <a:off x="0" y="0"/>
            <a:ext cx="16256000" cy="9144000"/>
          </a:xfrm>
          <a:prstGeom prst="rect">
            <a:avLst/>
          </a:prstGeom>
          <a:noFill/>
          <a:ln>
            <a:noFill/>
          </a:ln>
        </p:spPr>
      </p:pic>
      <p:sp>
        <p:nvSpPr>
          <p:cNvPr id="196" name="Google Shape;196;p117"/>
          <p:cNvSpPr/>
          <p:nvPr/>
        </p:nvSpPr>
        <p:spPr>
          <a:xfrm>
            <a:off x="663026" y="1342072"/>
            <a:ext cx="9046458" cy="6875496"/>
          </a:xfrm>
          <a:prstGeom prst="roundRect">
            <a:avLst>
              <a:gd name="adj" fmla="val 3063"/>
            </a:avLst>
          </a:prstGeom>
          <a:solidFill>
            <a:srgbClr val="000000">
              <a:alpha val="20000"/>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1400"/>
              <a:buFont typeface="Arial"/>
              <a:buNone/>
            </a:pPr>
            <a:endParaRPr sz="1400" b="0" i="0" u="none" strike="noStrike" cap="none">
              <a:solidFill>
                <a:schemeClr val="lt1"/>
              </a:solidFill>
              <a:latin typeface="Arial"/>
              <a:ea typeface="Arial"/>
              <a:cs typeface="Arial"/>
              <a:sym typeface="Arial"/>
            </a:endParaRPr>
          </a:p>
        </p:txBody>
      </p:sp>
      <p:sp>
        <p:nvSpPr>
          <p:cNvPr id="197" name="Google Shape;197;p117"/>
          <p:cNvSpPr txBox="1">
            <a:spLocks noGrp="1"/>
          </p:cNvSpPr>
          <p:nvPr>
            <p:ph type="body" idx="1"/>
          </p:nvPr>
        </p:nvSpPr>
        <p:spPr>
          <a:xfrm>
            <a:off x="1120875" y="1808291"/>
            <a:ext cx="8092571" cy="5527418"/>
          </a:xfrm>
          <a:prstGeom prst="rect">
            <a:avLst/>
          </a:prstGeom>
          <a:noFill/>
          <a:ln>
            <a:noFill/>
          </a:ln>
        </p:spPr>
        <p:txBody>
          <a:bodyPr spcFirstLastPara="1" wrap="square" lIns="91425" tIns="0" rIns="91425" bIns="0" anchor="t" anchorCtr="0">
            <a:normAutofit/>
          </a:bodyPr>
          <a:lstStyle>
            <a:lvl1pPr marL="457200" lvl="0" indent="-406400" algn="l">
              <a:lnSpc>
                <a:spcPct val="90000"/>
              </a:lnSpc>
              <a:spcBef>
                <a:spcPts val="1000"/>
              </a:spcBef>
              <a:spcAft>
                <a:spcPts val="0"/>
              </a:spcAft>
              <a:buSzPts val="2800"/>
              <a:buChar char="•"/>
              <a:defRPr sz="2200">
                <a:solidFill>
                  <a:schemeClr val="lt1"/>
                </a:solidFill>
                <a:latin typeface="Open Sans"/>
                <a:ea typeface="Open Sans"/>
                <a:cs typeface="Open Sans"/>
                <a:sym typeface="Open Sans"/>
              </a:defRPr>
            </a:lvl1pPr>
            <a:lvl2pPr marL="914400" lvl="1" indent="-381000" algn="l">
              <a:lnSpc>
                <a:spcPct val="90000"/>
              </a:lnSpc>
              <a:spcBef>
                <a:spcPts val="500"/>
              </a:spcBef>
              <a:spcAft>
                <a:spcPts val="0"/>
              </a:spcAft>
              <a:buSzPts val="2400"/>
              <a:buChar char="•"/>
              <a:defRPr/>
            </a:lvl2pPr>
            <a:lvl3pPr marL="1371600" lvl="2" indent="-355600" algn="l">
              <a:lnSpc>
                <a:spcPct val="90000"/>
              </a:lnSpc>
              <a:spcBef>
                <a:spcPts val="500"/>
              </a:spcBef>
              <a:spcAft>
                <a:spcPts val="0"/>
              </a:spcAft>
              <a:buSzPts val="2000"/>
              <a:buChar char="•"/>
              <a:defRPr/>
            </a:lvl3pPr>
            <a:lvl4pPr marL="1828800" lvl="3" indent="-342900" algn="l">
              <a:lnSpc>
                <a:spcPct val="90000"/>
              </a:lnSpc>
              <a:spcBef>
                <a:spcPts val="500"/>
              </a:spcBef>
              <a:spcAft>
                <a:spcPts val="0"/>
              </a:spcAft>
              <a:buSzPts val="1800"/>
              <a:buChar char="•"/>
              <a:defRPr/>
            </a:lvl4pPr>
            <a:lvl5pPr marL="2286000" lvl="4" indent="-342900" algn="l">
              <a:lnSpc>
                <a:spcPct val="90000"/>
              </a:lnSpc>
              <a:spcBef>
                <a:spcPts val="500"/>
              </a:spcBef>
              <a:spcAft>
                <a:spcPts val="0"/>
              </a:spcAft>
              <a:buSzPts val="1800"/>
              <a:buChar char="•"/>
              <a:defRPr/>
            </a:lvl5pPr>
            <a:lvl6pPr marL="2743200" lvl="5" indent="-342900" algn="l">
              <a:lnSpc>
                <a:spcPct val="90000"/>
              </a:lnSpc>
              <a:spcBef>
                <a:spcPts val="500"/>
              </a:spcBef>
              <a:spcAft>
                <a:spcPts val="0"/>
              </a:spcAft>
              <a:buSzPts val="1800"/>
              <a:buChar char="•"/>
              <a:defRPr/>
            </a:lvl6pPr>
            <a:lvl7pPr marL="3200400" lvl="6" indent="-342900" algn="l">
              <a:lnSpc>
                <a:spcPct val="90000"/>
              </a:lnSpc>
              <a:spcBef>
                <a:spcPts val="500"/>
              </a:spcBef>
              <a:spcAft>
                <a:spcPts val="0"/>
              </a:spcAft>
              <a:buSzPts val="1800"/>
              <a:buChar char="•"/>
              <a:defRPr/>
            </a:lvl7pPr>
            <a:lvl8pPr marL="3657600" lvl="7" indent="-342900" algn="l">
              <a:lnSpc>
                <a:spcPct val="90000"/>
              </a:lnSpc>
              <a:spcBef>
                <a:spcPts val="500"/>
              </a:spcBef>
              <a:spcAft>
                <a:spcPts val="0"/>
              </a:spcAft>
              <a:buSzPts val="1800"/>
              <a:buChar char="•"/>
              <a:defRPr/>
            </a:lvl8pPr>
            <a:lvl9pPr marL="4114800" lvl="8" indent="-342900" algn="l">
              <a:lnSpc>
                <a:spcPct val="90000"/>
              </a:lnSpc>
              <a:spcBef>
                <a:spcPts val="500"/>
              </a:spcBef>
              <a:spcAft>
                <a:spcPts val="0"/>
              </a:spcAft>
              <a:buSzPts val="1800"/>
              <a:buChar char="•"/>
              <a:defRPr/>
            </a:lvl9pPr>
          </a:lstStyle>
          <a:p>
            <a:endParaRPr/>
          </a:p>
        </p:txBody>
      </p:sp>
      <p:sp>
        <p:nvSpPr>
          <p:cNvPr id="198" name="Google Shape;198;p117"/>
          <p:cNvSpPr/>
          <p:nvPr/>
        </p:nvSpPr>
        <p:spPr>
          <a:xfrm>
            <a:off x="2464058" y="762715"/>
            <a:ext cx="4819925" cy="430887"/>
          </a:xfrm>
          <a:prstGeom prst="rect">
            <a:avLst/>
          </a:prstGeom>
          <a:noFill/>
          <a:ln>
            <a:noFill/>
          </a:ln>
        </p:spPr>
        <p:txBody>
          <a:bodyPr spcFirstLastPara="1" wrap="square" lIns="91425" tIns="0" rIns="91425" bIns="0" anchor="t" anchorCtr="0">
            <a:spAutoFit/>
          </a:bodyPr>
          <a:lstStyle/>
          <a:p>
            <a:pPr marL="0" marR="0" lvl="0" indent="0" algn="ctr" rtl="0">
              <a:lnSpc>
                <a:spcPct val="100000"/>
              </a:lnSpc>
              <a:spcBef>
                <a:spcPts val="0"/>
              </a:spcBef>
              <a:spcAft>
                <a:spcPts val="0"/>
              </a:spcAft>
              <a:buClr>
                <a:schemeClr val="lt1"/>
              </a:buClr>
              <a:buSzPts val="2800"/>
              <a:buFont typeface="Open Sans"/>
              <a:buNone/>
            </a:pPr>
            <a:r>
              <a:rPr lang="en-US" sz="2800" b="1" i="0" u="none" strike="noStrike" cap="none">
                <a:solidFill>
                  <a:schemeClr val="lt1"/>
                </a:solidFill>
                <a:latin typeface="Open Sans"/>
                <a:ea typeface="Open Sans"/>
                <a:cs typeface="Open Sans"/>
                <a:sym typeface="Open Sans"/>
              </a:rPr>
              <a:t>What Next?</a:t>
            </a:r>
            <a:endParaRPr sz="1800" b="0" i="0" u="none" strike="noStrike" cap="none">
              <a:solidFill>
                <a:schemeClr val="dk1"/>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95"/>
          <p:cNvSpPr txBox="1">
            <a:spLocks noGrp="1"/>
          </p:cNvSpPr>
          <p:nvPr>
            <p:ph type="title"/>
          </p:nvPr>
        </p:nvSpPr>
        <p:spPr>
          <a:xfrm>
            <a:off x="1117600" y="487363"/>
            <a:ext cx="14020801" cy="1766887"/>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95"/>
          <p:cNvSpPr txBox="1">
            <a:spLocks noGrp="1"/>
          </p:cNvSpPr>
          <p:nvPr>
            <p:ph type="body" idx="1"/>
          </p:nvPr>
        </p:nvSpPr>
        <p:spPr>
          <a:xfrm>
            <a:off x="1117600" y="2433638"/>
            <a:ext cx="14020801" cy="5802312"/>
          </a:xfrm>
          <a:prstGeom prst="rect">
            <a:avLst/>
          </a:prstGeom>
          <a:noFill/>
          <a:ln>
            <a:noFill/>
          </a:ln>
        </p:spPr>
        <p:txBody>
          <a:bodyPr spcFirstLastPara="1" wrap="square" lIns="91425" tIns="45700" rIns="91425" bIns="45700" anchor="t" anchorCtr="0">
            <a:no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95"/>
          <p:cNvSpPr txBox="1">
            <a:spLocks noGrp="1"/>
          </p:cNvSpPr>
          <p:nvPr>
            <p:ph type="dt" idx="10"/>
          </p:nvPr>
        </p:nvSpPr>
        <p:spPr>
          <a:xfrm>
            <a:off x="1117600" y="8475663"/>
            <a:ext cx="3657600" cy="48577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95"/>
          <p:cNvSpPr txBox="1">
            <a:spLocks noGrp="1"/>
          </p:cNvSpPr>
          <p:nvPr>
            <p:ph type="ftr" idx="11"/>
          </p:nvPr>
        </p:nvSpPr>
        <p:spPr>
          <a:xfrm>
            <a:off x="5384800" y="8475663"/>
            <a:ext cx="5486400" cy="48577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95"/>
          <p:cNvSpPr txBox="1">
            <a:spLocks noGrp="1"/>
          </p:cNvSpPr>
          <p:nvPr>
            <p:ph type="sldNum" idx="12"/>
          </p:nvPr>
        </p:nvSpPr>
        <p:spPr>
          <a:xfrm>
            <a:off x="11480800" y="8475663"/>
            <a:ext cx="3657600" cy="48577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8.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2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8.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3.xml"/><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62.xml"/><Relationship Id="rId1" Type="http://schemas.openxmlformats.org/officeDocument/2006/relationships/slideLayout" Target="../slideLayouts/slideLayout9.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11.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11.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1.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1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11.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1"/>
          <p:cNvSpPr txBox="1">
            <a:spLocks noGrp="1"/>
          </p:cNvSpPr>
          <p:nvPr>
            <p:ph type="body" idx="1"/>
          </p:nvPr>
        </p:nvSpPr>
        <p:spPr>
          <a:xfrm>
            <a:off x="3075048" y="4114800"/>
            <a:ext cx="6960049"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t>Creating a Hibernate Framework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2" descr="A close up of a logo&#10;&#10;Description automatically generated"/>
          <p:cNvPicPr preferRelativeResize="0"/>
          <p:nvPr/>
        </p:nvPicPr>
        <p:blipFill rotWithShape="1">
          <a:blip r:embed="rId3">
            <a:alphaModFix/>
          </a:blip>
          <a:srcRect/>
          <a:stretch/>
        </p:blipFill>
        <p:spPr>
          <a:xfrm>
            <a:off x="8934800" y="2348375"/>
            <a:ext cx="1663550" cy="2466024"/>
          </a:xfrm>
          <a:prstGeom prst="rect">
            <a:avLst/>
          </a:prstGeom>
          <a:noFill/>
          <a:ln>
            <a:noFill/>
          </a:ln>
        </p:spPr>
      </p:pic>
      <p:sp>
        <p:nvSpPr>
          <p:cNvPr id="210" name="Google Shape;210;p2"/>
          <p:cNvSpPr txBox="1"/>
          <p:nvPr/>
        </p:nvSpPr>
        <p:spPr>
          <a:xfrm>
            <a:off x="2107096" y="2187464"/>
            <a:ext cx="5772288" cy="5031900"/>
          </a:xfrm>
          <a:prstGeom prst="rect">
            <a:avLst/>
          </a:prstGeom>
          <a:noFill/>
          <a:ln>
            <a:noFill/>
          </a:ln>
        </p:spPr>
        <p:txBody>
          <a:bodyPr spcFirstLastPara="1" wrap="square" lIns="91425" tIns="45700" rIns="91425" bIns="45700" anchor="t" anchorCtr="0">
            <a:noAutofit/>
          </a:bodyPr>
          <a:lstStyle/>
          <a:p>
            <a:pPr marL="457200" marR="0" lvl="0" indent="-317500" algn="l" rtl="0">
              <a:lnSpc>
                <a:spcPct val="250000"/>
              </a:lnSpc>
              <a:spcBef>
                <a:spcPts val="0"/>
              </a:spcBef>
              <a:spcAft>
                <a:spcPts val="0"/>
              </a:spcAft>
              <a:buClr>
                <a:schemeClr val="dk1"/>
              </a:buClr>
              <a:buSzPts val="2200"/>
              <a:buFont typeface="Calibri"/>
              <a:buNone/>
            </a:pPr>
            <a:r>
              <a:rPr lang="en-US" sz="2200" b="1" i="0" u="none" strike="noStrike" cap="none" dirty="0">
                <a:solidFill>
                  <a:srgbClr val="3F3F3F"/>
                </a:solidFill>
                <a:latin typeface="Open Sans"/>
                <a:ea typeface="Open Sans"/>
                <a:cs typeface="Open Sans"/>
                <a:sym typeface="Open Sans"/>
              </a:rPr>
              <a:t>Course(s): </a:t>
            </a:r>
            <a:endParaRPr sz="1400" b="0" i="0" u="none" strike="noStrike" cap="none" dirty="0">
              <a:solidFill>
                <a:srgbClr val="000000"/>
              </a:solidFill>
              <a:latin typeface="Arial"/>
              <a:ea typeface="Arial"/>
              <a:cs typeface="Arial"/>
              <a:sym typeface="Arial"/>
            </a:endParaRPr>
          </a:p>
          <a:p>
            <a:pPr marL="482600" marR="0" lvl="0" indent="-203200" algn="l" rtl="0">
              <a:lnSpc>
                <a:spcPct val="150000"/>
              </a:lnSpc>
              <a:spcBef>
                <a:spcPts val="0"/>
              </a:spcBef>
              <a:spcAft>
                <a:spcPts val="0"/>
              </a:spcAft>
              <a:buClr>
                <a:schemeClr val="dk1"/>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139700" marR="0" lvl="0" indent="0" algn="l" rtl="0">
              <a:lnSpc>
                <a:spcPct val="150000"/>
              </a:lnSpc>
              <a:spcBef>
                <a:spcPts val="0"/>
              </a:spcBef>
              <a:spcAft>
                <a:spcPts val="0"/>
              </a:spcAft>
              <a:buClr>
                <a:srgbClr val="000000"/>
              </a:buClr>
              <a:buSzPts val="2200"/>
              <a:buFont typeface="Arial"/>
              <a:buNone/>
            </a:pPr>
            <a:r>
              <a:rPr lang="en-US" sz="2200" b="0" i="0" u="none" strike="noStrike" cap="none" dirty="0">
                <a:solidFill>
                  <a:srgbClr val="3F3F3F"/>
                </a:solidFill>
                <a:latin typeface="Open Sans"/>
                <a:ea typeface="Open Sans"/>
                <a:cs typeface="Open Sans"/>
                <a:sym typeface="Open Sans"/>
              </a:rPr>
              <a:t>Java Certification Training Course</a:t>
            </a:r>
            <a:endParaRPr sz="1400" b="0" i="0" u="none" strike="noStrike" cap="none" dirty="0">
              <a:solidFill>
                <a:srgbClr val="000000"/>
              </a:solidFill>
              <a:latin typeface="Arial"/>
              <a:ea typeface="Arial"/>
              <a:cs typeface="Arial"/>
              <a:sym typeface="Arial"/>
            </a:endParaRPr>
          </a:p>
          <a:p>
            <a:pPr marL="482600" marR="0" lvl="5" indent="-203200" algn="l" rtl="0">
              <a:lnSpc>
                <a:spcPct val="150000"/>
              </a:lnSpc>
              <a:spcBef>
                <a:spcPts val="0"/>
              </a:spcBef>
              <a:spcAft>
                <a:spcPts val="0"/>
              </a:spcAft>
              <a:buClr>
                <a:schemeClr val="dk1"/>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139700" marR="0" lvl="0" indent="0" algn="l" rtl="0">
              <a:lnSpc>
                <a:spcPct val="250000"/>
              </a:lnSpc>
              <a:spcBef>
                <a:spcPts val="0"/>
              </a:spcBef>
              <a:spcAft>
                <a:spcPts val="0"/>
              </a:spcAft>
              <a:buClr>
                <a:srgbClr val="000000"/>
              </a:buClr>
              <a:buSzPts val="2200"/>
              <a:buFont typeface="Arial"/>
              <a:buNone/>
            </a:pPr>
            <a:endParaRPr sz="2200" b="0" i="0" u="none" strike="noStrike" cap="none" dirty="0">
              <a:solidFill>
                <a:srgbClr val="3F3F3F"/>
              </a:solidFill>
              <a:latin typeface="Open Sans"/>
              <a:ea typeface="Open Sans"/>
              <a:cs typeface="Open Sans"/>
              <a:sym typeface="Open Sans"/>
            </a:endParaRPr>
          </a:p>
          <a:p>
            <a:pPr marL="457200" marR="0" lvl="0" indent="-317500" algn="l" rtl="0">
              <a:lnSpc>
                <a:spcPct val="250000"/>
              </a:lnSpc>
              <a:spcBef>
                <a:spcPts val="0"/>
              </a:spcBef>
              <a:spcAft>
                <a:spcPts val="0"/>
              </a:spcAft>
              <a:buClr>
                <a:schemeClr val="dk1"/>
              </a:buClr>
              <a:buSzPts val="2200"/>
              <a:buFont typeface="Calibri"/>
              <a:buNone/>
            </a:pPr>
            <a:endParaRPr sz="2200" b="0" i="0" u="none" strike="noStrike" cap="none" dirty="0">
              <a:solidFill>
                <a:srgbClr val="3F3F3F"/>
              </a:solidFill>
              <a:latin typeface="Open Sans"/>
              <a:ea typeface="Open Sans"/>
              <a:cs typeface="Open Sans"/>
              <a:sym typeface="Open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15"/>
        <p:cNvGrpSpPr/>
        <p:nvPr/>
      </p:nvGrpSpPr>
      <p:grpSpPr>
        <a:xfrm>
          <a:off x="0" y="0"/>
          <a:ext cx="0" cy="0"/>
          <a:chOff x="0" y="0"/>
          <a:chExt cx="0" cy="0"/>
        </a:xfrm>
      </p:grpSpPr>
      <p:sp>
        <p:nvSpPr>
          <p:cNvPr id="216" name="Google Shape;216;g771170f5ba_0_0"/>
          <p:cNvSpPr txBox="1"/>
          <p:nvPr/>
        </p:nvSpPr>
        <p:spPr>
          <a:xfrm>
            <a:off x="1449553" y="2458940"/>
            <a:ext cx="4362900" cy="956100"/>
          </a:xfrm>
          <a:prstGeom prst="rect">
            <a:avLst/>
          </a:prstGeom>
          <a:noFill/>
          <a:ln>
            <a:noFill/>
          </a:ln>
        </p:spPr>
        <p:txBody>
          <a:bodyPr spcFirstLastPara="1" wrap="square" lIns="91425" tIns="45700" rIns="91425" bIns="45700" anchor="t" anchorCtr="0">
            <a:noAutofit/>
          </a:bodyPr>
          <a:lstStyle/>
          <a:p>
            <a:pPr marL="457200" lvl="0" indent="-368300" algn="l" rtl="0">
              <a:spcBef>
                <a:spcPts val="0"/>
              </a:spcBef>
              <a:spcAft>
                <a:spcPts val="0"/>
              </a:spcAft>
              <a:buClr>
                <a:schemeClr val="dk1"/>
              </a:buClr>
              <a:buSzPts val="2200"/>
              <a:buChar char="-"/>
            </a:pPr>
            <a:r>
              <a:rPr lang="en-US" sz="2200">
                <a:solidFill>
                  <a:srgbClr val="3F3F3F"/>
                </a:solidFill>
                <a:latin typeface="Open Sans"/>
                <a:ea typeface="Open Sans"/>
                <a:cs typeface="Open Sans"/>
                <a:sym typeface="Open Sans"/>
              </a:rPr>
              <a:t>Hibernate features</a:t>
            </a:r>
            <a:endParaRPr>
              <a:solidFill>
                <a:schemeClr val="dk1"/>
              </a:solidFill>
            </a:endParaRPr>
          </a:p>
          <a:p>
            <a:pPr marL="457200" lvl="0" indent="-368300" algn="l" rtl="0">
              <a:spcBef>
                <a:spcPts val="0"/>
              </a:spcBef>
              <a:spcAft>
                <a:spcPts val="0"/>
              </a:spcAft>
              <a:buClr>
                <a:schemeClr val="dk1"/>
              </a:buClr>
              <a:buSzPts val="2200"/>
              <a:buChar char="-"/>
            </a:pPr>
            <a:r>
              <a:rPr lang="en-US" sz="2200">
                <a:solidFill>
                  <a:srgbClr val="3F3F3F"/>
                </a:solidFill>
                <a:latin typeface="Open Sans"/>
                <a:ea typeface="Open Sans"/>
                <a:cs typeface="Open Sans"/>
                <a:sym typeface="Open Sans"/>
              </a:rPr>
              <a:t>Hibernate architecture</a:t>
            </a:r>
            <a:endParaRPr sz="2200">
              <a:solidFill>
                <a:srgbClr val="3F3F3F"/>
              </a:solidFill>
              <a:latin typeface="Open Sans"/>
              <a:ea typeface="Open Sans"/>
              <a:cs typeface="Open Sans"/>
              <a:sym typeface="Open Sans"/>
            </a:endParaRPr>
          </a:p>
        </p:txBody>
      </p:sp>
      <p:sp>
        <p:nvSpPr>
          <p:cNvPr id="217" name="Google Shape;217;g771170f5ba_0_0"/>
          <p:cNvSpPr/>
          <p:nvPr/>
        </p:nvSpPr>
        <p:spPr>
          <a:xfrm>
            <a:off x="1241437" y="2001740"/>
            <a:ext cx="9144000" cy="457200"/>
          </a:xfrm>
          <a:prstGeom prst="roundRect">
            <a:avLst>
              <a:gd name="adj" fmla="val 16667"/>
            </a:avLst>
          </a:prstGeom>
          <a:noFill/>
          <a:ln>
            <a:noFill/>
          </a:ln>
        </p:spPr>
        <p:txBody>
          <a:bodyPr spcFirstLastPara="1" wrap="square" lIns="91425" tIns="45700" rIns="91425" bIns="45700" anchor="ctr" anchorCtr="0">
            <a:noAutofit/>
          </a:bodyPr>
          <a:lstStyle/>
          <a:p>
            <a:pPr marL="457200" lvl="0" indent="-368300" algn="l" rtl="0">
              <a:spcBef>
                <a:spcPts val="0"/>
              </a:spcBef>
              <a:spcAft>
                <a:spcPts val="0"/>
              </a:spcAft>
              <a:buSzPts val="2200"/>
              <a:buChar char="•"/>
            </a:pPr>
            <a:r>
              <a:rPr lang="en-US" sz="2200">
                <a:solidFill>
                  <a:srgbClr val="434343"/>
                </a:solidFill>
                <a:latin typeface="Open Sans"/>
                <a:ea typeface="Open Sans"/>
                <a:cs typeface="Open Sans"/>
                <a:sym typeface="Open Sans"/>
              </a:rPr>
              <a:t>Explain Hibernate</a:t>
            </a:r>
            <a:endParaRPr sz="2200">
              <a:solidFill>
                <a:srgbClr val="434343"/>
              </a:solidFill>
              <a:latin typeface="Open Sans"/>
              <a:ea typeface="Open Sans"/>
              <a:cs typeface="Open Sans"/>
              <a:sym typeface="Open Sans"/>
            </a:endParaRPr>
          </a:p>
        </p:txBody>
      </p:sp>
      <p:sp>
        <p:nvSpPr>
          <p:cNvPr id="218" name="Google Shape;218;g771170f5ba_0_0"/>
          <p:cNvSpPr txBox="1"/>
          <p:nvPr/>
        </p:nvSpPr>
        <p:spPr>
          <a:xfrm>
            <a:off x="1449550" y="4370775"/>
            <a:ext cx="5385300" cy="1107300"/>
          </a:xfrm>
          <a:prstGeom prst="rect">
            <a:avLst/>
          </a:prstGeom>
          <a:noFill/>
          <a:ln>
            <a:noFill/>
          </a:ln>
        </p:spPr>
        <p:txBody>
          <a:bodyPr spcFirstLastPara="1" wrap="square" lIns="91425" tIns="45700" rIns="91425" bIns="45700" anchor="t" anchorCtr="0">
            <a:noAutofit/>
          </a:bodyPr>
          <a:lstStyle/>
          <a:p>
            <a:pPr marL="457200" lvl="0" indent="-368300" algn="l" rtl="0">
              <a:spcBef>
                <a:spcPts val="0"/>
              </a:spcBef>
              <a:spcAft>
                <a:spcPts val="0"/>
              </a:spcAft>
              <a:buClr>
                <a:schemeClr val="dk1"/>
              </a:buClr>
              <a:buSzPts val="2200"/>
              <a:buChar char="-"/>
            </a:pPr>
            <a:r>
              <a:rPr lang="en-US" sz="2200">
                <a:solidFill>
                  <a:srgbClr val="3F3F3F"/>
                </a:solidFill>
                <a:latin typeface="Open Sans"/>
                <a:ea typeface="Open Sans"/>
                <a:cs typeface="Open Sans"/>
                <a:sym typeface="Open Sans"/>
              </a:rPr>
              <a:t>CRUD operations</a:t>
            </a:r>
            <a:endParaRPr sz="2200">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2200">
              <a:solidFill>
                <a:srgbClr val="3F3F3F"/>
              </a:solidFill>
              <a:latin typeface="Open Sans"/>
              <a:ea typeface="Open Sans"/>
              <a:cs typeface="Open Sans"/>
              <a:sym typeface="Open Sans"/>
            </a:endParaRPr>
          </a:p>
        </p:txBody>
      </p:sp>
      <p:sp>
        <p:nvSpPr>
          <p:cNvPr id="219" name="Google Shape;219;g771170f5ba_0_0"/>
          <p:cNvSpPr/>
          <p:nvPr/>
        </p:nvSpPr>
        <p:spPr>
          <a:xfrm>
            <a:off x="1241414" y="3862948"/>
            <a:ext cx="9144000" cy="457200"/>
          </a:xfrm>
          <a:prstGeom prst="roundRect">
            <a:avLst>
              <a:gd name="adj" fmla="val 16667"/>
            </a:avLst>
          </a:prstGeom>
          <a:noFill/>
          <a:ln>
            <a:noFill/>
          </a:ln>
        </p:spPr>
        <p:txBody>
          <a:bodyPr spcFirstLastPara="1" wrap="square" lIns="91425" tIns="45700" rIns="91425" bIns="45700" anchor="ctr" anchorCtr="0">
            <a:noAutofit/>
          </a:bodyPr>
          <a:lstStyle/>
          <a:p>
            <a:pPr marL="457200" lvl="0" indent="-368300" algn="l" rtl="0">
              <a:spcBef>
                <a:spcPts val="0"/>
              </a:spcBef>
              <a:spcAft>
                <a:spcPts val="0"/>
              </a:spcAft>
              <a:buSzPts val="2200"/>
              <a:buChar char="•"/>
            </a:pPr>
            <a:r>
              <a:rPr lang="en-US" sz="2200">
                <a:solidFill>
                  <a:srgbClr val="434343"/>
                </a:solidFill>
                <a:latin typeface="Open Sans"/>
                <a:ea typeface="Open Sans"/>
                <a:cs typeface="Open Sans"/>
                <a:sym typeface="Open Sans"/>
              </a:rPr>
              <a:t>Demonstrate CRUD operations</a:t>
            </a:r>
            <a:endParaRPr sz="2200">
              <a:solidFill>
                <a:srgbClr val="434343"/>
              </a:solidFill>
              <a:latin typeface="Open Sans"/>
              <a:ea typeface="Open Sans"/>
              <a:cs typeface="Open Sans"/>
              <a:sym typeface="Open Sans"/>
            </a:endParaRPr>
          </a:p>
        </p:txBody>
      </p:sp>
      <p:sp>
        <p:nvSpPr>
          <p:cNvPr id="220" name="Google Shape;220;g771170f5ba_0_0"/>
          <p:cNvSpPr txBox="1"/>
          <p:nvPr/>
        </p:nvSpPr>
        <p:spPr>
          <a:xfrm>
            <a:off x="1538171" y="5885350"/>
            <a:ext cx="5862300" cy="956100"/>
          </a:xfrm>
          <a:prstGeom prst="rect">
            <a:avLst/>
          </a:prstGeom>
          <a:noFill/>
          <a:ln>
            <a:noFill/>
          </a:ln>
        </p:spPr>
        <p:txBody>
          <a:bodyPr spcFirstLastPara="1" wrap="square" lIns="91425" tIns="45700" rIns="91425" bIns="45700" anchor="t" anchorCtr="0">
            <a:noAutofit/>
          </a:bodyPr>
          <a:lstStyle/>
          <a:p>
            <a:pPr marL="457200" lvl="0" indent="-368300" algn="l" rtl="0">
              <a:spcBef>
                <a:spcPts val="0"/>
              </a:spcBef>
              <a:spcAft>
                <a:spcPts val="0"/>
              </a:spcAft>
              <a:buClr>
                <a:schemeClr val="dk1"/>
              </a:buClr>
              <a:buSzPts val="2200"/>
              <a:buChar char="-"/>
            </a:pPr>
            <a:r>
              <a:rPr lang="en-US" sz="2200">
                <a:solidFill>
                  <a:srgbClr val="3F3F3F"/>
                </a:solidFill>
                <a:latin typeface="Open Sans"/>
                <a:ea typeface="Open Sans"/>
                <a:cs typeface="Open Sans"/>
                <a:sym typeface="Open Sans"/>
              </a:rPr>
              <a:t>HQL</a:t>
            </a:r>
            <a:endParaRPr sz="2200">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None/>
            </a:pPr>
            <a:endParaRPr sz="2200">
              <a:solidFill>
                <a:srgbClr val="3F3F3F"/>
              </a:solidFill>
              <a:latin typeface="Open Sans"/>
              <a:ea typeface="Open Sans"/>
              <a:cs typeface="Open Sans"/>
              <a:sym typeface="Open Sans"/>
            </a:endParaRPr>
          </a:p>
        </p:txBody>
      </p:sp>
      <p:sp>
        <p:nvSpPr>
          <p:cNvPr id="221" name="Google Shape;221;g771170f5ba_0_0"/>
          <p:cNvSpPr/>
          <p:nvPr/>
        </p:nvSpPr>
        <p:spPr>
          <a:xfrm>
            <a:off x="1201902" y="5338277"/>
            <a:ext cx="9144000" cy="457200"/>
          </a:xfrm>
          <a:prstGeom prst="roundRect">
            <a:avLst>
              <a:gd name="adj" fmla="val 16667"/>
            </a:avLst>
          </a:prstGeom>
          <a:noFill/>
          <a:ln>
            <a:noFill/>
          </a:ln>
        </p:spPr>
        <p:txBody>
          <a:bodyPr spcFirstLastPara="1" wrap="square" lIns="91425" tIns="45700" rIns="91425" bIns="45700" anchor="ctr" anchorCtr="0">
            <a:noAutofit/>
          </a:bodyPr>
          <a:lstStyle/>
          <a:p>
            <a:pPr marL="457200" lvl="0" indent="-368300" algn="l" rtl="0">
              <a:spcBef>
                <a:spcPts val="0"/>
              </a:spcBef>
              <a:spcAft>
                <a:spcPts val="0"/>
              </a:spcAft>
              <a:buClr>
                <a:srgbClr val="434343"/>
              </a:buClr>
              <a:buSzPts val="2200"/>
              <a:buChar char="•"/>
            </a:pPr>
            <a:r>
              <a:rPr lang="en-US" sz="2200">
                <a:solidFill>
                  <a:srgbClr val="434343"/>
                </a:solidFill>
                <a:latin typeface="Open Sans"/>
                <a:ea typeface="Open Sans"/>
                <a:cs typeface="Open Sans"/>
                <a:sym typeface="Open Sans"/>
              </a:rPr>
              <a:t>Use Hibernate queries and relationships</a:t>
            </a:r>
            <a:endParaRPr sz="2200">
              <a:solidFill>
                <a:srgbClr val="434343"/>
              </a:solidFill>
              <a:latin typeface="Open Sans"/>
              <a:ea typeface="Open Sans"/>
              <a:cs typeface="Open Sans"/>
              <a:sym typeface="Open Sans"/>
            </a:endParaRPr>
          </a:p>
        </p:txBody>
      </p:sp>
      <p:sp>
        <p:nvSpPr>
          <p:cNvPr id="222" name="Google Shape;222;g771170f5ba_0_0"/>
          <p:cNvSpPr txBox="1"/>
          <p:nvPr/>
        </p:nvSpPr>
        <p:spPr>
          <a:xfrm>
            <a:off x="1538171" y="7333150"/>
            <a:ext cx="5862300" cy="956100"/>
          </a:xfrm>
          <a:prstGeom prst="rect">
            <a:avLst/>
          </a:prstGeom>
          <a:noFill/>
          <a:ln>
            <a:noFill/>
          </a:ln>
        </p:spPr>
        <p:txBody>
          <a:bodyPr spcFirstLastPara="1" wrap="square" lIns="91425" tIns="45700" rIns="91425" bIns="45700" anchor="t" anchorCtr="0">
            <a:noAutofit/>
          </a:bodyPr>
          <a:lstStyle/>
          <a:p>
            <a:pPr marL="457200" lvl="0" indent="-368300" algn="l" rtl="0">
              <a:spcBef>
                <a:spcPts val="0"/>
              </a:spcBef>
              <a:spcAft>
                <a:spcPts val="0"/>
              </a:spcAft>
              <a:buClr>
                <a:schemeClr val="dk1"/>
              </a:buClr>
              <a:buSzPts val="2200"/>
              <a:buChar char="-"/>
            </a:pPr>
            <a:r>
              <a:rPr lang="en-US" sz="2200">
                <a:solidFill>
                  <a:srgbClr val="3F3F3F"/>
                </a:solidFill>
                <a:latin typeface="Open Sans"/>
                <a:ea typeface="Open Sans"/>
                <a:cs typeface="Open Sans"/>
                <a:sym typeface="Open Sans"/>
              </a:rPr>
              <a:t>Hibernate mapping using XML file</a:t>
            </a:r>
            <a:endParaRPr>
              <a:solidFill>
                <a:schemeClr val="dk1"/>
              </a:solidFill>
            </a:endParaRPr>
          </a:p>
          <a:p>
            <a:pPr marL="457200" lvl="0" indent="-368300" algn="l" rtl="0">
              <a:spcBef>
                <a:spcPts val="0"/>
              </a:spcBef>
              <a:spcAft>
                <a:spcPts val="0"/>
              </a:spcAft>
              <a:buClr>
                <a:schemeClr val="dk1"/>
              </a:buClr>
              <a:buSzPts val="2200"/>
              <a:buChar char="-"/>
            </a:pPr>
            <a:r>
              <a:rPr lang="en-US" sz="2200">
                <a:solidFill>
                  <a:srgbClr val="3F3F3F"/>
                </a:solidFill>
                <a:latin typeface="Open Sans"/>
                <a:ea typeface="Open Sans"/>
                <a:cs typeface="Open Sans"/>
                <a:sym typeface="Open Sans"/>
              </a:rPr>
              <a:t>Hibernate mapping using Annotations</a:t>
            </a:r>
            <a:endParaRPr sz="2200">
              <a:solidFill>
                <a:srgbClr val="3F3F3F"/>
              </a:solidFill>
              <a:latin typeface="Open Sans"/>
              <a:ea typeface="Open Sans"/>
              <a:cs typeface="Open Sans"/>
              <a:sym typeface="Open Sans"/>
            </a:endParaRPr>
          </a:p>
        </p:txBody>
      </p:sp>
      <p:sp>
        <p:nvSpPr>
          <p:cNvPr id="223" name="Google Shape;223;g771170f5ba_0_0"/>
          <p:cNvSpPr/>
          <p:nvPr/>
        </p:nvSpPr>
        <p:spPr>
          <a:xfrm>
            <a:off x="1201902" y="6786077"/>
            <a:ext cx="9144000" cy="457200"/>
          </a:xfrm>
          <a:prstGeom prst="roundRect">
            <a:avLst>
              <a:gd name="adj" fmla="val 16667"/>
            </a:avLst>
          </a:prstGeom>
          <a:noFill/>
          <a:ln>
            <a:noFill/>
          </a:ln>
        </p:spPr>
        <p:txBody>
          <a:bodyPr spcFirstLastPara="1" wrap="square" lIns="91425" tIns="45700" rIns="91425" bIns="45700" anchor="ctr" anchorCtr="0">
            <a:noAutofit/>
          </a:bodyPr>
          <a:lstStyle/>
          <a:p>
            <a:pPr marL="457200" lvl="0" indent="-368300" algn="l" rtl="0">
              <a:spcBef>
                <a:spcPts val="0"/>
              </a:spcBef>
              <a:spcAft>
                <a:spcPts val="0"/>
              </a:spcAft>
              <a:buClr>
                <a:srgbClr val="434343"/>
              </a:buClr>
              <a:buSzPts val="2200"/>
              <a:buChar char="•"/>
            </a:pPr>
            <a:r>
              <a:rPr lang="en-US" sz="2200">
                <a:solidFill>
                  <a:srgbClr val="434343"/>
                </a:solidFill>
                <a:latin typeface="Open Sans"/>
                <a:ea typeface="Open Sans"/>
                <a:cs typeface="Open Sans"/>
                <a:sym typeface="Open Sans"/>
              </a:rPr>
              <a:t>Demonstrate Hibernate mapping</a:t>
            </a:r>
            <a:endParaRPr sz="2200">
              <a:solidFill>
                <a:srgbClr val="434343"/>
              </a:solidFill>
              <a:latin typeface="Open Sans"/>
              <a:ea typeface="Open Sans"/>
              <a:cs typeface="Open Sans"/>
              <a:sym typeface="Open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4"/>
          <p:cNvSpPr txBox="1">
            <a:spLocks noGrp="1"/>
          </p:cNvSpPr>
          <p:nvPr>
            <p:ph type="body" idx="1"/>
          </p:nvPr>
        </p:nvSpPr>
        <p:spPr>
          <a:xfrm>
            <a:off x="1453243" y="1808291"/>
            <a:ext cx="9405257" cy="5527418"/>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F3F3F"/>
                </a:solidFill>
                <a:latin typeface="Open Sans"/>
                <a:ea typeface="Open Sans"/>
                <a:cs typeface="Open Sans"/>
                <a:sym typeface="Open Sans"/>
              </a:rPr>
              <a:t>As the new e-commerce product is the company’s priority, Joe is again added to another sprint. This sprint focuses majorly on creating a database for the new e-commerce website. </a:t>
            </a:r>
            <a:endParaRPr/>
          </a:p>
          <a:p>
            <a:pPr marL="457200" lvl="0" indent="-228600" algn="just" rtl="0">
              <a:lnSpc>
                <a:spcPct val="90000"/>
              </a:lnSpc>
              <a:spcBef>
                <a:spcPts val="1000"/>
              </a:spcBef>
              <a:spcAft>
                <a:spcPts val="0"/>
              </a:spcAft>
              <a:buSzPts val="2800"/>
              <a:buNone/>
            </a:pPr>
            <a:endParaRPr>
              <a:solidFill>
                <a:srgbClr val="3F3F3F"/>
              </a:solidFill>
              <a:latin typeface="Open Sans"/>
              <a:ea typeface="Open Sans"/>
              <a:cs typeface="Open Sans"/>
              <a:sym typeface="Open Sans"/>
            </a:endParaRPr>
          </a:p>
          <a:p>
            <a:pPr marL="50800" lvl="0" indent="0" algn="just" rtl="0">
              <a:lnSpc>
                <a:spcPct val="90000"/>
              </a:lnSpc>
              <a:spcBef>
                <a:spcPts val="1000"/>
              </a:spcBef>
              <a:spcAft>
                <a:spcPts val="0"/>
              </a:spcAft>
              <a:buSzPts val="2800"/>
              <a:buNone/>
            </a:pPr>
            <a:r>
              <a:rPr lang="en-US">
                <a:solidFill>
                  <a:srgbClr val="3F3F3F"/>
                </a:solidFill>
                <a:latin typeface="Open Sans"/>
                <a:ea typeface="Open Sans"/>
                <a:cs typeface="Open Sans"/>
                <a:sym typeface="Open Sans"/>
              </a:rPr>
              <a:t>So to enhance the performance of the website, Joe is working on database creation. He has to develop a form where the user can enter the product details, and the validated details are stored in the database. </a:t>
            </a:r>
            <a:endParaRPr/>
          </a:p>
          <a:p>
            <a:pPr marL="457200" lvl="0" indent="-228600" algn="just" rtl="0">
              <a:lnSpc>
                <a:spcPct val="90000"/>
              </a:lnSpc>
              <a:spcBef>
                <a:spcPts val="1000"/>
              </a:spcBef>
              <a:spcAft>
                <a:spcPts val="0"/>
              </a:spcAft>
              <a:buSzPts val="2800"/>
              <a:buNone/>
            </a:pPr>
            <a:endParaRPr>
              <a:solidFill>
                <a:srgbClr val="3F3F3F"/>
              </a:solidFill>
              <a:latin typeface="Open Sans"/>
              <a:ea typeface="Open Sans"/>
              <a:cs typeface="Open Sans"/>
              <a:sym typeface="Open Sans"/>
            </a:endParaRPr>
          </a:p>
          <a:p>
            <a:pPr marL="50800" lvl="0" indent="0" algn="just" rtl="0">
              <a:lnSpc>
                <a:spcPct val="90000"/>
              </a:lnSpc>
              <a:spcBef>
                <a:spcPts val="1000"/>
              </a:spcBef>
              <a:spcAft>
                <a:spcPts val="0"/>
              </a:spcAft>
              <a:buSzPts val="2800"/>
              <a:buNone/>
            </a:pPr>
            <a:r>
              <a:rPr lang="en-US">
                <a:solidFill>
                  <a:srgbClr val="3F3F3F"/>
                </a:solidFill>
                <a:latin typeface="Open Sans"/>
                <a:ea typeface="Open Sans"/>
                <a:cs typeface="Open Sans"/>
                <a:sym typeface="Open Sans"/>
              </a:rPr>
              <a:t>In this lesson, we will learn how to solve this real-world scenario to help Joe complete his task effectively and quickly.</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5"/>
          <p:cNvSpPr txBox="1"/>
          <p:nvPr/>
        </p:nvSpPr>
        <p:spPr>
          <a:xfrm>
            <a:off x="866690" y="1858452"/>
            <a:ext cx="8946900" cy="5862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By the end of this lesson, you will be able to:</a:t>
            </a:r>
            <a:endParaRPr sz="1800" b="0" i="0" u="none" strike="noStrike" cap="none">
              <a:solidFill>
                <a:srgbClr val="3F3F3F"/>
              </a:solidFill>
              <a:latin typeface="Open Sans"/>
              <a:ea typeface="Open Sans"/>
              <a:cs typeface="Open Sans"/>
              <a:sym typeface="Open Sans"/>
            </a:endParaRPr>
          </a:p>
        </p:txBody>
      </p:sp>
      <p:sp>
        <p:nvSpPr>
          <p:cNvPr id="235" name="Google Shape;235;p5"/>
          <p:cNvSpPr txBox="1">
            <a:spLocks noGrp="1"/>
          </p:cNvSpPr>
          <p:nvPr>
            <p:ph type="body" idx="1"/>
          </p:nvPr>
        </p:nvSpPr>
        <p:spPr>
          <a:xfrm>
            <a:off x="1453747" y="2640797"/>
            <a:ext cx="8229600" cy="497258"/>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2800"/>
              <a:buNone/>
            </a:pPr>
            <a:r>
              <a:rPr lang="en-US">
                <a:solidFill>
                  <a:srgbClr val="3F3F3F"/>
                </a:solidFill>
                <a:latin typeface="Open Sans"/>
                <a:ea typeface="Open Sans"/>
                <a:cs typeface="Open Sans"/>
                <a:sym typeface="Open Sans"/>
              </a:rPr>
              <a:t>Explain Hibernate features and architecture </a:t>
            </a:r>
            <a:endParaRPr>
              <a:solidFill>
                <a:srgbClr val="3F3F3F"/>
              </a:solidFill>
              <a:latin typeface="Open Sans"/>
              <a:ea typeface="Open Sans"/>
              <a:cs typeface="Open Sans"/>
              <a:sym typeface="Open Sans"/>
            </a:endParaRPr>
          </a:p>
        </p:txBody>
      </p:sp>
      <p:sp>
        <p:nvSpPr>
          <p:cNvPr id="236" name="Google Shape;236;p5"/>
          <p:cNvSpPr txBox="1">
            <a:spLocks noGrp="1"/>
          </p:cNvSpPr>
          <p:nvPr>
            <p:ph type="body" idx="2"/>
          </p:nvPr>
        </p:nvSpPr>
        <p:spPr>
          <a:xfrm>
            <a:off x="1453747" y="3355235"/>
            <a:ext cx="8229600" cy="54864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2800"/>
              <a:buNone/>
            </a:pPr>
            <a:r>
              <a:rPr lang="en-US">
                <a:solidFill>
                  <a:srgbClr val="3F3F3F"/>
                </a:solidFill>
                <a:latin typeface="Open Sans"/>
                <a:ea typeface="Open Sans"/>
                <a:cs typeface="Open Sans"/>
                <a:sym typeface="Open Sans"/>
              </a:rPr>
              <a:t>List the technologies and databases supported by Hibernate</a:t>
            </a:r>
            <a:endParaRPr>
              <a:solidFill>
                <a:srgbClr val="3F3F3F"/>
              </a:solidFill>
              <a:latin typeface="Open Sans"/>
              <a:ea typeface="Open Sans"/>
              <a:cs typeface="Open Sans"/>
              <a:sym typeface="Open Sans"/>
            </a:endParaRPr>
          </a:p>
        </p:txBody>
      </p:sp>
      <p:sp>
        <p:nvSpPr>
          <p:cNvPr id="237" name="Google Shape;237;p5"/>
          <p:cNvSpPr txBox="1">
            <a:spLocks noGrp="1"/>
          </p:cNvSpPr>
          <p:nvPr>
            <p:ph type="body" idx="3"/>
          </p:nvPr>
        </p:nvSpPr>
        <p:spPr>
          <a:xfrm>
            <a:off x="1453747" y="4121055"/>
            <a:ext cx="8229600" cy="54864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2800"/>
              <a:buNone/>
            </a:pPr>
            <a:r>
              <a:rPr lang="en-US">
                <a:solidFill>
                  <a:srgbClr val="3F3F3F"/>
                </a:solidFill>
                <a:latin typeface="Open Sans"/>
                <a:ea typeface="Open Sans"/>
                <a:cs typeface="Open Sans"/>
                <a:sym typeface="Open Sans"/>
              </a:rPr>
              <a:t>Demonstrate Hibernate configuration</a:t>
            </a:r>
            <a:endParaRPr>
              <a:solidFill>
                <a:srgbClr val="3F3F3F"/>
              </a:solidFill>
              <a:latin typeface="Open Sans"/>
              <a:ea typeface="Open Sans"/>
              <a:cs typeface="Open Sans"/>
              <a:sym typeface="Open Sans"/>
            </a:endParaRPr>
          </a:p>
        </p:txBody>
      </p:sp>
      <p:sp>
        <p:nvSpPr>
          <p:cNvPr id="238" name="Google Shape;238;p5"/>
          <p:cNvSpPr txBox="1">
            <a:spLocks noGrp="1"/>
          </p:cNvSpPr>
          <p:nvPr>
            <p:ph type="body" idx="4"/>
          </p:nvPr>
        </p:nvSpPr>
        <p:spPr>
          <a:xfrm>
            <a:off x="1453747" y="4886875"/>
            <a:ext cx="8229600" cy="548640"/>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2800"/>
              <a:buNone/>
            </a:pPr>
            <a:r>
              <a:rPr lang="en-US">
                <a:solidFill>
                  <a:srgbClr val="3F3F3F"/>
                </a:solidFill>
                <a:latin typeface="Open Sans"/>
                <a:ea typeface="Open Sans"/>
                <a:cs typeface="Open Sans"/>
                <a:sym typeface="Open Sans"/>
              </a:rPr>
              <a:t>Explain Hibernate logging using Log4j</a:t>
            </a:r>
            <a:endParaRPr>
              <a:solidFill>
                <a:srgbClr val="3F3F3F"/>
              </a:solidFill>
              <a:latin typeface="Open Sans"/>
              <a:ea typeface="Open Sans"/>
              <a:cs typeface="Open Sans"/>
              <a:sym typeface="Open Sans"/>
            </a:endParaRPr>
          </a:p>
        </p:txBody>
      </p:sp>
      <p:sp>
        <p:nvSpPr>
          <p:cNvPr id="239" name="Google Shape;239;p5"/>
          <p:cNvSpPr txBox="1">
            <a:spLocks noGrp="1"/>
          </p:cNvSpPr>
          <p:nvPr>
            <p:ph type="body" idx="4294967295"/>
          </p:nvPr>
        </p:nvSpPr>
        <p:spPr>
          <a:xfrm>
            <a:off x="1436834" y="5652695"/>
            <a:ext cx="8263426" cy="585787"/>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Clr>
                <a:srgbClr val="3F3F3F"/>
              </a:buClr>
              <a:buSzPts val="2200"/>
              <a:buNone/>
            </a:pPr>
            <a:r>
              <a:rPr lang="en-US" sz="2200">
                <a:solidFill>
                  <a:srgbClr val="3F3F3F"/>
                </a:solidFill>
                <a:latin typeface="Open Sans"/>
                <a:ea typeface="Open Sans"/>
                <a:cs typeface="Open Sans"/>
                <a:sym typeface="Open Sans"/>
              </a:rPr>
              <a:t>Describe mapping in Hibernate</a:t>
            </a:r>
            <a:endParaRPr>
              <a:solidFill>
                <a:srgbClr val="3F3F3F"/>
              </a:solidFill>
              <a:latin typeface="Open Sans"/>
              <a:ea typeface="Open Sans"/>
              <a:cs typeface="Open Sans"/>
              <a:sym typeface="Open Sans"/>
            </a:endParaRPr>
          </a:p>
        </p:txBody>
      </p:sp>
      <p:sp>
        <p:nvSpPr>
          <p:cNvPr id="240" name="Google Shape;240;p5"/>
          <p:cNvSpPr txBox="1"/>
          <p:nvPr/>
        </p:nvSpPr>
        <p:spPr>
          <a:xfrm>
            <a:off x="1453747" y="6455662"/>
            <a:ext cx="8229600" cy="586317"/>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3F3F3F"/>
              </a:buClr>
              <a:buSzPts val="2200"/>
              <a:buFont typeface="Arial"/>
              <a:buNone/>
            </a:pPr>
            <a:r>
              <a:rPr lang="en-US" sz="2200" b="0" i="0" u="none" strike="noStrike" cap="none">
                <a:solidFill>
                  <a:srgbClr val="3F3F3F"/>
                </a:solidFill>
                <a:latin typeface="Open Sans"/>
                <a:ea typeface="Open Sans"/>
                <a:cs typeface="Open Sans"/>
                <a:sym typeface="Open Sans"/>
              </a:rPr>
              <a:t>Explain the integration of Hibernate with Spring</a:t>
            </a:r>
            <a:endParaRPr sz="2400" b="0" i="0" u="none" strike="noStrike" cap="none">
              <a:solidFill>
                <a:srgbClr val="3F3F3F"/>
              </a:solidFill>
              <a:latin typeface="Open Sans"/>
              <a:ea typeface="Open Sans"/>
              <a:cs typeface="Open Sans"/>
              <a:sym typeface="Open Sans"/>
            </a:endParaRPr>
          </a:p>
        </p:txBody>
      </p:sp>
      <p:pic>
        <p:nvPicPr>
          <p:cNvPr id="241" name="Google Shape;241;p5"/>
          <p:cNvPicPr preferRelativeResize="0"/>
          <p:nvPr/>
        </p:nvPicPr>
        <p:blipFill rotWithShape="1">
          <a:blip r:embed="rId3">
            <a:alphaModFix/>
          </a:blip>
          <a:srcRect/>
          <a:stretch/>
        </p:blipFill>
        <p:spPr>
          <a:xfrm>
            <a:off x="906135" y="2617894"/>
            <a:ext cx="489335" cy="489335"/>
          </a:xfrm>
          <a:prstGeom prst="rect">
            <a:avLst/>
          </a:prstGeom>
          <a:noFill/>
          <a:ln>
            <a:noFill/>
          </a:ln>
        </p:spPr>
      </p:pic>
      <p:pic>
        <p:nvPicPr>
          <p:cNvPr id="242" name="Google Shape;242;p5"/>
          <p:cNvPicPr preferRelativeResize="0"/>
          <p:nvPr/>
        </p:nvPicPr>
        <p:blipFill rotWithShape="1">
          <a:blip r:embed="rId3">
            <a:alphaModFix/>
          </a:blip>
          <a:srcRect/>
          <a:stretch/>
        </p:blipFill>
        <p:spPr>
          <a:xfrm>
            <a:off x="906135" y="3347993"/>
            <a:ext cx="489335" cy="489335"/>
          </a:xfrm>
          <a:prstGeom prst="rect">
            <a:avLst/>
          </a:prstGeom>
          <a:noFill/>
          <a:ln>
            <a:noFill/>
          </a:ln>
        </p:spPr>
      </p:pic>
      <p:pic>
        <p:nvPicPr>
          <p:cNvPr id="243" name="Google Shape;243;p5"/>
          <p:cNvPicPr preferRelativeResize="0"/>
          <p:nvPr/>
        </p:nvPicPr>
        <p:blipFill rotWithShape="1">
          <a:blip r:embed="rId3">
            <a:alphaModFix/>
          </a:blip>
          <a:srcRect/>
          <a:stretch/>
        </p:blipFill>
        <p:spPr>
          <a:xfrm>
            <a:off x="906135" y="4870539"/>
            <a:ext cx="489335" cy="489335"/>
          </a:xfrm>
          <a:prstGeom prst="rect">
            <a:avLst/>
          </a:prstGeom>
          <a:noFill/>
          <a:ln>
            <a:noFill/>
          </a:ln>
        </p:spPr>
      </p:pic>
      <p:pic>
        <p:nvPicPr>
          <p:cNvPr id="244" name="Google Shape;244;p5"/>
          <p:cNvPicPr preferRelativeResize="0"/>
          <p:nvPr/>
        </p:nvPicPr>
        <p:blipFill rotWithShape="1">
          <a:blip r:embed="rId3">
            <a:alphaModFix/>
          </a:blip>
          <a:srcRect/>
          <a:stretch/>
        </p:blipFill>
        <p:spPr>
          <a:xfrm>
            <a:off x="906135" y="4119658"/>
            <a:ext cx="489335" cy="489335"/>
          </a:xfrm>
          <a:prstGeom prst="rect">
            <a:avLst/>
          </a:prstGeom>
          <a:noFill/>
          <a:ln>
            <a:noFill/>
          </a:ln>
        </p:spPr>
      </p:pic>
      <p:pic>
        <p:nvPicPr>
          <p:cNvPr id="245" name="Google Shape;245;p5"/>
          <p:cNvPicPr preferRelativeResize="0"/>
          <p:nvPr/>
        </p:nvPicPr>
        <p:blipFill rotWithShape="1">
          <a:blip r:embed="rId3">
            <a:alphaModFix/>
          </a:blip>
          <a:srcRect/>
          <a:stretch/>
        </p:blipFill>
        <p:spPr>
          <a:xfrm>
            <a:off x="906135" y="5682486"/>
            <a:ext cx="489335" cy="489335"/>
          </a:xfrm>
          <a:prstGeom prst="rect">
            <a:avLst/>
          </a:prstGeom>
          <a:noFill/>
          <a:ln>
            <a:noFill/>
          </a:ln>
        </p:spPr>
      </p:pic>
      <p:pic>
        <p:nvPicPr>
          <p:cNvPr id="246" name="Google Shape;246;p5"/>
          <p:cNvPicPr preferRelativeResize="0"/>
          <p:nvPr/>
        </p:nvPicPr>
        <p:blipFill rotWithShape="1">
          <a:blip r:embed="rId3">
            <a:alphaModFix/>
          </a:blip>
          <a:srcRect/>
          <a:stretch/>
        </p:blipFill>
        <p:spPr>
          <a:xfrm>
            <a:off x="906135" y="6454151"/>
            <a:ext cx="489335" cy="489335"/>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sp>
        <p:nvSpPr>
          <p:cNvPr id="251" name="Google Shape;251;p6"/>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Hibernate Overview</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56"/>
        <p:cNvGrpSpPr/>
        <p:nvPr/>
      </p:nvGrpSpPr>
      <p:grpSpPr>
        <a:xfrm>
          <a:off x="0" y="0"/>
          <a:ext cx="0" cy="0"/>
          <a:chOff x="0" y="0"/>
          <a:chExt cx="0" cy="0"/>
        </a:xfrm>
      </p:grpSpPr>
      <p:sp>
        <p:nvSpPr>
          <p:cNvPr id="257" name="Google Shape;257;p7"/>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Hibernate Overview</a:t>
            </a:r>
            <a:endParaRPr/>
          </a:p>
        </p:txBody>
      </p:sp>
      <p:sp>
        <p:nvSpPr>
          <p:cNvPr id="258" name="Google Shape;258;p7"/>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Hibernate is a lightweight open source </a:t>
            </a:r>
            <a:r>
              <a:rPr lang="en-US" sz="2200" b="1" i="0" u="none" strike="noStrike" cap="none">
                <a:solidFill>
                  <a:srgbClr val="3F3F3F"/>
                </a:solidFill>
                <a:latin typeface="Open Sans"/>
                <a:ea typeface="Open Sans"/>
                <a:cs typeface="Open Sans"/>
                <a:sym typeface="Open Sans"/>
              </a:rPr>
              <a:t>O</a:t>
            </a:r>
            <a:r>
              <a:rPr lang="en-US" sz="2200" b="0" i="0" u="none" strike="noStrike" cap="none">
                <a:solidFill>
                  <a:srgbClr val="3F3F3F"/>
                </a:solidFill>
                <a:latin typeface="Open Sans"/>
                <a:ea typeface="Open Sans"/>
                <a:cs typeface="Open Sans"/>
                <a:sym typeface="Open Sans"/>
              </a:rPr>
              <a:t>bject </a:t>
            </a:r>
            <a:r>
              <a:rPr lang="en-US" sz="2200" b="1" i="0" u="none" strike="noStrike" cap="none">
                <a:solidFill>
                  <a:srgbClr val="3F3F3F"/>
                </a:solidFill>
                <a:latin typeface="Open Sans"/>
                <a:ea typeface="Open Sans"/>
                <a:cs typeface="Open Sans"/>
                <a:sym typeface="Open Sans"/>
              </a:rPr>
              <a:t>R</a:t>
            </a:r>
            <a:r>
              <a:rPr lang="en-US" sz="2200" b="0" i="0" u="none" strike="noStrike" cap="none">
                <a:solidFill>
                  <a:srgbClr val="3F3F3F"/>
                </a:solidFill>
                <a:latin typeface="Open Sans"/>
                <a:ea typeface="Open Sans"/>
                <a:cs typeface="Open Sans"/>
                <a:sym typeface="Open Sans"/>
              </a:rPr>
              <a:t>elational </a:t>
            </a:r>
            <a:r>
              <a:rPr lang="en-US" sz="2200" b="1" i="0" u="none" strike="noStrike" cap="none">
                <a:solidFill>
                  <a:srgbClr val="3F3F3F"/>
                </a:solidFill>
                <a:latin typeface="Open Sans"/>
                <a:ea typeface="Open Sans"/>
                <a:cs typeface="Open Sans"/>
                <a:sym typeface="Open Sans"/>
              </a:rPr>
              <a:t>M</a:t>
            </a:r>
            <a:r>
              <a:rPr lang="en-US" sz="2200" b="0" i="0" u="none" strike="noStrike" cap="none">
                <a:solidFill>
                  <a:srgbClr val="3F3F3F"/>
                </a:solidFill>
                <a:latin typeface="Open Sans"/>
                <a:ea typeface="Open Sans"/>
                <a:cs typeface="Open Sans"/>
                <a:sym typeface="Open Sans"/>
              </a:rPr>
              <a:t>apping (ORM) framework.</a:t>
            </a:r>
            <a:endParaRPr sz="2200" b="0" i="0" u="none" strike="noStrike" cap="none">
              <a:solidFill>
                <a:srgbClr val="3F3F3F"/>
              </a:solidFill>
              <a:latin typeface="Open Sans"/>
              <a:ea typeface="Open Sans"/>
              <a:cs typeface="Open Sans"/>
              <a:sym typeface="Open Sans"/>
            </a:endParaRPr>
          </a:p>
        </p:txBody>
      </p:sp>
      <p:grpSp>
        <p:nvGrpSpPr>
          <p:cNvPr id="259" name="Google Shape;259;p7"/>
          <p:cNvGrpSpPr/>
          <p:nvPr/>
        </p:nvGrpSpPr>
        <p:grpSpPr>
          <a:xfrm>
            <a:off x="1376654" y="3187152"/>
            <a:ext cx="6548455" cy="1279145"/>
            <a:chOff x="1280067" y="2303852"/>
            <a:chExt cx="5785228" cy="1279145"/>
          </a:xfrm>
        </p:grpSpPr>
        <p:sp>
          <p:nvSpPr>
            <p:cNvPr id="260" name="Google Shape;260;p7"/>
            <p:cNvSpPr/>
            <p:nvPr/>
          </p:nvSpPr>
          <p:spPr>
            <a:xfrm>
              <a:off x="2112069" y="2303852"/>
              <a:ext cx="4953226" cy="1279145"/>
            </a:xfrm>
            <a:prstGeom prst="chevron">
              <a:avLst>
                <a:gd name="adj" fmla="val 50000"/>
              </a:avLst>
            </a:prstGeom>
            <a:noFill/>
            <a:ln w="25400" cap="flat" cmpd="sng">
              <a:solidFill>
                <a:srgbClr val="A7DEED"/>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Allows mapping of an object-oriented model to a relational database </a:t>
              </a:r>
              <a:endParaRPr sz="1400" b="0" i="0" u="none" strike="noStrike" cap="none">
                <a:solidFill>
                  <a:srgbClr val="000000"/>
                </a:solidFill>
                <a:latin typeface="Arial"/>
                <a:ea typeface="Arial"/>
                <a:cs typeface="Arial"/>
                <a:sym typeface="Arial"/>
              </a:endParaRPr>
            </a:p>
          </p:txBody>
        </p:sp>
        <p:sp>
          <p:nvSpPr>
            <p:cNvPr id="261" name="Google Shape;261;p7"/>
            <p:cNvSpPr/>
            <p:nvPr/>
          </p:nvSpPr>
          <p:spPr>
            <a:xfrm rot="-2700000">
              <a:off x="1481825" y="2532233"/>
              <a:ext cx="795104" cy="900000"/>
            </a:xfrm>
            <a:prstGeom prst="rect">
              <a:avLst/>
            </a:prstGeom>
            <a:solidFill>
              <a:srgbClr val="A7DEED"/>
            </a:solidFill>
            <a:ln w="12700" cap="flat" cmpd="sng">
              <a:solidFill>
                <a:srgbClr val="1E4E79"/>
              </a:solidFill>
              <a:prstDash val="solid"/>
              <a:miter lim="400000"/>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62" name="Google Shape;262;p7"/>
          <p:cNvSpPr/>
          <p:nvPr/>
        </p:nvSpPr>
        <p:spPr>
          <a:xfrm>
            <a:off x="1112276" y="2142176"/>
            <a:ext cx="7305584" cy="6094268"/>
          </a:xfrm>
          <a:prstGeom prst="rect">
            <a:avLst/>
          </a:prstGeom>
          <a:noFill/>
          <a:ln w="28575" cap="flat" cmpd="sng">
            <a:solidFill>
              <a:srgbClr val="73AAD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263" name="Google Shape;263;p7"/>
          <p:cNvGrpSpPr/>
          <p:nvPr/>
        </p:nvGrpSpPr>
        <p:grpSpPr>
          <a:xfrm>
            <a:off x="1376654" y="4880303"/>
            <a:ext cx="6548453" cy="1279145"/>
            <a:chOff x="1280066" y="2303852"/>
            <a:chExt cx="5785226" cy="1279145"/>
          </a:xfrm>
        </p:grpSpPr>
        <p:sp>
          <p:nvSpPr>
            <p:cNvPr id="264" name="Google Shape;264;p7"/>
            <p:cNvSpPr/>
            <p:nvPr/>
          </p:nvSpPr>
          <p:spPr>
            <a:xfrm>
              <a:off x="2112067" y="2303852"/>
              <a:ext cx="4953225" cy="1279145"/>
            </a:xfrm>
            <a:prstGeom prst="chevron">
              <a:avLst>
                <a:gd name="adj" fmla="val 50000"/>
              </a:avLst>
            </a:prstGeom>
            <a:noFill/>
            <a:ln w="25400" cap="flat" cmpd="sng">
              <a:solidFill>
                <a:srgbClr val="C55A1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Implements the specifications of Java Persistence API (JPA)</a:t>
              </a:r>
              <a:endParaRPr sz="1400" b="0" i="0" u="none" strike="noStrike" cap="none">
                <a:solidFill>
                  <a:srgbClr val="000000"/>
                </a:solidFill>
                <a:latin typeface="Arial"/>
                <a:ea typeface="Arial"/>
                <a:cs typeface="Arial"/>
                <a:sym typeface="Arial"/>
              </a:endParaRPr>
            </a:p>
          </p:txBody>
        </p:sp>
        <p:sp>
          <p:nvSpPr>
            <p:cNvPr id="265" name="Google Shape;265;p7"/>
            <p:cNvSpPr/>
            <p:nvPr/>
          </p:nvSpPr>
          <p:spPr>
            <a:xfrm rot="-2700000">
              <a:off x="1481824" y="2510672"/>
              <a:ext cx="795104" cy="900000"/>
            </a:xfrm>
            <a:prstGeom prst="rect">
              <a:avLst/>
            </a:prstGeom>
            <a:solidFill>
              <a:srgbClr val="F7A977"/>
            </a:solidFill>
            <a:ln w="12700" cap="flat" cmpd="sng">
              <a:solidFill>
                <a:srgbClr val="C55A11"/>
              </a:solidFill>
              <a:prstDash val="solid"/>
              <a:miter lim="400000"/>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266" name="Google Shape;266;p7"/>
          <p:cNvGrpSpPr/>
          <p:nvPr/>
        </p:nvGrpSpPr>
        <p:grpSpPr>
          <a:xfrm>
            <a:off x="1376654" y="6573455"/>
            <a:ext cx="6548454" cy="1279145"/>
            <a:chOff x="1280065" y="2303852"/>
            <a:chExt cx="5785226" cy="1279145"/>
          </a:xfrm>
        </p:grpSpPr>
        <p:sp>
          <p:nvSpPr>
            <p:cNvPr id="267" name="Google Shape;267;p7"/>
            <p:cNvSpPr/>
            <p:nvPr/>
          </p:nvSpPr>
          <p:spPr>
            <a:xfrm>
              <a:off x="2112068" y="2303852"/>
              <a:ext cx="4953223" cy="1279145"/>
            </a:xfrm>
            <a:prstGeom prst="chevron">
              <a:avLst>
                <a:gd name="adj" fmla="val 50000"/>
              </a:avLst>
            </a:prstGeom>
            <a:noFill/>
            <a:ln w="25400" cap="flat" cmpd="sng">
              <a:solidFill>
                <a:srgbClr val="F4938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Sits between Java objects and the database server</a:t>
              </a:r>
              <a:endParaRPr sz="1400" b="0" i="0" u="none" strike="noStrike" cap="none">
                <a:solidFill>
                  <a:srgbClr val="000000"/>
                </a:solidFill>
                <a:latin typeface="Arial"/>
                <a:ea typeface="Arial"/>
                <a:cs typeface="Arial"/>
                <a:sym typeface="Arial"/>
              </a:endParaRPr>
            </a:p>
          </p:txBody>
        </p:sp>
        <p:sp>
          <p:nvSpPr>
            <p:cNvPr id="268" name="Google Shape;268;p7"/>
            <p:cNvSpPr/>
            <p:nvPr/>
          </p:nvSpPr>
          <p:spPr>
            <a:xfrm rot="-2700000">
              <a:off x="1481823" y="2493424"/>
              <a:ext cx="795104" cy="900000"/>
            </a:xfrm>
            <a:prstGeom prst="rect">
              <a:avLst/>
            </a:prstGeom>
            <a:solidFill>
              <a:srgbClr val="FACAC2"/>
            </a:solidFill>
            <a:ln w="12700" cap="flat" cmpd="sng">
              <a:solidFill>
                <a:srgbClr val="F06C56"/>
              </a:solidFill>
              <a:prstDash val="solid"/>
              <a:miter lim="400000"/>
              <a:headEnd type="none" w="sm" len="sm"/>
              <a:tailEnd type="none" w="sm" len="sm"/>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269" name="Google Shape;269;p7"/>
          <p:cNvSpPr/>
          <p:nvPr/>
        </p:nvSpPr>
        <p:spPr>
          <a:xfrm>
            <a:off x="8724214" y="2168941"/>
            <a:ext cx="6113153" cy="6094268"/>
          </a:xfrm>
          <a:prstGeom prst="rect">
            <a:avLst/>
          </a:prstGeom>
          <a:noFill/>
          <a:ln w="28575" cap="flat" cmpd="sng">
            <a:solidFill>
              <a:schemeClr val="accent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0" name="Google Shape;270;p7"/>
          <p:cNvSpPr/>
          <p:nvPr/>
        </p:nvSpPr>
        <p:spPr>
          <a:xfrm>
            <a:off x="9332259" y="2568003"/>
            <a:ext cx="4975412" cy="1258722"/>
          </a:xfrm>
          <a:prstGeom prst="rect">
            <a:avLst/>
          </a:prstGeom>
          <a:solidFill>
            <a:srgbClr val="A8D08C"/>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1" name="Google Shape;271;p7"/>
          <p:cNvSpPr/>
          <p:nvPr/>
        </p:nvSpPr>
        <p:spPr>
          <a:xfrm>
            <a:off x="9520274" y="2724055"/>
            <a:ext cx="622657" cy="492411"/>
          </a:xfrm>
          <a:prstGeom prst="rect">
            <a:avLst/>
          </a:prstGeom>
          <a:solidFill>
            <a:srgbClr val="E1EFD8"/>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2" name="Google Shape;272;p7"/>
          <p:cNvSpPr/>
          <p:nvPr/>
        </p:nvSpPr>
        <p:spPr>
          <a:xfrm>
            <a:off x="10311857" y="2724055"/>
            <a:ext cx="622657" cy="492411"/>
          </a:xfrm>
          <a:prstGeom prst="rect">
            <a:avLst/>
          </a:prstGeom>
          <a:solidFill>
            <a:srgbClr val="E1EFD8"/>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3" name="Google Shape;273;p7"/>
          <p:cNvSpPr/>
          <p:nvPr/>
        </p:nvSpPr>
        <p:spPr>
          <a:xfrm>
            <a:off x="11103440" y="2724055"/>
            <a:ext cx="622657" cy="492411"/>
          </a:xfrm>
          <a:prstGeom prst="rect">
            <a:avLst/>
          </a:prstGeom>
          <a:solidFill>
            <a:srgbClr val="E1EFD8"/>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4" name="Google Shape;274;p7"/>
          <p:cNvSpPr/>
          <p:nvPr/>
        </p:nvSpPr>
        <p:spPr>
          <a:xfrm>
            <a:off x="11895023" y="2724055"/>
            <a:ext cx="622657" cy="492411"/>
          </a:xfrm>
          <a:prstGeom prst="rect">
            <a:avLst/>
          </a:prstGeom>
          <a:solidFill>
            <a:srgbClr val="E1EFD8"/>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5" name="Google Shape;275;p7"/>
          <p:cNvSpPr/>
          <p:nvPr/>
        </p:nvSpPr>
        <p:spPr>
          <a:xfrm>
            <a:off x="12686606" y="2724055"/>
            <a:ext cx="622657" cy="492411"/>
          </a:xfrm>
          <a:prstGeom prst="rect">
            <a:avLst/>
          </a:prstGeom>
          <a:solidFill>
            <a:srgbClr val="E1EFD8"/>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6" name="Google Shape;276;p7"/>
          <p:cNvSpPr/>
          <p:nvPr/>
        </p:nvSpPr>
        <p:spPr>
          <a:xfrm>
            <a:off x="13478191" y="2724055"/>
            <a:ext cx="622657" cy="492411"/>
          </a:xfrm>
          <a:prstGeom prst="rect">
            <a:avLst/>
          </a:prstGeom>
          <a:solidFill>
            <a:srgbClr val="E1EFD8"/>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277" name="Google Shape;277;p7"/>
          <p:cNvSpPr txBox="1"/>
          <p:nvPr/>
        </p:nvSpPr>
        <p:spPr>
          <a:xfrm>
            <a:off x="10934513" y="3306152"/>
            <a:ext cx="2136027"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Java Objects</a:t>
            </a:r>
            <a:endParaRPr sz="1400" b="0" i="0" u="none" strike="noStrike" cap="none">
              <a:solidFill>
                <a:srgbClr val="000000"/>
              </a:solidFill>
              <a:latin typeface="Arial"/>
              <a:ea typeface="Arial"/>
              <a:cs typeface="Arial"/>
              <a:sym typeface="Arial"/>
            </a:endParaRPr>
          </a:p>
        </p:txBody>
      </p:sp>
      <p:sp>
        <p:nvSpPr>
          <p:cNvPr id="278" name="Google Shape;278;p7"/>
          <p:cNvSpPr/>
          <p:nvPr/>
        </p:nvSpPr>
        <p:spPr>
          <a:xfrm>
            <a:off x="9332259" y="4540331"/>
            <a:ext cx="4975412" cy="834592"/>
          </a:xfrm>
          <a:prstGeom prst="rect">
            <a:avLst/>
          </a:prstGeom>
          <a:solidFill>
            <a:srgbClr val="A8D08C"/>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pic>
        <p:nvPicPr>
          <p:cNvPr id="279" name="Google Shape;279;p7"/>
          <p:cNvPicPr preferRelativeResize="0"/>
          <p:nvPr/>
        </p:nvPicPr>
        <p:blipFill rotWithShape="1">
          <a:blip r:embed="rId3">
            <a:alphaModFix/>
          </a:blip>
          <a:srcRect/>
          <a:stretch/>
        </p:blipFill>
        <p:spPr>
          <a:xfrm>
            <a:off x="11009965" y="6165059"/>
            <a:ext cx="1620000" cy="1620000"/>
          </a:xfrm>
          <a:prstGeom prst="rect">
            <a:avLst/>
          </a:prstGeom>
          <a:noFill/>
          <a:ln>
            <a:noFill/>
          </a:ln>
        </p:spPr>
      </p:pic>
      <p:sp>
        <p:nvSpPr>
          <p:cNvPr id="280" name="Google Shape;280;p7"/>
          <p:cNvSpPr txBox="1"/>
          <p:nvPr/>
        </p:nvSpPr>
        <p:spPr>
          <a:xfrm>
            <a:off x="11012091" y="4742184"/>
            <a:ext cx="2136027"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Hibernate</a:t>
            </a:r>
            <a:endParaRPr sz="1400" b="0" i="0" u="none" strike="noStrike" cap="none">
              <a:solidFill>
                <a:srgbClr val="000000"/>
              </a:solidFill>
              <a:latin typeface="Arial"/>
              <a:ea typeface="Arial"/>
              <a:cs typeface="Arial"/>
              <a:sym typeface="Arial"/>
            </a:endParaRPr>
          </a:p>
        </p:txBody>
      </p:sp>
      <p:cxnSp>
        <p:nvCxnSpPr>
          <p:cNvPr id="281" name="Google Shape;281;p7"/>
          <p:cNvCxnSpPr>
            <a:stCxn id="278" idx="0"/>
            <a:endCxn id="270" idx="2"/>
          </p:cNvCxnSpPr>
          <p:nvPr/>
        </p:nvCxnSpPr>
        <p:spPr>
          <a:xfrm rot="10800000">
            <a:off x="11819965" y="3826631"/>
            <a:ext cx="0" cy="713700"/>
          </a:xfrm>
          <a:prstGeom prst="straightConnector1">
            <a:avLst/>
          </a:prstGeom>
          <a:noFill/>
          <a:ln w="28575" cap="flat" cmpd="sng">
            <a:solidFill>
              <a:srgbClr val="F38573"/>
            </a:solidFill>
            <a:prstDash val="solid"/>
            <a:round/>
            <a:headEnd type="triangle" w="med" len="med"/>
            <a:tailEnd type="triangle" w="med" len="med"/>
          </a:ln>
        </p:spPr>
      </p:cxnSp>
      <p:cxnSp>
        <p:nvCxnSpPr>
          <p:cNvPr id="282" name="Google Shape;282;p7"/>
          <p:cNvCxnSpPr>
            <a:stCxn id="279" idx="0"/>
            <a:endCxn id="278" idx="2"/>
          </p:cNvCxnSpPr>
          <p:nvPr/>
        </p:nvCxnSpPr>
        <p:spPr>
          <a:xfrm rot="10800000">
            <a:off x="11819965" y="5374859"/>
            <a:ext cx="0" cy="790200"/>
          </a:xfrm>
          <a:prstGeom prst="straightConnector1">
            <a:avLst/>
          </a:prstGeom>
          <a:noFill/>
          <a:ln w="28575" cap="flat" cmpd="sng">
            <a:solidFill>
              <a:srgbClr val="F38573"/>
            </a:solidFill>
            <a:prstDash val="solid"/>
            <a:round/>
            <a:headEnd type="triangle" w="med" len="med"/>
            <a:tailEnd type="triangle" w="med" len="med"/>
          </a:ln>
        </p:spPr>
      </p:cxnSp>
      <p:sp>
        <p:nvSpPr>
          <p:cNvPr id="283" name="Google Shape;283;p7"/>
          <p:cNvSpPr txBox="1"/>
          <p:nvPr/>
        </p:nvSpPr>
        <p:spPr>
          <a:xfrm>
            <a:off x="11002718" y="7785059"/>
            <a:ext cx="1514962" cy="43088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RDBMS</a:t>
            </a:r>
            <a:endParaRPr sz="1400" b="0" i="0" u="none" strike="noStrike" cap="none">
              <a:solidFill>
                <a:srgbClr val="000000"/>
              </a:solidFill>
              <a:latin typeface="Arial"/>
              <a:ea typeface="Arial"/>
              <a:cs typeface="Arial"/>
              <a:sym typeface="Arial"/>
            </a:endParaRPr>
          </a:p>
        </p:txBody>
      </p:sp>
      <p:sp>
        <p:nvSpPr>
          <p:cNvPr id="284" name="Google Shape;284;p7"/>
          <p:cNvSpPr/>
          <p:nvPr/>
        </p:nvSpPr>
        <p:spPr>
          <a:xfrm>
            <a:off x="1675081" y="2124455"/>
            <a:ext cx="6179974" cy="1130691"/>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Hibernate</a:t>
            </a:r>
            <a:endParaRPr sz="2200" b="0" i="0" u="none" strike="noStrike" cap="none">
              <a:solidFill>
                <a:srgbClr val="3F3F3F"/>
              </a:solidFill>
              <a:latin typeface="Open Sans"/>
              <a:ea typeface="Open Sans"/>
              <a:cs typeface="Open Sans"/>
              <a:sym typeface="Open Sans"/>
            </a:endParaRPr>
          </a:p>
        </p:txBody>
      </p:sp>
      <p:pic>
        <p:nvPicPr>
          <p:cNvPr id="285" name="Google Shape;285;p7"/>
          <p:cNvPicPr preferRelativeResize="0"/>
          <p:nvPr/>
        </p:nvPicPr>
        <p:blipFill rotWithShape="1">
          <a:blip r:embed="rId4">
            <a:alphaModFix/>
          </a:blip>
          <a:srcRect/>
          <a:stretch/>
        </p:blipFill>
        <p:spPr>
          <a:xfrm>
            <a:off x="5416179" y="603159"/>
            <a:ext cx="5429249" cy="36576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90"/>
        <p:cNvGrpSpPr/>
        <p:nvPr/>
      </p:nvGrpSpPr>
      <p:grpSpPr>
        <a:xfrm>
          <a:off x="0" y="0"/>
          <a:ext cx="0" cy="0"/>
          <a:chOff x="0" y="0"/>
          <a:chExt cx="0" cy="0"/>
        </a:xfrm>
      </p:grpSpPr>
      <p:sp>
        <p:nvSpPr>
          <p:cNvPr id="291" name="Google Shape;291;p8"/>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Hibernate Features</a:t>
            </a:r>
            <a:endParaRPr/>
          </a:p>
        </p:txBody>
      </p:sp>
      <p:grpSp>
        <p:nvGrpSpPr>
          <p:cNvPr id="292" name="Google Shape;292;p8"/>
          <p:cNvGrpSpPr/>
          <p:nvPr/>
        </p:nvGrpSpPr>
        <p:grpSpPr>
          <a:xfrm>
            <a:off x="-3855457" y="254211"/>
            <a:ext cx="18165817" cy="9019668"/>
            <a:chOff x="-3718297" y="254211"/>
            <a:chExt cx="18165817" cy="9019668"/>
          </a:xfrm>
        </p:grpSpPr>
        <p:sp>
          <p:nvSpPr>
            <p:cNvPr id="293" name="Google Shape;293;p8"/>
            <p:cNvSpPr/>
            <p:nvPr/>
          </p:nvSpPr>
          <p:spPr>
            <a:xfrm>
              <a:off x="-3718297" y="254211"/>
              <a:ext cx="9019668" cy="9019668"/>
            </a:xfrm>
            <a:prstGeom prst="blockArc">
              <a:avLst>
                <a:gd name="adj1" fmla="val 18900000"/>
                <a:gd name="adj2" fmla="val 2700000"/>
                <a:gd name="adj3" fmla="val 239"/>
              </a:avLst>
            </a:prstGeom>
            <a:noFill/>
            <a:ln w="25400" cap="flat" cmpd="sng">
              <a:solidFill>
                <a:srgbClr val="56893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8"/>
            <p:cNvSpPr/>
            <p:nvPr/>
          </p:nvSpPr>
          <p:spPr>
            <a:xfrm>
              <a:off x="4324621" y="1717250"/>
              <a:ext cx="10122899" cy="609171"/>
            </a:xfrm>
            <a:custGeom>
              <a:avLst/>
              <a:gdLst/>
              <a:ahLst/>
              <a:cxnLst/>
              <a:rect l="l" t="t" r="r" b="b"/>
              <a:pathLst>
                <a:path w="9746737" h="609171" extrusionOk="0">
                  <a:moveTo>
                    <a:pt x="0" y="0"/>
                  </a:moveTo>
                  <a:lnTo>
                    <a:pt x="9746737" y="0"/>
                  </a:lnTo>
                  <a:lnTo>
                    <a:pt x="9746737" y="609171"/>
                  </a:lnTo>
                  <a:lnTo>
                    <a:pt x="0" y="609171"/>
                  </a:lnTo>
                  <a:lnTo>
                    <a:pt x="0" y="0"/>
                  </a:lnTo>
                  <a:close/>
                </a:path>
              </a:pathLst>
            </a:custGeom>
            <a:solidFill>
              <a:srgbClr val="F2F2F2"/>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Relationship (One-to-one, one-to-many, many-to-many, and many-to-one)</a:t>
              </a:r>
              <a:endParaRPr sz="1400" b="0" i="0" u="none" strike="noStrike" cap="none">
                <a:solidFill>
                  <a:srgbClr val="000000"/>
                </a:solidFill>
                <a:latin typeface="Arial"/>
                <a:ea typeface="Arial"/>
                <a:cs typeface="Arial"/>
                <a:sym typeface="Arial"/>
              </a:endParaRPr>
            </a:p>
          </p:txBody>
        </p:sp>
        <p:sp>
          <p:nvSpPr>
            <p:cNvPr id="295" name="Google Shape;295;p8"/>
            <p:cNvSpPr/>
            <p:nvPr/>
          </p:nvSpPr>
          <p:spPr>
            <a:xfrm>
              <a:off x="3943889" y="1641104"/>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8"/>
            <p:cNvSpPr/>
            <p:nvPr/>
          </p:nvSpPr>
          <p:spPr>
            <a:xfrm>
              <a:off x="4876279" y="2631543"/>
              <a:ext cx="9549949" cy="609171"/>
            </a:xfrm>
            <a:custGeom>
              <a:avLst/>
              <a:gdLst/>
              <a:ahLst/>
              <a:cxnLst/>
              <a:rect l="l" t="t" r="r" b="b"/>
              <a:pathLst>
                <a:path w="9195078" h="609171" extrusionOk="0">
                  <a:moveTo>
                    <a:pt x="0" y="0"/>
                  </a:moveTo>
                  <a:lnTo>
                    <a:pt x="9195078" y="0"/>
                  </a:lnTo>
                  <a:lnTo>
                    <a:pt x="9195078" y="609171"/>
                  </a:lnTo>
                  <a:lnTo>
                    <a:pt x="0" y="609171"/>
                  </a:lnTo>
                  <a:lnTo>
                    <a:pt x="0" y="0"/>
                  </a:lnTo>
                  <a:close/>
                </a:path>
              </a:pathLst>
            </a:custGeom>
            <a:solidFill>
              <a:srgbClr val="FAF9F9"/>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Association (Aggregation and Composition)</a:t>
              </a:r>
              <a:endParaRPr sz="1400" b="0" i="0" u="none" strike="noStrike" cap="none">
                <a:solidFill>
                  <a:srgbClr val="000000"/>
                </a:solidFill>
                <a:latin typeface="Arial"/>
                <a:ea typeface="Arial"/>
                <a:cs typeface="Arial"/>
                <a:sym typeface="Arial"/>
              </a:endParaRPr>
            </a:p>
          </p:txBody>
        </p:sp>
        <p:sp>
          <p:nvSpPr>
            <p:cNvPr id="297" name="Google Shape;297;p8"/>
            <p:cNvSpPr/>
            <p:nvPr/>
          </p:nvSpPr>
          <p:spPr>
            <a:xfrm>
              <a:off x="4495548" y="2555397"/>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8"/>
            <p:cNvSpPr/>
            <p:nvPr/>
          </p:nvSpPr>
          <p:spPr>
            <a:xfrm>
              <a:off x="5178586" y="3545166"/>
              <a:ext cx="9235975" cy="609171"/>
            </a:xfrm>
            <a:custGeom>
              <a:avLst/>
              <a:gdLst/>
              <a:ahLst/>
              <a:cxnLst/>
              <a:rect l="l" t="t" r="r" b="b"/>
              <a:pathLst>
                <a:path w="8892771" h="609171" extrusionOk="0">
                  <a:moveTo>
                    <a:pt x="0" y="0"/>
                  </a:moveTo>
                  <a:lnTo>
                    <a:pt x="8892771" y="0"/>
                  </a:lnTo>
                  <a:lnTo>
                    <a:pt x="8892771" y="609171"/>
                  </a:lnTo>
                  <a:lnTo>
                    <a:pt x="0" y="609171"/>
                  </a:lnTo>
                  <a:lnTo>
                    <a:pt x="0" y="0"/>
                  </a:lnTo>
                  <a:close/>
                </a:path>
              </a:pathLst>
            </a:custGeom>
            <a:solidFill>
              <a:srgbClr val="BCF6C7"/>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Collection (List, Set, and Map)</a:t>
              </a:r>
              <a:endParaRPr sz="1400" b="0" i="0" u="none" strike="noStrike" cap="none">
                <a:solidFill>
                  <a:srgbClr val="000000"/>
                </a:solidFill>
                <a:latin typeface="Arial"/>
                <a:ea typeface="Arial"/>
                <a:cs typeface="Arial"/>
                <a:sym typeface="Arial"/>
              </a:endParaRPr>
            </a:p>
          </p:txBody>
        </p:sp>
        <p:sp>
          <p:nvSpPr>
            <p:cNvPr id="299" name="Google Shape;299;p8"/>
            <p:cNvSpPr/>
            <p:nvPr/>
          </p:nvSpPr>
          <p:spPr>
            <a:xfrm>
              <a:off x="4797855" y="3469019"/>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8"/>
            <p:cNvSpPr/>
            <p:nvPr/>
          </p:nvSpPr>
          <p:spPr>
            <a:xfrm>
              <a:off x="5275109" y="4459458"/>
              <a:ext cx="9135727" cy="609171"/>
            </a:xfrm>
            <a:custGeom>
              <a:avLst/>
              <a:gdLst/>
              <a:ahLst/>
              <a:cxnLst/>
              <a:rect l="l" t="t" r="r" b="b"/>
              <a:pathLst>
                <a:path w="8796248" h="609171" extrusionOk="0">
                  <a:moveTo>
                    <a:pt x="0" y="0"/>
                  </a:moveTo>
                  <a:lnTo>
                    <a:pt x="8796248" y="0"/>
                  </a:lnTo>
                  <a:lnTo>
                    <a:pt x="8796248" y="609171"/>
                  </a:lnTo>
                  <a:lnTo>
                    <a:pt x="0" y="609171"/>
                  </a:lnTo>
                  <a:lnTo>
                    <a:pt x="0" y="0"/>
                  </a:lnTo>
                  <a:close/>
                </a:path>
              </a:pathLst>
            </a:custGeom>
            <a:solidFill>
              <a:srgbClr val="F7CAAC"/>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Primary and composite key generation</a:t>
              </a:r>
              <a:endParaRPr sz="1400" b="0" i="0" u="none" strike="noStrike" cap="none">
                <a:solidFill>
                  <a:srgbClr val="000000"/>
                </a:solidFill>
                <a:latin typeface="Arial"/>
                <a:ea typeface="Arial"/>
                <a:cs typeface="Arial"/>
                <a:sym typeface="Arial"/>
              </a:endParaRPr>
            </a:p>
          </p:txBody>
        </p:sp>
        <p:sp>
          <p:nvSpPr>
            <p:cNvPr id="301" name="Google Shape;301;p8"/>
            <p:cNvSpPr/>
            <p:nvPr/>
          </p:nvSpPr>
          <p:spPr>
            <a:xfrm>
              <a:off x="4894378" y="4383312"/>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8"/>
            <p:cNvSpPr/>
            <p:nvPr/>
          </p:nvSpPr>
          <p:spPr>
            <a:xfrm>
              <a:off x="5178586" y="5373751"/>
              <a:ext cx="9235975" cy="609171"/>
            </a:xfrm>
            <a:custGeom>
              <a:avLst/>
              <a:gdLst/>
              <a:ahLst/>
              <a:cxnLst/>
              <a:rect l="l" t="t" r="r" b="b"/>
              <a:pathLst>
                <a:path w="8892771" h="609171" extrusionOk="0">
                  <a:moveTo>
                    <a:pt x="0" y="0"/>
                  </a:moveTo>
                  <a:lnTo>
                    <a:pt x="8892771" y="0"/>
                  </a:lnTo>
                  <a:lnTo>
                    <a:pt x="8892771" y="609171"/>
                  </a:lnTo>
                  <a:lnTo>
                    <a:pt x="0" y="609171"/>
                  </a:lnTo>
                  <a:lnTo>
                    <a:pt x="0" y="0"/>
                  </a:lnTo>
                  <a:close/>
                </a:path>
              </a:pathLst>
            </a:custGeom>
            <a:solidFill>
              <a:srgbClr val="FBCC83"/>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Inheritance</a:t>
              </a:r>
              <a:endParaRPr sz="1400" b="0" i="0" u="none" strike="noStrike" cap="none">
                <a:solidFill>
                  <a:srgbClr val="000000"/>
                </a:solidFill>
                <a:latin typeface="Arial"/>
                <a:ea typeface="Arial"/>
                <a:cs typeface="Arial"/>
                <a:sym typeface="Arial"/>
              </a:endParaRPr>
            </a:p>
          </p:txBody>
        </p:sp>
        <p:sp>
          <p:nvSpPr>
            <p:cNvPr id="303" name="Google Shape;303;p8"/>
            <p:cNvSpPr/>
            <p:nvPr/>
          </p:nvSpPr>
          <p:spPr>
            <a:xfrm>
              <a:off x="4797855" y="5297605"/>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8"/>
            <p:cNvSpPr/>
            <p:nvPr/>
          </p:nvSpPr>
          <p:spPr>
            <a:xfrm>
              <a:off x="4876279" y="6287374"/>
              <a:ext cx="9549949" cy="609171"/>
            </a:xfrm>
            <a:custGeom>
              <a:avLst/>
              <a:gdLst/>
              <a:ahLst/>
              <a:cxnLst/>
              <a:rect l="l" t="t" r="r" b="b"/>
              <a:pathLst>
                <a:path w="9195078" h="609171" extrusionOk="0">
                  <a:moveTo>
                    <a:pt x="0" y="0"/>
                  </a:moveTo>
                  <a:lnTo>
                    <a:pt x="9195078" y="0"/>
                  </a:lnTo>
                  <a:lnTo>
                    <a:pt x="9195078" y="609171"/>
                  </a:lnTo>
                  <a:lnTo>
                    <a:pt x="0" y="609171"/>
                  </a:lnTo>
                  <a:lnTo>
                    <a:pt x="0" y="0"/>
                  </a:lnTo>
                  <a:close/>
                </a:path>
              </a:pathLst>
            </a:custGeom>
            <a:solidFill>
              <a:srgbClr val="FFD966"/>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Dual-layer caching</a:t>
              </a:r>
              <a:endParaRPr sz="1400" b="0" i="0" u="none" strike="noStrike" cap="none">
                <a:solidFill>
                  <a:srgbClr val="000000"/>
                </a:solidFill>
                <a:latin typeface="Arial"/>
                <a:ea typeface="Arial"/>
                <a:cs typeface="Arial"/>
                <a:sym typeface="Arial"/>
              </a:endParaRPr>
            </a:p>
          </p:txBody>
        </p:sp>
        <p:sp>
          <p:nvSpPr>
            <p:cNvPr id="305" name="Google Shape;305;p8"/>
            <p:cNvSpPr/>
            <p:nvPr/>
          </p:nvSpPr>
          <p:spPr>
            <a:xfrm>
              <a:off x="4495548" y="6211228"/>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6" name="Google Shape;306;p8"/>
            <p:cNvSpPr/>
            <p:nvPr/>
          </p:nvSpPr>
          <p:spPr>
            <a:xfrm>
              <a:off x="4324621" y="7201667"/>
              <a:ext cx="10122899" cy="609171"/>
            </a:xfrm>
            <a:custGeom>
              <a:avLst/>
              <a:gdLst/>
              <a:ahLst/>
              <a:cxnLst/>
              <a:rect l="l" t="t" r="r" b="b"/>
              <a:pathLst>
                <a:path w="9746737" h="609171" extrusionOk="0">
                  <a:moveTo>
                    <a:pt x="0" y="0"/>
                  </a:moveTo>
                  <a:lnTo>
                    <a:pt x="9746737" y="0"/>
                  </a:lnTo>
                  <a:lnTo>
                    <a:pt x="9746737" y="609171"/>
                  </a:lnTo>
                  <a:lnTo>
                    <a:pt x="0" y="609171"/>
                  </a:lnTo>
                  <a:lnTo>
                    <a:pt x="0" y="0"/>
                  </a:lnTo>
                  <a:close/>
                </a:path>
              </a:pathLst>
            </a:custGeom>
            <a:solidFill>
              <a:srgbClr val="B4E3F0"/>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Validation and full-text search</a:t>
              </a:r>
              <a:endParaRPr sz="1400" b="0" i="0" u="none" strike="noStrike" cap="none">
                <a:solidFill>
                  <a:srgbClr val="000000"/>
                </a:solidFill>
                <a:latin typeface="Arial"/>
                <a:ea typeface="Arial"/>
                <a:cs typeface="Arial"/>
                <a:sym typeface="Arial"/>
              </a:endParaRPr>
            </a:p>
          </p:txBody>
        </p:sp>
        <p:sp>
          <p:nvSpPr>
            <p:cNvPr id="307" name="Google Shape;307;p8"/>
            <p:cNvSpPr/>
            <p:nvPr/>
          </p:nvSpPr>
          <p:spPr>
            <a:xfrm>
              <a:off x="3943889" y="7125520"/>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08" name="Google Shape;308;p8"/>
          <p:cNvSpPr/>
          <p:nvPr/>
        </p:nvSpPr>
        <p:spPr>
          <a:xfrm>
            <a:off x="2095156" y="4169386"/>
            <a:ext cx="2328563" cy="1189315"/>
          </a:xfrm>
          <a:prstGeom prst="frame">
            <a:avLst>
              <a:gd name="adj1" fmla="val 12500"/>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Hibernate supports</a:t>
            </a:r>
            <a:endParaRPr sz="1400" b="0" i="0" u="none" strike="noStrike" cap="none">
              <a:solidFill>
                <a:srgbClr val="000000"/>
              </a:solidFill>
              <a:latin typeface="Arial"/>
              <a:ea typeface="Arial"/>
              <a:cs typeface="Arial"/>
              <a:sym typeface="Arial"/>
            </a:endParaRPr>
          </a:p>
        </p:txBody>
      </p:sp>
      <p:pic>
        <p:nvPicPr>
          <p:cNvPr id="309" name="Google Shape;309;p8"/>
          <p:cNvPicPr preferRelativeResize="0"/>
          <p:nvPr/>
        </p:nvPicPr>
        <p:blipFill rotWithShape="1">
          <a:blip r:embed="rId3">
            <a:alphaModFix/>
          </a:blip>
          <a:srcRect/>
          <a:stretch/>
        </p:blipFill>
        <p:spPr>
          <a:xfrm>
            <a:off x="5416179" y="603159"/>
            <a:ext cx="5429249" cy="36576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9"/>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Hibernate Features</a:t>
            </a:r>
            <a:endParaRPr/>
          </a:p>
        </p:txBody>
      </p:sp>
      <p:grpSp>
        <p:nvGrpSpPr>
          <p:cNvPr id="316" name="Google Shape;316;p9"/>
          <p:cNvGrpSpPr/>
          <p:nvPr/>
        </p:nvGrpSpPr>
        <p:grpSpPr>
          <a:xfrm>
            <a:off x="-3718297" y="254211"/>
            <a:ext cx="17789655" cy="9019668"/>
            <a:chOff x="-3718297" y="254211"/>
            <a:chExt cx="17789655" cy="9019668"/>
          </a:xfrm>
        </p:grpSpPr>
        <p:sp>
          <p:nvSpPr>
            <p:cNvPr id="317" name="Google Shape;317;p9"/>
            <p:cNvSpPr/>
            <p:nvPr/>
          </p:nvSpPr>
          <p:spPr>
            <a:xfrm>
              <a:off x="-3718297" y="254211"/>
              <a:ext cx="9019668" cy="9019668"/>
            </a:xfrm>
            <a:prstGeom prst="blockArc">
              <a:avLst>
                <a:gd name="adj1" fmla="val 18900000"/>
                <a:gd name="adj2" fmla="val 2700000"/>
                <a:gd name="adj3" fmla="val 239"/>
              </a:avLst>
            </a:prstGeom>
            <a:noFill/>
            <a:ln w="25400" cap="flat" cmpd="sng">
              <a:solidFill>
                <a:srgbClr val="56893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9"/>
            <p:cNvSpPr/>
            <p:nvPr/>
          </p:nvSpPr>
          <p:spPr>
            <a:xfrm>
              <a:off x="4324621" y="1717250"/>
              <a:ext cx="9746737" cy="609171"/>
            </a:xfrm>
            <a:custGeom>
              <a:avLst/>
              <a:gdLst/>
              <a:ahLst/>
              <a:cxnLst/>
              <a:rect l="l" t="t" r="r" b="b"/>
              <a:pathLst>
                <a:path w="9746737" h="609171" extrusionOk="0">
                  <a:moveTo>
                    <a:pt x="0" y="0"/>
                  </a:moveTo>
                  <a:lnTo>
                    <a:pt x="9746737" y="0"/>
                  </a:lnTo>
                  <a:lnTo>
                    <a:pt x="9746737" y="609171"/>
                  </a:lnTo>
                  <a:lnTo>
                    <a:pt x="0" y="609171"/>
                  </a:lnTo>
                  <a:lnTo>
                    <a:pt x="0" y="0"/>
                  </a:lnTo>
                  <a:close/>
                </a:path>
              </a:pathLst>
            </a:custGeom>
            <a:solidFill>
              <a:srgbClr val="F2F2F2"/>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Has its own query language (Hibernate Query Language)</a:t>
              </a:r>
              <a:endParaRPr sz="1400" b="0" i="0" u="none" strike="noStrike" cap="none">
                <a:solidFill>
                  <a:srgbClr val="000000"/>
                </a:solidFill>
                <a:latin typeface="Arial"/>
                <a:ea typeface="Arial"/>
                <a:cs typeface="Arial"/>
                <a:sym typeface="Arial"/>
              </a:endParaRPr>
            </a:p>
          </p:txBody>
        </p:sp>
        <p:sp>
          <p:nvSpPr>
            <p:cNvPr id="319" name="Google Shape;319;p9"/>
            <p:cNvSpPr/>
            <p:nvPr/>
          </p:nvSpPr>
          <p:spPr>
            <a:xfrm>
              <a:off x="3943889" y="1641104"/>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9"/>
            <p:cNvSpPr/>
            <p:nvPr/>
          </p:nvSpPr>
          <p:spPr>
            <a:xfrm>
              <a:off x="4876280" y="2631543"/>
              <a:ext cx="9195078" cy="609171"/>
            </a:xfrm>
            <a:custGeom>
              <a:avLst/>
              <a:gdLst/>
              <a:ahLst/>
              <a:cxnLst/>
              <a:rect l="l" t="t" r="r" b="b"/>
              <a:pathLst>
                <a:path w="9195078" h="609171" extrusionOk="0">
                  <a:moveTo>
                    <a:pt x="0" y="0"/>
                  </a:moveTo>
                  <a:lnTo>
                    <a:pt x="9195078" y="0"/>
                  </a:lnTo>
                  <a:lnTo>
                    <a:pt x="9195078" y="609171"/>
                  </a:lnTo>
                  <a:lnTo>
                    <a:pt x="0" y="609171"/>
                  </a:lnTo>
                  <a:lnTo>
                    <a:pt x="0" y="0"/>
                  </a:lnTo>
                  <a:close/>
                </a:path>
              </a:pathLst>
            </a:custGeom>
            <a:solidFill>
              <a:srgbClr val="FAF9F9"/>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Has no database locking</a:t>
              </a:r>
              <a:endParaRPr sz="1400" b="0" i="0" u="none" strike="noStrike" cap="none">
                <a:solidFill>
                  <a:srgbClr val="000000"/>
                </a:solidFill>
                <a:latin typeface="Arial"/>
                <a:ea typeface="Arial"/>
                <a:cs typeface="Arial"/>
                <a:sym typeface="Arial"/>
              </a:endParaRPr>
            </a:p>
          </p:txBody>
        </p:sp>
        <p:sp>
          <p:nvSpPr>
            <p:cNvPr id="321" name="Google Shape;321;p9"/>
            <p:cNvSpPr/>
            <p:nvPr/>
          </p:nvSpPr>
          <p:spPr>
            <a:xfrm>
              <a:off x="4495548" y="2555397"/>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9"/>
            <p:cNvSpPr/>
            <p:nvPr/>
          </p:nvSpPr>
          <p:spPr>
            <a:xfrm>
              <a:off x="5178586" y="3545166"/>
              <a:ext cx="8892771" cy="609171"/>
            </a:xfrm>
            <a:custGeom>
              <a:avLst/>
              <a:gdLst/>
              <a:ahLst/>
              <a:cxnLst/>
              <a:rect l="l" t="t" r="r" b="b"/>
              <a:pathLst>
                <a:path w="8892771" h="609171" extrusionOk="0">
                  <a:moveTo>
                    <a:pt x="0" y="0"/>
                  </a:moveTo>
                  <a:lnTo>
                    <a:pt x="8892771" y="0"/>
                  </a:lnTo>
                  <a:lnTo>
                    <a:pt x="8892771" y="609171"/>
                  </a:lnTo>
                  <a:lnTo>
                    <a:pt x="0" y="609171"/>
                  </a:lnTo>
                  <a:lnTo>
                    <a:pt x="0" y="0"/>
                  </a:lnTo>
                  <a:close/>
                </a:path>
              </a:pathLst>
            </a:custGeom>
            <a:solidFill>
              <a:srgbClr val="BCF6C7"/>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Provides translator for compile-time exception conversion</a:t>
              </a:r>
              <a:endParaRPr sz="1400" b="0" i="0" u="none" strike="noStrike" cap="none">
                <a:solidFill>
                  <a:srgbClr val="000000"/>
                </a:solidFill>
                <a:latin typeface="Arial"/>
                <a:ea typeface="Arial"/>
                <a:cs typeface="Arial"/>
                <a:sym typeface="Arial"/>
              </a:endParaRPr>
            </a:p>
          </p:txBody>
        </p:sp>
        <p:sp>
          <p:nvSpPr>
            <p:cNvPr id="323" name="Google Shape;323;p9"/>
            <p:cNvSpPr/>
            <p:nvPr/>
          </p:nvSpPr>
          <p:spPr>
            <a:xfrm>
              <a:off x="4797855" y="3469019"/>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9"/>
            <p:cNvSpPr/>
            <p:nvPr/>
          </p:nvSpPr>
          <p:spPr>
            <a:xfrm>
              <a:off x="5275110" y="4459458"/>
              <a:ext cx="8796248" cy="609171"/>
            </a:xfrm>
            <a:custGeom>
              <a:avLst/>
              <a:gdLst/>
              <a:ahLst/>
              <a:cxnLst/>
              <a:rect l="l" t="t" r="r" b="b"/>
              <a:pathLst>
                <a:path w="8796248" h="609171" extrusionOk="0">
                  <a:moveTo>
                    <a:pt x="0" y="0"/>
                  </a:moveTo>
                  <a:lnTo>
                    <a:pt x="8796248" y="0"/>
                  </a:lnTo>
                  <a:lnTo>
                    <a:pt x="8796248" y="609171"/>
                  </a:lnTo>
                  <a:lnTo>
                    <a:pt x="0" y="609171"/>
                  </a:lnTo>
                  <a:lnTo>
                    <a:pt x="0" y="0"/>
                  </a:lnTo>
                  <a:close/>
                </a:path>
              </a:pathLst>
            </a:custGeom>
            <a:solidFill>
              <a:srgbClr val="F7CAAC"/>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Supports outer join fetching and lazy initialization</a:t>
              </a:r>
              <a:endParaRPr sz="1400" b="0" i="0" u="none" strike="noStrike" cap="none">
                <a:solidFill>
                  <a:srgbClr val="000000"/>
                </a:solidFill>
                <a:latin typeface="Arial"/>
                <a:ea typeface="Arial"/>
                <a:cs typeface="Arial"/>
                <a:sym typeface="Arial"/>
              </a:endParaRPr>
            </a:p>
          </p:txBody>
        </p:sp>
        <p:sp>
          <p:nvSpPr>
            <p:cNvPr id="325" name="Google Shape;325;p9"/>
            <p:cNvSpPr/>
            <p:nvPr/>
          </p:nvSpPr>
          <p:spPr>
            <a:xfrm>
              <a:off x="4894378" y="4383312"/>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9"/>
            <p:cNvSpPr/>
            <p:nvPr/>
          </p:nvSpPr>
          <p:spPr>
            <a:xfrm>
              <a:off x="5178586" y="5373751"/>
              <a:ext cx="8892771" cy="609171"/>
            </a:xfrm>
            <a:custGeom>
              <a:avLst/>
              <a:gdLst/>
              <a:ahLst/>
              <a:cxnLst/>
              <a:rect l="l" t="t" r="r" b="b"/>
              <a:pathLst>
                <a:path w="8892771" h="609171" extrusionOk="0">
                  <a:moveTo>
                    <a:pt x="0" y="0"/>
                  </a:moveTo>
                  <a:lnTo>
                    <a:pt x="8892771" y="0"/>
                  </a:lnTo>
                  <a:lnTo>
                    <a:pt x="8892771" y="609171"/>
                  </a:lnTo>
                  <a:lnTo>
                    <a:pt x="0" y="609171"/>
                  </a:lnTo>
                  <a:lnTo>
                    <a:pt x="0" y="0"/>
                  </a:lnTo>
                  <a:close/>
                </a:path>
              </a:pathLst>
            </a:custGeom>
            <a:solidFill>
              <a:srgbClr val="FBCC83"/>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Supports J2EE integration, JMX, and JCA</a:t>
              </a:r>
              <a:endParaRPr sz="1400" b="0" i="0" u="none" strike="noStrike" cap="none">
                <a:solidFill>
                  <a:srgbClr val="000000"/>
                </a:solidFill>
                <a:latin typeface="Arial"/>
                <a:ea typeface="Arial"/>
                <a:cs typeface="Arial"/>
                <a:sym typeface="Arial"/>
              </a:endParaRPr>
            </a:p>
          </p:txBody>
        </p:sp>
        <p:sp>
          <p:nvSpPr>
            <p:cNvPr id="327" name="Google Shape;327;p9"/>
            <p:cNvSpPr/>
            <p:nvPr/>
          </p:nvSpPr>
          <p:spPr>
            <a:xfrm>
              <a:off x="4797855" y="5297605"/>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9"/>
            <p:cNvSpPr/>
            <p:nvPr/>
          </p:nvSpPr>
          <p:spPr>
            <a:xfrm>
              <a:off x="4876280" y="6287374"/>
              <a:ext cx="9195078" cy="609171"/>
            </a:xfrm>
            <a:custGeom>
              <a:avLst/>
              <a:gdLst/>
              <a:ahLst/>
              <a:cxnLst/>
              <a:rect l="l" t="t" r="r" b="b"/>
              <a:pathLst>
                <a:path w="9195078" h="609171" extrusionOk="0">
                  <a:moveTo>
                    <a:pt x="0" y="0"/>
                  </a:moveTo>
                  <a:lnTo>
                    <a:pt x="9195078" y="0"/>
                  </a:lnTo>
                  <a:lnTo>
                    <a:pt x="9195078" y="609171"/>
                  </a:lnTo>
                  <a:lnTo>
                    <a:pt x="0" y="609171"/>
                  </a:lnTo>
                  <a:lnTo>
                    <a:pt x="0" y="0"/>
                  </a:lnTo>
                  <a:close/>
                </a:path>
              </a:pathLst>
            </a:custGeom>
            <a:solidFill>
              <a:srgbClr val="FFD966"/>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Supports annotation and pagination</a:t>
              </a:r>
              <a:endParaRPr sz="1400" b="0" i="0" u="none" strike="noStrike" cap="none">
                <a:solidFill>
                  <a:srgbClr val="000000"/>
                </a:solidFill>
                <a:latin typeface="Arial"/>
                <a:ea typeface="Arial"/>
                <a:cs typeface="Arial"/>
                <a:sym typeface="Arial"/>
              </a:endParaRPr>
            </a:p>
          </p:txBody>
        </p:sp>
        <p:sp>
          <p:nvSpPr>
            <p:cNvPr id="329" name="Google Shape;329;p9"/>
            <p:cNvSpPr/>
            <p:nvPr/>
          </p:nvSpPr>
          <p:spPr>
            <a:xfrm>
              <a:off x="4495548" y="6211228"/>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9"/>
            <p:cNvSpPr/>
            <p:nvPr/>
          </p:nvSpPr>
          <p:spPr>
            <a:xfrm>
              <a:off x="4324621" y="7201667"/>
              <a:ext cx="9746737" cy="609171"/>
            </a:xfrm>
            <a:custGeom>
              <a:avLst/>
              <a:gdLst/>
              <a:ahLst/>
              <a:cxnLst/>
              <a:rect l="l" t="t" r="r" b="b"/>
              <a:pathLst>
                <a:path w="9746737" h="609171" extrusionOk="0">
                  <a:moveTo>
                    <a:pt x="0" y="0"/>
                  </a:moveTo>
                  <a:lnTo>
                    <a:pt x="9746737" y="0"/>
                  </a:lnTo>
                  <a:lnTo>
                    <a:pt x="9746737" y="609171"/>
                  </a:lnTo>
                  <a:lnTo>
                    <a:pt x="0" y="609171"/>
                  </a:lnTo>
                  <a:lnTo>
                    <a:pt x="0" y="0"/>
                  </a:lnTo>
                  <a:close/>
                </a:path>
              </a:pathLst>
            </a:custGeom>
            <a:solidFill>
              <a:srgbClr val="B4E3F0"/>
            </a:solidFill>
            <a:ln w="25400" cap="flat" cmpd="sng">
              <a:solidFill>
                <a:srgbClr val="659C40"/>
              </a:solidFill>
              <a:prstDash val="solid"/>
              <a:round/>
              <a:headEnd type="none" w="sm" len="sm"/>
              <a:tailEnd type="none" w="sm" len="sm"/>
            </a:ln>
          </p:spPr>
          <p:txBody>
            <a:bodyPr spcFirstLastPara="1" wrap="square" lIns="483525" tIns="55875" rIns="55875" bIns="5587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Provides smart query generation and query criteria support</a:t>
              </a:r>
              <a:endParaRPr sz="1400" b="0" i="0" u="none" strike="noStrike" cap="none">
                <a:solidFill>
                  <a:srgbClr val="000000"/>
                </a:solidFill>
                <a:latin typeface="Arial"/>
                <a:ea typeface="Arial"/>
                <a:cs typeface="Arial"/>
                <a:sym typeface="Arial"/>
              </a:endParaRPr>
            </a:p>
          </p:txBody>
        </p:sp>
        <p:sp>
          <p:nvSpPr>
            <p:cNvPr id="331" name="Google Shape;331;p9"/>
            <p:cNvSpPr/>
            <p:nvPr/>
          </p:nvSpPr>
          <p:spPr>
            <a:xfrm>
              <a:off x="3943889" y="7125520"/>
              <a:ext cx="761463" cy="761463"/>
            </a:xfrm>
            <a:prstGeom prst="ellipse">
              <a:avLst/>
            </a:prstGeom>
            <a:solidFill>
              <a:schemeClr val="lt1"/>
            </a:solidFill>
            <a:ln w="25400" cap="flat" cmpd="sng">
              <a:solidFill>
                <a:schemeClr val="accent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332" name="Google Shape;332;p9"/>
          <p:cNvSpPr/>
          <p:nvPr/>
        </p:nvSpPr>
        <p:spPr>
          <a:xfrm>
            <a:off x="2095156" y="4169386"/>
            <a:ext cx="2328563" cy="1189315"/>
          </a:xfrm>
          <a:prstGeom prst="frame">
            <a:avLst>
              <a:gd name="adj1" fmla="val 12500"/>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Hibernate</a:t>
            </a:r>
            <a:endParaRPr sz="1400" b="0" i="0" u="none" strike="noStrike" cap="none">
              <a:solidFill>
                <a:srgbClr val="000000"/>
              </a:solidFill>
              <a:latin typeface="Arial"/>
              <a:ea typeface="Arial"/>
              <a:cs typeface="Arial"/>
              <a:sym typeface="Arial"/>
            </a:endParaRPr>
          </a:p>
        </p:txBody>
      </p:sp>
      <p:pic>
        <p:nvPicPr>
          <p:cNvPr id="333" name="Google Shape;333;p9"/>
          <p:cNvPicPr preferRelativeResize="0"/>
          <p:nvPr/>
        </p:nvPicPr>
        <p:blipFill rotWithShape="1">
          <a:blip r:embed="rId3">
            <a:alphaModFix/>
          </a:blip>
          <a:srcRect/>
          <a:stretch/>
        </p:blipFill>
        <p:spPr>
          <a:xfrm>
            <a:off x="5416179" y="603159"/>
            <a:ext cx="5429249" cy="36576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10"/>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Hibernate-Supported Databases and Technologies </a:t>
            </a:r>
            <a:endParaRPr/>
          </a:p>
        </p:txBody>
      </p:sp>
      <p:sp>
        <p:nvSpPr>
          <p:cNvPr id="340" name="Google Shape;340;p10"/>
          <p:cNvSpPr txBox="1"/>
          <p:nvPr/>
        </p:nvSpPr>
        <p:spPr>
          <a:xfrm>
            <a:off x="1137599" y="2037357"/>
            <a:ext cx="3083855"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800"/>
              <a:buFont typeface="Arial"/>
              <a:buNone/>
            </a:pPr>
            <a:r>
              <a:rPr lang="en-US" sz="2800" b="0" i="0" u="none" strike="noStrike" cap="none">
                <a:solidFill>
                  <a:schemeClr val="lt1"/>
                </a:solidFill>
                <a:latin typeface="Open Sans"/>
                <a:ea typeface="Open Sans"/>
                <a:cs typeface="Open Sans"/>
                <a:sym typeface="Open Sans"/>
              </a:rPr>
              <a:t>Databases</a:t>
            </a:r>
            <a:endParaRPr sz="2800" b="0" i="0" u="none" strike="noStrike" cap="none">
              <a:solidFill>
                <a:schemeClr val="lt1"/>
              </a:solidFill>
              <a:latin typeface="Open Sans"/>
              <a:ea typeface="Open Sans"/>
              <a:cs typeface="Open Sans"/>
              <a:sym typeface="Open Sans"/>
            </a:endParaRPr>
          </a:p>
        </p:txBody>
      </p:sp>
      <p:grpSp>
        <p:nvGrpSpPr>
          <p:cNvPr id="341" name="Google Shape;341;p10"/>
          <p:cNvGrpSpPr/>
          <p:nvPr/>
        </p:nvGrpSpPr>
        <p:grpSpPr>
          <a:xfrm>
            <a:off x="2073771" y="1468871"/>
            <a:ext cx="5058707" cy="7181586"/>
            <a:chOff x="2073771" y="1468871"/>
            <a:chExt cx="5058707" cy="7181586"/>
          </a:xfrm>
        </p:grpSpPr>
        <p:sp>
          <p:nvSpPr>
            <p:cNvPr id="342" name="Google Shape;342;p10"/>
            <p:cNvSpPr/>
            <p:nvPr/>
          </p:nvSpPr>
          <p:spPr>
            <a:xfrm>
              <a:off x="2073771" y="3066203"/>
              <a:ext cx="5058707" cy="5584254"/>
            </a:xfrm>
            <a:prstGeom prst="rect">
              <a:avLst/>
            </a:prstGeom>
            <a:solidFill>
              <a:srgbClr val="D8D8D8"/>
            </a:solidFill>
            <a:ln w="25400"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a:solidFill>
                  <a:schemeClr val="lt1"/>
                </a:solidFill>
                <a:latin typeface="Arial"/>
                <a:ea typeface="Arial"/>
                <a:cs typeface="Arial"/>
                <a:sym typeface="Arial"/>
              </a:endParaRPr>
            </a:p>
          </p:txBody>
        </p:sp>
        <p:sp>
          <p:nvSpPr>
            <p:cNvPr id="343" name="Google Shape;343;p10"/>
            <p:cNvSpPr/>
            <p:nvPr/>
          </p:nvSpPr>
          <p:spPr>
            <a:xfrm>
              <a:off x="2348019" y="3129063"/>
              <a:ext cx="4510033" cy="5429435"/>
            </a:xfrm>
            <a:prstGeom prst="rect">
              <a:avLst/>
            </a:prstGeom>
            <a:noFill/>
            <a:ln>
              <a:noFill/>
            </a:ln>
          </p:spPr>
          <p:txBody>
            <a:bodyPr spcFirstLastPara="1" wrap="square" lIns="91425" tIns="45700" rIns="91425" bIns="45700" anchor="t" anchorCtr="0">
              <a:spAutoFit/>
            </a:bodyPr>
            <a:lstStyle/>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Oracle</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MySQL</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PostgreSQL</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FrontBase</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Microsoft SQL Server Database</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Sybase SQL Server</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HSQL Database Engine</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DB2/NT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Informix Dynamic Server</a:t>
              </a:r>
              <a:endParaRPr sz="1400" b="0" i="0" u="none" strike="noStrike" cap="none">
                <a:solidFill>
                  <a:srgbClr val="000000"/>
                </a:solidFill>
                <a:latin typeface="Arial"/>
                <a:ea typeface="Arial"/>
                <a:cs typeface="Arial"/>
                <a:sym typeface="Arial"/>
              </a:endParaRPr>
            </a:p>
          </p:txBody>
        </p:sp>
        <p:grpSp>
          <p:nvGrpSpPr>
            <p:cNvPr id="344" name="Google Shape;344;p10"/>
            <p:cNvGrpSpPr/>
            <p:nvPr/>
          </p:nvGrpSpPr>
          <p:grpSpPr>
            <a:xfrm>
              <a:off x="2073771" y="1468871"/>
              <a:ext cx="5058707" cy="2446552"/>
              <a:chOff x="963430" y="1468871"/>
              <a:chExt cx="5058707" cy="2446552"/>
            </a:xfrm>
          </p:grpSpPr>
          <p:grpSp>
            <p:nvGrpSpPr>
              <p:cNvPr id="345" name="Google Shape;345;p10"/>
              <p:cNvGrpSpPr/>
              <p:nvPr/>
            </p:nvGrpSpPr>
            <p:grpSpPr>
              <a:xfrm>
                <a:off x="963430" y="1468871"/>
                <a:ext cx="5058707" cy="2446552"/>
                <a:chOff x="963430" y="2629922"/>
                <a:chExt cx="5058707" cy="2446552"/>
              </a:xfrm>
            </p:grpSpPr>
            <p:grpSp>
              <p:nvGrpSpPr>
                <p:cNvPr id="346" name="Google Shape;346;p10"/>
                <p:cNvGrpSpPr/>
                <p:nvPr/>
              </p:nvGrpSpPr>
              <p:grpSpPr>
                <a:xfrm rot="-5400000">
                  <a:off x="4572421" y="3700954"/>
                  <a:ext cx="1649618" cy="1101423"/>
                  <a:chOff x="8202447" y="2775985"/>
                  <a:chExt cx="1566863" cy="909638"/>
                </a:xfrm>
              </p:grpSpPr>
              <p:sp>
                <p:nvSpPr>
                  <p:cNvPr id="347" name="Google Shape;347;p10"/>
                  <p:cNvSpPr/>
                  <p:nvPr/>
                </p:nvSpPr>
                <p:spPr>
                  <a:xfrm>
                    <a:off x="8694572" y="3002998"/>
                    <a:ext cx="1074738" cy="461963"/>
                  </a:xfrm>
                  <a:custGeom>
                    <a:avLst/>
                    <a:gdLst/>
                    <a:ahLst/>
                    <a:cxnLst/>
                    <a:rect l="l" t="t" r="r" b="b"/>
                    <a:pathLst>
                      <a:path w="677" h="291" extrusionOk="0">
                        <a:moveTo>
                          <a:pt x="386" y="0"/>
                        </a:moveTo>
                        <a:lnTo>
                          <a:pt x="0" y="0"/>
                        </a:lnTo>
                        <a:lnTo>
                          <a:pt x="0" y="144"/>
                        </a:lnTo>
                        <a:lnTo>
                          <a:pt x="0" y="291"/>
                        </a:lnTo>
                        <a:lnTo>
                          <a:pt x="677" y="291"/>
                        </a:lnTo>
                        <a:lnTo>
                          <a:pt x="386" y="0"/>
                        </a:lnTo>
                        <a:close/>
                      </a:path>
                    </a:pathLst>
                  </a:custGeom>
                  <a:solidFill>
                    <a:srgbClr val="3F97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48" name="Google Shape;348;p10"/>
                  <p:cNvSpPr/>
                  <p:nvPr/>
                </p:nvSpPr>
                <p:spPr>
                  <a:xfrm>
                    <a:off x="8202447" y="2775985"/>
                    <a:ext cx="492125" cy="909638"/>
                  </a:xfrm>
                  <a:custGeom>
                    <a:avLst/>
                    <a:gdLst/>
                    <a:ahLst/>
                    <a:cxnLst/>
                    <a:rect l="l" t="t" r="r" b="b"/>
                    <a:pathLst>
                      <a:path w="310" h="573" extrusionOk="0">
                        <a:moveTo>
                          <a:pt x="310" y="0"/>
                        </a:moveTo>
                        <a:lnTo>
                          <a:pt x="0" y="287"/>
                        </a:lnTo>
                        <a:lnTo>
                          <a:pt x="310" y="573"/>
                        </a:lnTo>
                        <a:lnTo>
                          <a:pt x="310" y="434"/>
                        </a:lnTo>
                        <a:lnTo>
                          <a:pt x="310" y="287"/>
                        </a:lnTo>
                        <a:lnTo>
                          <a:pt x="310" y="143"/>
                        </a:lnTo>
                        <a:lnTo>
                          <a:pt x="310" y="0"/>
                        </a:lnTo>
                        <a:close/>
                      </a:path>
                    </a:pathLst>
                  </a:custGeom>
                  <a:solidFill>
                    <a:srgbClr val="3F97C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349" name="Google Shape;349;p10"/>
                <p:cNvSpPr txBox="1"/>
                <p:nvPr/>
              </p:nvSpPr>
              <p:spPr>
                <a:xfrm>
                  <a:off x="963430" y="2629922"/>
                  <a:ext cx="5058707" cy="1437605"/>
                </a:xfrm>
                <a:prstGeom prst="rect">
                  <a:avLst/>
                </a:prstGeom>
                <a:solidFill>
                  <a:srgbClr val="3F97C0"/>
                </a:solidFill>
                <a:ln>
                  <a:noFill/>
                </a:ln>
              </p:spPr>
              <p:txBody>
                <a:bodyPr spcFirstLastPara="1" wrap="square" lIns="121900" tIns="60950" rIns="121900" bIns="60950" anchor="t" anchorCtr="0">
                  <a:noAutofit/>
                </a:bodyPr>
                <a:lstStyle/>
                <a:p>
                  <a:pPr marL="0" marR="0" lvl="0" indent="0" algn="ctr" rtl="0">
                    <a:lnSpc>
                      <a:spcPct val="100000"/>
                    </a:lnSpc>
                    <a:spcBef>
                      <a:spcPts val="0"/>
                    </a:spcBef>
                    <a:spcAft>
                      <a:spcPts val="0"/>
                    </a:spcAft>
                    <a:buClr>
                      <a:srgbClr val="A5A5A5"/>
                    </a:buClr>
                    <a:buSzPts val="2400"/>
                    <a:buFont typeface="Arial"/>
                    <a:buNone/>
                  </a:pPr>
                  <a:endParaRPr sz="2400" b="1" i="0" u="none" strike="noStrike" cap="none">
                    <a:solidFill>
                      <a:srgbClr val="F2F2F2"/>
                    </a:solidFill>
                    <a:latin typeface="Arial"/>
                    <a:ea typeface="Arial"/>
                    <a:cs typeface="Arial"/>
                    <a:sym typeface="Arial"/>
                  </a:endParaRPr>
                </a:p>
              </p:txBody>
            </p:sp>
          </p:grpSp>
          <p:sp>
            <p:nvSpPr>
              <p:cNvPr id="350" name="Google Shape;350;p10"/>
              <p:cNvSpPr txBox="1"/>
              <p:nvPr/>
            </p:nvSpPr>
            <p:spPr>
              <a:xfrm>
                <a:off x="1534886" y="2037357"/>
                <a:ext cx="3586507"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Open Sans"/>
                    <a:ea typeface="Open Sans"/>
                    <a:cs typeface="Open Sans"/>
                    <a:sym typeface="Open Sans"/>
                  </a:rPr>
                  <a:t>Databases</a:t>
                </a:r>
                <a:endParaRPr sz="1400" b="0" i="0" u="none" strike="noStrike" cap="none">
                  <a:solidFill>
                    <a:srgbClr val="000000"/>
                  </a:solidFill>
                  <a:latin typeface="Arial"/>
                  <a:ea typeface="Arial"/>
                  <a:cs typeface="Arial"/>
                  <a:sym typeface="Arial"/>
                </a:endParaRPr>
              </a:p>
            </p:txBody>
          </p:sp>
        </p:grpSp>
      </p:grpSp>
      <p:grpSp>
        <p:nvGrpSpPr>
          <p:cNvPr id="351" name="Google Shape;351;p10"/>
          <p:cNvGrpSpPr/>
          <p:nvPr/>
        </p:nvGrpSpPr>
        <p:grpSpPr>
          <a:xfrm>
            <a:off x="8885295" y="1454840"/>
            <a:ext cx="5058707" cy="7181586"/>
            <a:chOff x="8885295" y="1454840"/>
            <a:chExt cx="5058707" cy="7181586"/>
          </a:xfrm>
        </p:grpSpPr>
        <p:sp>
          <p:nvSpPr>
            <p:cNvPr id="352" name="Google Shape;352;p10"/>
            <p:cNvSpPr/>
            <p:nvPr/>
          </p:nvSpPr>
          <p:spPr>
            <a:xfrm>
              <a:off x="8885295" y="3052172"/>
              <a:ext cx="5058707" cy="5584254"/>
            </a:xfrm>
            <a:prstGeom prst="rect">
              <a:avLst/>
            </a:prstGeom>
            <a:solidFill>
              <a:srgbClr val="D8D8D8"/>
            </a:solidFill>
            <a:ln w="25400"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a:solidFill>
                  <a:schemeClr val="lt1"/>
                </a:solidFill>
                <a:latin typeface="Arial"/>
                <a:ea typeface="Arial"/>
                <a:cs typeface="Arial"/>
                <a:sym typeface="Arial"/>
              </a:endParaRPr>
            </a:p>
          </p:txBody>
        </p:sp>
        <p:sp>
          <p:nvSpPr>
            <p:cNvPr id="353" name="Google Shape;353;p10"/>
            <p:cNvSpPr/>
            <p:nvPr/>
          </p:nvSpPr>
          <p:spPr>
            <a:xfrm>
              <a:off x="9159543" y="3115032"/>
              <a:ext cx="4510033" cy="2377317"/>
            </a:xfrm>
            <a:prstGeom prst="rect">
              <a:avLst/>
            </a:prstGeom>
            <a:noFill/>
            <a:ln>
              <a:noFill/>
            </a:ln>
          </p:spPr>
          <p:txBody>
            <a:bodyPr spcFirstLastPara="1" wrap="square" lIns="91425" tIns="45700" rIns="91425" bIns="45700" anchor="t" anchorCtr="0">
              <a:spAutoFit/>
            </a:bodyPr>
            <a:lstStyle/>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XDoclet Spring</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J2EE</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Eclipse plug-ins</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Maven</a:t>
              </a:r>
              <a:endParaRPr sz="1400" b="0" i="0" u="none" strike="noStrike" cap="none">
                <a:solidFill>
                  <a:srgbClr val="000000"/>
                </a:solidFill>
                <a:latin typeface="Arial"/>
                <a:ea typeface="Arial"/>
                <a:cs typeface="Arial"/>
                <a:sym typeface="Arial"/>
              </a:endParaRPr>
            </a:p>
          </p:txBody>
        </p:sp>
        <p:grpSp>
          <p:nvGrpSpPr>
            <p:cNvPr id="354" name="Google Shape;354;p10"/>
            <p:cNvGrpSpPr/>
            <p:nvPr/>
          </p:nvGrpSpPr>
          <p:grpSpPr>
            <a:xfrm>
              <a:off x="8885295" y="1454840"/>
              <a:ext cx="5058707" cy="2446552"/>
              <a:chOff x="963430" y="1468871"/>
              <a:chExt cx="5058707" cy="2446552"/>
            </a:xfrm>
          </p:grpSpPr>
          <p:grpSp>
            <p:nvGrpSpPr>
              <p:cNvPr id="355" name="Google Shape;355;p10"/>
              <p:cNvGrpSpPr/>
              <p:nvPr/>
            </p:nvGrpSpPr>
            <p:grpSpPr>
              <a:xfrm>
                <a:off x="963430" y="1468871"/>
                <a:ext cx="5058707" cy="2446552"/>
                <a:chOff x="963430" y="2629922"/>
                <a:chExt cx="5058707" cy="2446552"/>
              </a:xfrm>
            </p:grpSpPr>
            <p:sp>
              <p:nvSpPr>
                <p:cNvPr id="356" name="Google Shape;356;p10"/>
                <p:cNvSpPr txBox="1"/>
                <p:nvPr/>
              </p:nvSpPr>
              <p:spPr>
                <a:xfrm>
                  <a:off x="963430" y="2629922"/>
                  <a:ext cx="5058707" cy="1437605"/>
                </a:xfrm>
                <a:prstGeom prst="rect">
                  <a:avLst/>
                </a:prstGeom>
                <a:solidFill>
                  <a:srgbClr val="F69E66"/>
                </a:solidFill>
                <a:ln>
                  <a:noFill/>
                </a:ln>
              </p:spPr>
              <p:txBody>
                <a:bodyPr spcFirstLastPara="1" wrap="square" lIns="121900" tIns="60950" rIns="121900" bIns="60950" anchor="t" anchorCtr="0">
                  <a:noAutofit/>
                </a:bodyPr>
                <a:lstStyle/>
                <a:p>
                  <a:pPr marL="0" marR="0" lvl="0" indent="0" algn="ctr" rtl="0">
                    <a:lnSpc>
                      <a:spcPct val="100000"/>
                    </a:lnSpc>
                    <a:spcBef>
                      <a:spcPts val="0"/>
                    </a:spcBef>
                    <a:spcAft>
                      <a:spcPts val="0"/>
                    </a:spcAft>
                    <a:buClr>
                      <a:srgbClr val="A5A5A5"/>
                    </a:buClr>
                    <a:buSzPts val="2400"/>
                    <a:buFont typeface="Arial"/>
                    <a:buNone/>
                  </a:pPr>
                  <a:endParaRPr sz="2400" b="1" i="0" u="none" strike="noStrike" cap="none">
                    <a:solidFill>
                      <a:srgbClr val="F2F2F2"/>
                    </a:solidFill>
                    <a:latin typeface="Arial"/>
                    <a:ea typeface="Arial"/>
                    <a:cs typeface="Arial"/>
                    <a:sym typeface="Arial"/>
                  </a:endParaRPr>
                </a:p>
              </p:txBody>
            </p:sp>
            <p:grpSp>
              <p:nvGrpSpPr>
                <p:cNvPr id="357" name="Google Shape;357;p10"/>
                <p:cNvGrpSpPr/>
                <p:nvPr/>
              </p:nvGrpSpPr>
              <p:grpSpPr>
                <a:xfrm rot="-5400000">
                  <a:off x="4572421" y="3700954"/>
                  <a:ext cx="1649618" cy="1101423"/>
                  <a:chOff x="8202447" y="2775985"/>
                  <a:chExt cx="1566863" cy="909638"/>
                </a:xfrm>
              </p:grpSpPr>
              <p:sp>
                <p:nvSpPr>
                  <p:cNvPr id="358" name="Google Shape;358;p10"/>
                  <p:cNvSpPr/>
                  <p:nvPr/>
                </p:nvSpPr>
                <p:spPr>
                  <a:xfrm>
                    <a:off x="8694572" y="3002998"/>
                    <a:ext cx="1074738" cy="461963"/>
                  </a:xfrm>
                  <a:custGeom>
                    <a:avLst/>
                    <a:gdLst/>
                    <a:ahLst/>
                    <a:cxnLst/>
                    <a:rect l="l" t="t" r="r" b="b"/>
                    <a:pathLst>
                      <a:path w="677" h="291" extrusionOk="0">
                        <a:moveTo>
                          <a:pt x="386" y="0"/>
                        </a:moveTo>
                        <a:lnTo>
                          <a:pt x="0" y="0"/>
                        </a:lnTo>
                        <a:lnTo>
                          <a:pt x="0" y="144"/>
                        </a:lnTo>
                        <a:lnTo>
                          <a:pt x="0" y="291"/>
                        </a:lnTo>
                        <a:lnTo>
                          <a:pt x="677" y="291"/>
                        </a:lnTo>
                        <a:lnTo>
                          <a:pt x="386" y="0"/>
                        </a:lnTo>
                        <a:close/>
                      </a:path>
                    </a:pathLst>
                  </a:custGeom>
                  <a:solidFill>
                    <a:srgbClr val="F69E6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59" name="Google Shape;359;p10"/>
                  <p:cNvSpPr/>
                  <p:nvPr/>
                </p:nvSpPr>
                <p:spPr>
                  <a:xfrm>
                    <a:off x="8202447" y="2775985"/>
                    <a:ext cx="492125" cy="909638"/>
                  </a:xfrm>
                  <a:custGeom>
                    <a:avLst/>
                    <a:gdLst/>
                    <a:ahLst/>
                    <a:cxnLst/>
                    <a:rect l="l" t="t" r="r" b="b"/>
                    <a:pathLst>
                      <a:path w="310" h="573" extrusionOk="0">
                        <a:moveTo>
                          <a:pt x="310" y="0"/>
                        </a:moveTo>
                        <a:lnTo>
                          <a:pt x="0" y="287"/>
                        </a:lnTo>
                        <a:lnTo>
                          <a:pt x="310" y="573"/>
                        </a:lnTo>
                        <a:lnTo>
                          <a:pt x="310" y="434"/>
                        </a:lnTo>
                        <a:lnTo>
                          <a:pt x="310" y="287"/>
                        </a:lnTo>
                        <a:lnTo>
                          <a:pt x="310" y="143"/>
                        </a:lnTo>
                        <a:lnTo>
                          <a:pt x="310" y="0"/>
                        </a:lnTo>
                        <a:close/>
                      </a:path>
                    </a:pathLst>
                  </a:custGeom>
                  <a:solidFill>
                    <a:srgbClr val="F69E66"/>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sp>
            <p:nvSpPr>
              <p:cNvPr id="360" name="Google Shape;360;p10"/>
              <p:cNvSpPr txBox="1"/>
              <p:nvPr/>
            </p:nvSpPr>
            <p:spPr>
              <a:xfrm>
                <a:off x="1534886" y="2037357"/>
                <a:ext cx="3586507"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Open Sans"/>
                    <a:ea typeface="Open Sans"/>
                    <a:cs typeface="Open Sans"/>
                    <a:sym typeface="Open Sans"/>
                  </a:rPr>
                  <a:t>Technologies</a:t>
                </a:r>
                <a:endParaRPr sz="1400" b="0" i="0" u="none" strike="noStrike" cap="none">
                  <a:solidFill>
                    <a:srgbClr val="000000"/>
                  </a:solidFill>
                  <a:latin typeface="Arial"/>
                  <a:ea typeface="Arial"/>
                  <a:cs typeface="Arial"/>
                  <a:sym typeface="Arial"/>
                </a:endParaRPr>
              </a:p>
            </p:txBody>
          </p:sp>
        </p:grpSp>
      </p:grpSp>
      <p:pic>
        <p:nvPicPr>
          <p:cNvPr id="361" name="Google Shape;361;p10"/>
          <p:cNvPicPr preferRelativeResize="0"/>
          <p:nvPr/>
        </p:nvPicPr>
        <p:blipFill rotWithShape="1">
          <a:blip r:embed="rId3">
            <a:alphaModFix/>
          </a:blip>
          <a:srcRect/>
          <a:stretch/>
        </p:blipFill>
        <p:spPr>
          <a:xfrm>
            <a:off x="1729861" y="603159"/>
            <a:ext cx="12801885" cy="36576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40"/>
                                        </p:tgtEl>
                                        <p:attrNameLst>
                                          <p:attrName>style.visibility</p:attrName>
                                        </p:attrNameLst>
                                      </p:cBhvr>
                                      <p:to>
                                        <p:strVal val="visible"/>
                                      </p:to>
                                    </p:set>
                                    <p:animEffect transition="in" filter="fade">
                                      <p:cBhvr>
                                        <p:cTn id="7" dur="500"/>
                                        <p:tgtEl>
                                          <p:spTgt spid="3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11"/>
          <p:cNvSpPr/>
          <p:nvPr/>
        </p:nvSpPr>
        <p:spPr>
          <a:xfrm>
            <a:off x="762017" y="2061325"/>
            <a:ext cx="14918992" cy="6646105"/>
          </a:xfrm>
          <a:prstGeom prst="rect">
            <a:avLst/>
          </a:prstGeom>
          <a:solidFill>
            <a:srgbClr val="F7F7F7"/>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Java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Arial"/>
                <a:ea typeface="Arial"/>
                <a:cs typeface="Arial"/>
                <a:sym typeface="Arial"/>
              </a:rPr>
              <a:t>Application</a:t>
            </a:r>
            <a:endParaRPr sz="1400" b="0" i="0" u="none" strike="noStrike" cap="none">
              <a:solidFill>
                <a:srgbClr val="000000"/>
              </a:solidFill>
              <a:latin typeface="Arial"/>
              <a:ea typeface="Arial"/>
              <a:cs typeface="Arial"/>
              <a:sym typeface="Arial"/>
            </a:endParaRPr>
          </a:p>
        </p:txBody>
      </p:sp>
      <p:sp>
        <p:nvSpPr>
          <p:cNvPr id="368" name="Google Shape;368;p11"/>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High-Level Hibernate Architecture</a:t>
            </a:r>
            <a:endParaRPr/>
          </a:p>
        </p:txBody>
      </p:sp>
      <p:sp>
        <p:nvSpPr>
          <p:cNvPr id="369" name="Google Shape;369;p11" descr="hibernate architecture"/>
          <p:cNvSpPr/>
          <p:nvPr/>
        </p:nvSpPr>
        <p:spPr>
          <a:xfrm>
            <a:off x="8960894" y="4544244"/>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70" name="Google Shape;370;p11"/>
          <p:cNvSpPr/>
          <p:nvPr/>
        </p:nvSpPr>
        <p:spPr>
          <a:xfrm>
            <a:off x="3940770" y="2363558"/>
            <a:ext cx="6677013" cy="6106064"/>
          </a:xfrm>
          <a:prstGeom prst="rect">
            <a:avLst/>
          </a:prstGeom>
          <a:solidFill>
            <a:srgbClr val="DDEAF6"/>
          </a:solidFill>
          <a:ln w="28575"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1" name="Google Shape;371;p11"/>
          <p:cNvSpPr/>
          <p:nvPr/>
        </p:nvSpPr>
        <p:spPr>
          <a:xfrm>
            <a:off x="7814115" y="4852288"/>
            <a:ext cx="2041189" cy="1775953"/>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Session Factory</a:t>
            </a:r>
            <a:endParaRPr sz="1400" b="0" i="0" u="none" strike="noStrike" cap="none">
              <a:solidFill>
                <a:srgbClr val="000000"/>
              </a:solidFill>
              <a:latin typeface="Arial"/>
              <a:ea typeface="Arial"/>
              <a:cs typeface="Arial"/>
              <a:sym typeface="Arial"/>
            </a:endParaRPr>
          </a:p>
        </p:txBody>
      </p:sp>
      <p:sp>
        <p:nvSpPr>
          <p:cNvPr id="372" name="Google Shape;372;p11"/>
          <p:cNvSpPr/>
          <p:nvPr/>
        </p:nvSpPr>
        <p:spPr>
          <a:xfrm>
            <a:off x="4622619" y="3476484"/>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Configuration</a:t>
            </a:r>
            <a:endParaRPr sz="1400" b="0" i="0" u="none" strike="noStrike" cap="none">
              <a:solidFill>
                <a:srgbClr val="000000"/>
              </a:solidFill>
              <a:latin typeface="Arial"/>
              <a:ea typeface="Arial"/>
              <a:cs typeface="Arial"/>
              <a:sym typeface="Arial"/>
            </a:endParaRPr>
          </a:p>
        </p:txBody>
      </p:sp>
      <p:sp>
        <p:nvSpPr>
          <p:cNvPr id="373" name="Google Shape;373;p11"/>
          <p:cNvSpPr/>
          <p:nvPr/>
        </p:nvSpPr>
        <p:spPr>
          <a:xfrm>
            <a:off x="7499484" y="3476483"/>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Transaction</a:t>
            </a:r>
            <a:endParaRPr sz="1400" b="0" i="0" u="none" strike="noStrike" cap="none">
              <a:solidFill>
                <a:srgbClr val="000000"/>
              </a:solidFill>
              <a:latin typeface="Arial"/>
              <a:ea typeface="Arial"/>
              <a:cs typeface="Arial"/>
              <a:sym typeface="Arial"/>
            </a:endParaRPr>
          </a:p>
        </p:txBody>
      </p:sp>
      <p:sp>
        <p:nvSpPr>
          <p:cNvPr id="374" name="Google Shape;374;p11"/>
          <p:cNvSpPr/>
          <p:nvPr/>
        </p:nvSpPr>
        <p:spPr>
          <a:xfrm>
            <a:off x="4973886" y="4876918"/>
            <a:ext cx="2041189" cy="1775954"/>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Session</a:t>
            </a:r>
            <a:endParaRPr sz="1400" b="0" i="0" u="none" strike="noStrike" cap="none">
              <a:solidFill>
                <a:srgbClr val="000000"/>
              </a:solidFill>
              <a:latin typeface="Arial"/>
              <a:ea typeface="Arial"/>
              <a:cs typeface="Arial"/>
              <a:sym typeface="Arial"/>
            </a:endParaRPr>
          </a:p>
        </p:txBody>
      </p:sp>
      <p:sp>
        <p:nvSpPr>
          <p:cNvPr id="375" name="Google Shape;375;p11"/>
          <p:cNvSpPr/>
          <p:nvPr/>
        </p:nvSpPr>
        <p:spPr>
          <a:xfrm>
            <a:off x="4622619" y="7224468"/>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Query</a:t>
            </a:r>
            <a:endParaRPr sz="1400" b="0" i="0" u="none" strike="noStrike" cap="none">
              <a:solidFill>
                <a:srgbClr val="000000"/>
              </a:solidFill>
              <a:latin typeface="Arial"/>
              <a:ea typeface="Arial"/>
              <a:cs typeface="Arial"/>
              <a:sym typeface="Arial"/>
            </a:endParaRPr>
          </a:p>
        </p:txBody>
      </p:sp>
      <p:sp>
        <p:nvSpPr>
          <p:cNvPr id="376" name="Google Shape;376;p11"/>
          <p:cNvSpPr/>
          <p:nvPr/>
        </p:nvSpPr>
        <p:spPr>
          <a:xfrm flipH="1">
            <a:off x="11033019" y="2363558"/>
            <a:ext cx="2494404" cy="6106064"/>
          </a:xfrm>
          <a:prstGeom prst="rect">
            <a:avLst/>
          </a:prstGeom>
          <a:solidFill>
            <a:srgbClr val="FFF2CC"/>
          </a:solidFill>
          <a:ln w="28575"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77" name="Google Shape;377;p11"/>
          <p:cNvSpPr/>
          <p:nvPr/>
        </p:nvSpPr>
        <p:spPr>
          <a:xfrm>
            <a:off x="11461278" y="4227718"/>
            <a:ext cx="1663930" cy="822504"/>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JNDI</a:t>
            </a:r>
            <a:endParaRPr sz="1400" b="0" i="0" u="none" strike="noStrike" cap="none">
              <a:solidFill>
                <a:srgbClr val="000000"/>
              </a:solidFill>
              <a:latin typeface="Arial"/>
              <a:ea typeface="Arial"/>
              <a:cs typeface="Arial"/>
              <a:sym typeface="Arial"/>
            </a:endParaRPr>
          </a:p>
        </p:txBody>
      </p:sp>
      <p:sp>
        <p:nvSpPr>
          <p:cNvPr id="378" name="Google Shape;378;p11"/>
          <p:cNvSpPr/>
          <p:nvPr/>
        </p:nvSpPr>
        <p:spPr>
          <a:xfrm>
            <a:off x="11461278" y="5412183"/>
            <a:ext cx="1663930" cy="822504"/>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JDBC</a:t>
            </a:r>
            <a:endParaRPr sz="1400" b="0" i="0" u="none" strike="noStrike" cap="none">
              <a:solidFill>
                <a:srgbClr val="000000"/>
              </a:solidFill>
              <a:latin typeface="Arial"/>
              <a:ea typeface="Arial"/>
              <a:cs typeface="Arial"/>
              <a:sym typeface="Arial"/>
            </a:endParaRPr>
          </a:p>
        </p:txBody>
      </p:sp>
      <p:sp>
        <p:nvSpPr>
          <p:cNvPr id="379" name="Google Shape;379;p11"/>
          <p:cNvSpPr/>
          <p:nvPr/>
        </p:nvSpPr>
        <p:spPr>
          <a:xfrm>
            <a:off x="11448257" y="6596649"/>
            <a:ext cx="1663930" cy="822504"/>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JTA</a:t>
            </a:r>
            <a:endParaRPr sz="1400" b="0" i="0" u="none" strike="noStrike" cap="none">
              <a:solidFill>
                <a:srgbClr val="000000"/>
              </a:solidFill>
              <a:latin typeface="Arial"/>
              <a:ea typeface="Arial"/>
              <a:cs typeface="Arial"/>
              <a:sym typeface="Arial"/>
            </a:endParaRPr>
          </a:p>
        </p:txBody>
      </p:sp>
      <p:pic>
        <p:nvPicPr>
          <p:cNvPr id="380" name="Google Shape;380;p11"/>
          <p:cNvPicPr preferRelativeResize="0"/>
          <p:nvPr/>
        </p:nvPicPr>
        <p:blipFill rotWithShape="1">
          <a:blip r:embed="rId3">
            <a:alphaModFix/>
          </a:blip>
          <a:srcRect/>
          <a:stretch/>
        </p:blipFill>
        <p:spPr>
          <a:xfrm>
            <a:off x="13808520" y="4614687"/>
            <a:ext cx="1620000" cy="1620000"/>
          </a:xfrm>
          <a:prstGeom prst="rect">
            <a:avLst/>
          </a:prstGeom>
          <a:noFill/>
          <a:ln>
            <a:noFill/>
          </a:ln>
        </p:spPr>
      </p:pic>
      <p:sp>
        <p:nvSpPr>
          <p:cNvPr id="381" name="Google Shape;381;p11"/>
          <p:cNvSpPr/>
          <p:nvPr/>
        </p:nvSpPr>
        <p:spPr>
          <a:xfrm flipH="1">
            <a:off x="1030492" y="2363558"/>
            <a:ext cx="2494404" cy="6106064"/>
          </a:xfrm>
          <a:prstGeom prst="rect">
            <a:avLst/>
          </a:prstGeom>
          <a:solidFill>
            <a:srgbClr val="E1EFD8"/>
          </a:solidFill>
          <a:ln w="28575"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82" name="Google Shape;382;p11"/>
          <p:cNvSpPr/>
          <p:nvPr/>
        </p:nvSpPr>
        <p:spPr>
          <a:xfrm>
            <a:off x="7499484" y="7170345"/>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Criteria</a:t>
            </a:r>
            <a:endParaRPr sz="1400" b="0" i="0" u="none" strike="noStrike" cap="none">
              <a:solidFill>
                <a:srgbClr val="000000"/>
              </a:solidFill>
              <a:latin typeface="Arial"/>
              <a:ea typeface="Arial"/>
              <a:cs typeface="Arial"/>
              <a:sym typeface="Arial"/>
            </a:endParaRPr>
          </a:p>
        </p:txBody>
      </p:sp>
      <p:sp>
        <p:nvSpPr>
          <p:cNvPr id="383" name="Google Shape;383;p11"/>
          <p:cNvSpPr/>
          <p:nvPr/>
        </p:nvSpPr>
        <p:spPr>
          <a:xfrm>
            <a:off x="2824828" y="3560151"/>
            <a:ext cx="1567412" cy="4360228"/>
          </a:xfrm>
          <a:prstGeom prst="rect">
            <a:avLst/>
          </a:prstGeom>
          <a:solidFill>
            <a:srgbClr val="FFE699"/>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000000"/>
                </a:solidFill>
                <a:latin typeface="Open Sans"/>
                <a:ea typeface="Open Sans"/>
                <a:cs typeface="Open Sans"/>
                <a:sym typeface="Open Sans"/>
              </a:rPr>
              <a:t>Persistent Object</a:t>
            </a:r>
            <a:endParaRPr sz="1400" b="0" i="0" u="none" strike="noStrike" cap="none">
              <a:solidFill>
                <a:srgbClr val="000000"/>
              </a:solidFill>
              <a:latin typeface="Arial"/>
              <a:ea typeface="Arial"/>
              <a:cs typeface="Arial"/>
              <a:sym typeface="Arial"/>
            </a:endParaRPr>
          </a:p>
        </p:txBody>
      </p:sp>
      <p:sp>
        <p:nvSpPr>
          <p:cNvPr id="384" name="Google Shape;384;p11"/>
          <p:cNvSpPr txBox="1"/>
          <p:nvPr/>
        </p:nvSpPr>
        <p:spPr>
          <a:xfrm>
            <a:off x="1097930" y="2667594"/>
            <a:ext cx="2721042"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Java Application</a:t>
            </a:r>
            <a:endParaRPr sz="1400" b="0" i="0" u="none" strike="noStrike" cap="none">
              <a:solidFill>
                <a:srgbClr val="000000"/>
              </a:solidFill>
              <a:latin typeface="Arial"/>
              <a:ea typeface="Arial"/>
              <a:cs typeface="Arial"/>
              <a:sym typeface="Arial"/>
            </a:endParaRPr>
          </a:p>
        </p:txBody>
      </p:sp>
      <p:sp>
        <p:nvSpPr>
          <p:cNvPr id="385" name="Google Shape;385;p11"/>
          <p:cNvSpPr txBox="1"/>
          <p:nvPr/>
        </p:nvSpPr>
        <p:spPr>
          <a:xfrm>
            <a:off x="5983362" y="2667594"/>
            <a:ext cx="2721042"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Hibernate</a:t>
            </a:r>
            <a:endParaRPr sz="1400" b="0" i="0" u="none" strike="noStrike" cap="none">
              <a:solidFill>
                <a:srgbClr val="000000"/>
              </a:solidFill>
              <a:latin typeface="Arial"/>
              <a:ea typeface="Arial"/>
              <a:cs typeface="Arial"/>
              <a:sym typeface="Arial"/>
            </a:endParaRPr>
          </a:p>
        </p:txBody>
      </p:sp>
      <p:sp>
        <p:nvSpPr>
          <p:cNvPr id="386" name="Google Shape;386;p11"/>
          <p:cNvSpPr txBox="1"/>
          <p:nvPr/>
        </p:nvSpPr>
        <p:spPr>
          <a:xfrm>
            <a:off x="11238083" y="2655481"/>
            <a:ext cx="2210963"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APIs used by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Hibernate</a:t>
            </a:r>
            <a:endParaRPr sz="1400" b="0" i="0" u="none" strike="noStrike" cap="none">
              <a:solidFill>
                <a:srgbClr val="000000"/>
              </a:solidFill>
              <a:latin typeface="Arial"/>
              <a:ea typeface="Arial"/>
              <a:cs typeface="Arial"/>
              <a:sym typeface="Arial"/>
            </a:endParaRPr>
          </a:p>
        </p:txBody>
      </p:sp>
      <p:sp>
        <p:nvSpPr>
          <p:cNvPr id="387" name="Google Shape;387;p11"/>
          <p:cNvSpPr txBox="1"/>
          <p:nvPr/>
        </p:nvSpPr>
        <p:spPr>
          <a:xfrm>
            <a:off x="13782095" y="6286184"/>
            <a:ext cx="1620000" cy="46166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Database</a:t>
            </a:r>
            <a:endParaRPr sz="1400" b="0" i="0" u="none" strike="noStrike" cap="none">
              <a:solidFill>
                <a:srgbClr val="000000"/>
              </a:solidFill>
              <a:latin typeface="Arial"/>
              <a:ea typeface="Arial"/>
              <a:cs typeface="Arial"/>
              <a:sym typeface="Arial"/>
            </a:endParaRPr>
          </a:p>
        </p:txBody>
      </p:sp>
      <p:sp>
        <p:nvSpPr>
          <p:cNvPr id="388" name="Google Shape;388;p11"/>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Hibernate is a layered architecture that has Java Application layer, Hibernate layer, Backend API layer, and Database layer.</a:t>
            </a:r>
            <a:endParaRPr sz="2200" b="0" i="0" u="none" strike="noStrike" cap="none">
              <a:solidFill>
                <a:srgbClr val="3F3F3F"/>
              </a:solidFill>
              <a:latin typeface="Open Sans"/>
              <a:ea typeface="Open Sans"/>
              <a:cs typeface="Open Sans"/>
              <a:sym typeface="Open Sans"/>
            </a:endParaRPr>
          </a:p>
        </p:txBody>
      </p:sp>
      <p:pic>
        <p:nvPicPr>
          <p:cNvPr id="389" name="Google Shape;389;p11"/>
          <p:cNvPicPr preferRelativeResize="0"/>
          <p:nvPr/>
        </p:nvPicPr>
        <p:blipFill rotWithShape="1">
          <a:blip r:embed="rId4">
            <a:alphaModFix/>
          </a:blip>
          <a:srcRect/>
          <a:stretch/>
        </p:blipFill>
        <p:spPr>
          <a:xfrm>
            <a:off x="3758874" y="603159"/>
            <a:ext cx="8743859" cy="36576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94"/>
        <p:cNvGrpSpPr/>
        <p:nvPr/>
      </p:nvGrpSpPr>
      <p:grpSpPr>
        <a:xfrm>
          <a:off x="0" y="0"/>
          <a:ext cx="0" cy="0"/>
          <a:chOff x="0" y="0"/>
          <a:chExt cx="0" cy="0"/>
        </a:xfrm>
      </p:grpSpPr>
      <p:sp>
        <p:nvSpPr>
          <p:cNvPr id="395" name="Google Shape;395;p12"/>
          <p:cNvSpPr/>
          <p:nvPr/>
        </p:nvSpPr>
        <p:spPr>
          <a:xfrm>
            <a:off x="1100182" y="1700249"/>
            <a:ext cx="14055635" cy="6335786"/>
          </a:xfrm>
          <a:prstGeom prst="rect">
            <a:avLst/>
          </a:prstGeom>
          <a:solidFill>
            <a:srgbClr val="F7F7F7"/>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396" name="Google Shape;396;p12"/>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Hibernate Architecture</a:t>
            </a:r>
            <a:endParaRPr/>
          </a:p>
        </p:txBody>
      </p:sp>
      <p:sp>
        <p:nvSpPr>
          <p:cNvPr id="397" name="Google Shape;397;p12" descr="hibernate architecture"/>
          <p:cNvSpPr/>
          <p:nvPr/>
        </p:nvSpPr>
        <p:spPr>
          <a:xfrm>
            <a:off x="9355687" y="4081856"/>
            <a:ext cx="304800" cy="3048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398" name="Google Shape;398;p12"/>
          <p:cNvSpPr/>
          <p:nvPr/>
        </p:nvSpPr>
        <p:spPr>
          <a:xfrm>
            <a:off x="5609837" y="4418085"/>
            <a:ext cx="2041189"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Session Factory</a:t>
            </a:r>
            <a:endParaRPr sz="1400" b="0" i="0" u="none" strike="noStrike" cap="none">
              <a:solidFill>
                <a:srgbClr val="000000"/>
              </a:solidFill>
              <a:latin typeface="Arial"/>
              <a:ea typeface="Arial"/>
              <a:cs typeface="Arial"/>
              <a:sym typeface="Arial"/>
            </a:endParaRPr>
          </a:p>
        </p:txBody>
      </p:sp>
      <p:sp>
        <p:nvSpPr>
          <p:cNvPr id="399" name="Google Shape;399;p12"/>
          <p:cNvSpPr/>
          <p:nvPr/>
        </p:nvSpPr>
        <p:spPr>
          <a:xfrm>
            <a:off x="1687090" y="4418085"/>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Configuration</a:t>
            </a:r>
            <a:endParaRPr sz="1400" b="0" i="0" u="none" strike="noStrike" cap="none">
              <a:solidFill>
                <a:srgbClr val="000000"/>
              </a:solidFill>
              <a:latin typeface="Arial"/>
              <a:ea typeface="Arial"/>
              <a:cs typeface="Arial"/>
              <a:sym typeface="Arial"/>
            </a:endParaRPr>
          </a:p>
        </p:txBody>
      </p:sp>
      <p:sp>
        <p:nvSpPr>
          <p:cNvPr id="400" name="Google Shape;400;p12"/>
          <p:cNvSpPr/>
          <p:nvPr/>
        </p:nvSpPr>
        <p:spPr>
          <a:xfrm>
            <a:off x="11833407" y="2191034"/>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Transaction</a:t>
            </a:r>
            <a:endParaRPr sz="1400" b="0" i="0" u="none" strike="noStrike" cap="none">
              <a:solidFill>
                <a:srgbClr val="000000"/>
              </a:solidFill>
              <a:latin typeface="Arial"/>
              <a:ea typeface="Arial"/>
              <a:cs typeface="Arial"/>
              <a:sym typeface="Arial"/>
            </a:endParaRPr>
          </a:p>
        </p:txBody>
      </p:sp>
      <p:sp>
        <p:nvSpPr>
          <p:cNvPr id="401" name="Google Shape;401;p12"/>
          <p:cNvSpPr/>
          <p:nvPr/>
        </p:nvSpPr>
        <p:spPr>
          <a:xfrm>
            <a:off x="8435482" y="4418085"/>
            <a:ext cx="2041189"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Session</a:t>
            </a:r>
            <a:endParaRPr sz="1400" b="0" i="0" u="none" strike="noStrike" cap="none">
              <a:solidFill>
                <a:srgbClr val="000000"/>
              </a:solidFill>
              <a:latin typeface="Arial"/>
              <a:ea typeface="Arial"/>
              <a:cs typeface="Arial"/>
              <a:sym typeface="Arial"/>
            </a:endParaRPr>
          </a:p>
        </p:txBody>
      </p:sp>
      <p:sp>
        <p:nvSpPr>
          <p:cNvPr id="402" name="Google Shape;402;p12"/>
          <p:cNvSpPr/>
          <p:nvPr/>
        </p:nvSpPr>
        <p:spPr>
          <a:xfrm>
            <a:off x="11844805" y="4418085"/>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Query</a:t>
            </a:r>
            <a:endParaRPr sz="1400" b="0" i="0" u="none" strike="noStrike" cap="none">
              <a:solidFill>
                <a:srgbClr val="000000"/>
              </a:solidFill>
              <a:latin typeface="Arial"/>
              <a:ea typeface="Arial"/>
              <a:cs typeface="Arial"/>
              <a:sym typeface="Arial"/>
            </a:endParaRPr>
          </a:p>
        </p:txBody>
      </p:sp>
      <p:sp>
        <p:nvSpPr>
          <p:cNvPr id="403" name="Google Shape;403;p12"/>
          <p:cNvSpPr/>
          <p:nvPr/>
        </p:nvSpPr>
        <p:spPr>
          <a:xfrm>
            <a:off x="11833407" y="6645136"/>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Criteria</a:t>
            </a:r>
            <a:endParaRPr sz="1400" b="0" i="0" u="none" strike="noStrike" cap="none">
              <a:solidFill>
                <a:srgbClr val="000000"/>
              </a:solidFill>
              <a:latin typeface="Arial"/>
              <a:ea typeface="Arial"/>
              <a:cs typeface="Arial"/>
              <a:sym typeface="Arial"/>
            </a:endParaRPr>
          </a:p>
        </p:txBody>
      </p:sp>
      <p:sp>
        <p:nvSpPr>
          <p:cNvPr id="404" name="Google Shape;404;p12"/>
          <p:cNvSpPr/>
          <p:nvPr/>
        </p:nvSpPr>
        <p:spPr>
          <a:xfrm>
            <a:off x="1687090" y="2191034"/>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Mapping Information</a:t>
            </a:r>
            <a:endParaRPr sz="1400" b="0" i="0" u="none" strike="noStrike" cap="none">
              <a:solidFill>
                <a:srgbClr val="000000"/>
              </a:solidFill>
              <a:latin typeface="Arial"/>
              <a:ea typeface="Arial"/>
              <a:cs typeface="Arial"/>
              <a:sym typeface="Arial"/>
            </a:endParaRPr>
          </a:p>
        </p:txBody>
      </p:sp>
      <p:sp>
        <p:nvSpPr>
          <p:cNvPr id="405" name="Google Shape;405;p12"/>
          <p:cNvSpPr/>
          <p:nvPr/>
        </p:nvSpPr>
        <p:spPr>
          <a:xfrm>
            <a:off x="1687090" y="6645136"/>
            <a:ext cx="2670452" cy="859971"/>
          </a:xfrm>
          <a:prstGeom prst="rect">
            <a:avLst/>
          </a:prstGeom>
          <a:solidFill>
            <a:schemeClr val="accent1"/>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DB Information</a:t>
            </a:r>
            <a:endParaRPr sz="1400" b="0" i="0" u="none" strike="noStrike" cap="none">
              <a:solidFill>
                <a:srgbClr val="000000"/>
              </a:solidFill>
              <a:latin typeface="Arial"/>
              <a:ea typeface="Arial"/>
              <a:cs typeface="Arial"/>
              <a:sym typeface="Arial"/>
            </a:endParaRPr>
          </a:p>
        </p:txBody>
      </p:sp>
      <p:cxnSp>
        <p:nvCxnSpPr>
          <p:cNvPr id="406" name="Google Shape;406;p12"/>
          <p:cNvCxnSpPr>
            <a:stCxn id="399" idx="0"/>
            <a:endCxn id="404" idx="2"/>
          </p:cNvCxnSpPr>
          <p:nvPr/>
        </p:nvCxnSpPr>
        <p:spPr>
          <a:xfrm rot="10800000">
            <a:off x="3022316" y="3050985"/>
            <a:ext cx="0" cy="1367100"/>
          </a:xfrm>
          <a:prstGeom prst="straightConnector1">
            <a:avLst/>
          </a:prstGeom>
          <a:noFill/>
          <a:ln w="38100" cap="flat" cmpd="sng">
            <a:solidFill>
              <a:srgbClr val="5597D3"/>
            </a:solidFill>
            <a:prstDash val="solid"/>
            <a:round/>
            <a:headEnd type="none" w="sm" len="sm"/>
            <a:tailEnd type="triangle" w="med" len="med"/>
          </a:ln>
        </p:spPr>
      </p:cxnSp>
      <p:cxnSp>
        <p:nvCxnSpPr>
          <p:cNvPr id="407" name="Google Shape;407;p12"/>
          <p:cNvCxnSpPr>
            <a:stCxn id="399" idx="2"/>
            <a:endCxn id="405" idx="0"/>
          </p:cNvCxnSpPr>
          <p:nvPr/>
        </p:nvCxnSpPr>
        <p:spPr>
          <a:xfrm>
            <a:off x="3022316" y="5278056"/>
            <a:ext cx="0" cy="1367100"/>
          </a:xfrm>
          <a:prstGeom prst="straightConnector1">
            <a:avLst/>
          </a:prstGeom>
          <a:noFill/>
          <a:ln w="38100" cap="flat" cmpd="sng">
            <a:solidFill>
              <a:srgbClr val="5597D3"/>
            </a:solidFill>
            <a:prstDash val="solid"/>
            <a:round/>
            <a:headEnd type="none" w="sm" len="sm"/>
            <a:tailEnd type="triangle" w="med" len="med"/>
          </a:ln>
        </p:spPr>
      </p:cxnSp>
      <p:cxnSp>
        <p:nvCxnSpPr>
          <p:cNvPr id="408" name="Google Shape;408;p12"/>
          <p:cNvCxnSpPr>
            <a:stCxn id="399" idx="3"/>
            <a:endCxn id="398" idx="1"/>
          </p:cNvCxnSpPr>
          <p:nvPr/>
        </p:nvCxnSpPr>
        <p:spPr>
          <a:xfrm>
            <a:off x="4357542" y="4848071"/>
            <a:ext cx="1252200" cy="0"/>
          </a:xfrm>
          <a:prstGeom prst="straightConnector1">
            <a:avLst/>
          </a:prstGeom>
          <a:noFill/>
          <a:ln w="38100" cap="flat" cmpd="sng">
            <a:solidFill>
              <a:srgbClr val="5597D3"/>
            </a:solidFill>
            <a:prstDash val="solid"/>
            <a:round/>
            <a:headEnd type="none" w="sm" len="sm"/>
            <a:tailEnd type="triangle" w="med" len="med"/>
          </a:ln>
        </p:spPr>
      </p:cxnSp>
      <p:cxnSp>
        <p:nvCxnSpPr>
          <p:cNvPr id="409" name="Google Shape;409;p12"/>
          <p:cNvCxnSpPr>
            <a:stCxn id="398" idx="3"/>
            <a:endCxn id="401" idx="1"/>
          </p:cNvCxnSpPr>
          <p:nvPr/>
        </p:nvCxnSpPr>
        <p:spPr>
          <a:xfrm>
            <a:off x="7651026" y="4848071"/>
            <a:ext cx="784500" cy="0"/>
          </a:xfrm>
          <a:prstGeom prst="straightConnector1">
            <a:avLst/>
          </a:prstGeom>
          <a:noFill/>
          <a:ln w="38100" cap="flat" cmpd="sng">
            <a:solidFill>
              <a:srgbClr val="5597D3"/>
            </a:solidFill>
            <a:prstDash val="solid"/>
            <a:round/>
            <a:headEnd type="none" w="sm" len="sm"/>
            <a:tailEnd type="triangle" w="med" len="med"/>
          </a:ln>
        </p:spPr>
      </p:cxnSp>
      <p:cxnSp>
        <p:nvCxnSpPr>
          <p:cNvPr id="410" name="Google Shape;410;p12"/>
          <p:cNvCxnSpPr>
            <a:stCxn id="401" idx="3"/>
            <a:endCxn id="400" idx="1"/>
          </p:cNvCxnSpPr>
          <p:nvPr/>
        </p:nvCxnSpPr>
        <p:spPr>
          <a:xfrm rot="10800000" flipH="1">
            <a:off x="10476671" y="2620871"/>
            <a:ext cx="1356600" cy="2227200"/>
          </a:xfrm>
          <a:prstGeom prst="bentConnector3">
            <a:avLst>
              <a:gd name="adj1" fmla="val 50000"/>
            </a:avLst>
          </a:prstGeom>
          <a:noFill/>
          <a:ln w="38100" cap="flat" cmpd="sng">
            <a:solidFill>
              <a:srgbClr val="5597D3"/>
            </a:solidFill>
            <a:prstDash val="solid"/>
            <a:round/>
            <a:headEnd type="none" w="sm" len="sm"/>
            <a:tailEnd type="triangle" w="med" len="med"/>
          </a:ln>
        </p:spPr>
      </p:cxnSp>
      <p:cxnSp>
        <p:nvCxnSpPr>
          <p:cNvPr id="411" name="Google Shape;411;p12"/>
          <p:cNvCxnSpPr>
            <a:stCxn id="401" idx="3"/>
            <a:endCxn id="403" idx="1"/>
          </p:cNvCxnSpPr>
          <p:nvPr/>
        </p:nvCxnSpPr>
        <p:spPr>
          <a:xfrm>
            <a:off x="10476671" y="4848071"/>
            <a:ext cx="1356600" cy="2227200"/>
          </a:xfrm>
          <a:prstGeom prst="bentConnector3">
            <a:avLst>
              <a:gd name="adj1" fmla="val 50005"/>
            </a:avLst>
          </a:prstGeom>
          <a:noFill/>
          <a:ln w="38100" cap="flat" cmpd="sng">
            <a:solidFill>
              <a:srgbClr val="5597D3"/>
            </a:solidFill>
            <a:prstDash val="solid"/>
            <a:round/>
            <a:headEnd type="none" w="sm" len="sm"/>
            <a:tailEnd type="triangle" w="med" len="med"/>
          </a:ln>
        </p:spPr>
      </p:cxnSp>
      <p:cxnSp>
        <p:nvCxnSpPr>
          <p:cNvPr id="412" name="Google Shape;412;p12"/>
          <p:cNvCxnSpPr>
            <a:endCxn id="402" idx="1"/>
          </p:cNvCxnSpPr>
          <p:nvPr/>
        </p:nvCxnSpPr>
        <p:spPr>
          <a:xfrm rot="10800000" flipH="1">
            <a:off x="10689205" y="4848071"/>
            <a:ext cx="1155600" cy="11400"/>
          </a:xfrm>
          <a:prstGeom prst="straightConnector1">
            <a:avLst/>
          </a:prstGeom>
          <a:noFill/>
          <a:ln w="38100" cap="flat" cmpd="sng">
            <a:solidFill>
              <a:srgbClr val="5597D3"/>
            </a:solidFill>
            <a:prstDash val="solid"/>
            <a:round/>
            <a:headEnd type="none" w="sm" len="sm"/>
            <a:tailEnd type="triangle" w="med" len="med"/>
          </a:ln>
        </p:spPr>
      </p:cxnSp>
      <p:sp>
        <p:nvSpPr>
          <p:cNvPr id="413" name="Google Shape;413;p12"/>
          <p:cNvSpPr txBox="1"/>
          <p:nvPr/>
        </p:nvSpPr>
        <p:spPr>
          <a:xfrm>
            <a:off x="9456076" y="2099444"/>
            <a:ext cx="247772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pen Sans"/>
                <a:ea typeface="Open Sans"/>
                <a:cs typeface="Open Sans"/>
                <a:sym typeface="Open Sans"/>
              </a:rPr>
              <a:t>beginTransaction()</a:t>
            </a:r>
            <a:endParaRPr sz="1400" b="0" i="0" u="none" strike="noStrike" cap="none">
              <a:solidFill>
                <a:srgbClr val="000000"/>
              </a:solidFill>
              <a:latin typeface="Arial"/>
              <a:ea typeface="Arial"/>
              <a:cs typeface="Arial"/>
              <a:sym typeface="Arial"/>
            </a:endParaRPr>
          </a:p>
        </p:txBody>
      </p:sp>
      <p:sp>
        <p:nvSpPr>
          <p:cNvPr id="414" name="Google Shape;414;p12"/>
          <p:cNvSpPr txBox="1"/>
          <p:nvPr/>
        </p:nvSpPr>
        <p:spPr>
          <a:xfrm>
            <a:off x="9355687" y="7126040"/>
            <a:ext cx="2477720" cy="400110"/>
          </a:xfrm>
          <a:prstGeom prst="rect">
            <a:avLst/>
          </a:prstGeom>
          <a:noFill/>
          <a:ln>
            <a:noFill/>
          </a:ln>
        </p:spPr>
        <p:txBody>
          <a:bodyPr spcFirstLastPara="1" wrap="square" lIns="91425" tIns="45700" rIns="91425" bIns="45700" anchor="t" anchorCtr="0">
            <a:spAutoFit/>
          </a:bodyPr>
          <a:lstStyle/>
          <a:p>
            <a:pPr marL="0" marR="0" lvl="0" indent="0" algn="r"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pen Sans"/>
                <a:ea typeface="Open Sans"/>
                <a:cs typeface="Open Sans"/>
                <a:sym typeface="Open Sans"/>
              </a:rPr>
              <a:t>createCriteria()</a:t>
            </a:r>
            <a:endParaRPr sz="1400" b="0" i="0" u="none" strike="noStrike" cap="none">
              <a:solidFill>
                <a:srgbClr val="000000"/>
              </a:solidFill>
              <a:latin typeface="Arial"/>
              <a:ea typeface="Arial"/>
              <a:cs typeface="Arial"/>
              <a:sym typeface="Arial"/>
            </a:endParaRPr>
          </a:p>
        </p:txBody>
      </p:sp>
      <p:sp>
        <p:nvSpPr>
          <p:cNvPr id="415" name="Google Shape;415;p12"/>
          <p:cNvSpPr txBox="1"/>
          <p:nvPr/>
        </p:nvSpPr>
        <p:spPr>
          <a:xfrm>
            <a:off x="11155039" y="3967057"/>
            <a:ext cx="247772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pen Sans"/>
                <a:ea typeface="Open Sans"/>
                <a:cs typeface="Open Sans"/>
                <a:sym typeface="Open Sans"/>
              </a:rPr>
              <a:t>createQuery()</a:t>
            </a:r>
            <a:endParaRPr sz="1400" b="0" i="0" u="none" strike="noStrike" cap="none">
              <a:solidFill>
                <a:srgbClr val="000000"/>
              </a:solidFill>
              <a:latin typeface="Arial"/>
              <a:ea typeface="Arial"/>
              <a:cs typeface="Arial"/>
              <a:sym typeface="Arial"/>
            </a:endParaRPr>
          </a:p>
        </p:txBody>
      </p:sp>
      <p:sp>
        <p:nvSpPr>
          <p:cNvPr id="416" name="Google Shape;416;p12"/>
          <p:cNvSpPr txBox="1"/>
          <p:nvPr/>
        </p:nvSpPr>
        <p:spPr>
          <a:xfrm>
            <a:off x="7182767" y="3847437"/>
            <a:ext cx="24777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pen Sans"/>
                <a:ea typeface="Open Sans"/>
                <a:cs typeface="Open Sans"/>
                <a:sym typeface="Open Sans"/>
              </a:rPr>
              <a:t>openSession()</a:t>
            </a:r>
            <a:endParaRPr sz="1400" b="0" i="0" u="none" strike="noStrike" cap="none">
              <a:solidFill>
                <a:srgbClr val="000000"/>
              </a:solidFill>
              <a:latin typeface="Arial"/>
              <a:ea typeface="Arial"/>
              <a:cs typeface="Arial"/>
              <a:sym typeface="Arial"/>
            </a:endParaRPr>
          </a:p>
        </p:txBody>
      </p:sp>
      <p:sp>
        <p:nvSpPr>
          <p:cNvPr id="417" name="Google Shape;417;p12"/>
          <p:cNvSpPr txBox="1"/>
          <p:nvPr/>
        </p:nvSpPr>
        <p:spPr>
          <a:xfrm>
            <a:off x="3118682" y="3233886"/>
            <a:ext cx="247772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pen Sans"/>
                <a:ea typeface="Open Sans"/>
                <a:cs typeface="Open Sans"/>
                <a:sym typeface="Open Sans"/>
              </a:rPr>
              <a:t>addAnnotation()</a:t>
            </a:r>
            <a:endParaRPr sz="1400" b="0" i="0" u="none" strike="noStrike" cap="none">
              <a:solidFill>
                <a:srgbClr val="000000"/>
              </a:solidFill>
              <a:latin typeface="Arial"/>
              <a:ea typeface="Arial"/>
              <a:cs typeface="Arial"/>
              <a:sym typeface="Arial"/>
            </a:endParaRPr>
          </a:p>
        </p:txBody>
      </p:sp>
      <p:sp>
        <p:nvSpPr>
          <p:cNvPr id="418" name="Google Shape;418;p12"/>
          <p:cNvSpPr txBox="1"/>
          <p:nvPr/>
        </p:nvSpPr>
        <p:spPr>
          <a:xfrm>
            <a:off x="3032914" y="5899211"/>
            <a:ext cx="2477720"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pen Sans"/>
                <a:ea typeface="Open Sans"/>
                <a:cs typeface="Open Sans"/>
                <a:sym typeface="Open Sans"/>
              </a:rPr>
              <a:t>configure()</a:t>
            </a:r>
            <a:endParaRPr sz="1400" b="0" i="0" u="none" strike="noStrike" cap="none">
              <a:solidFill>
                <a:srgbClr val="000000"/>
              </a:solidFill>
              <a:latin typeface="Arial"/>
              <a:ea typeface="Arial"/>
              <a:cs typeface="Arial"/>
              <a:sym typeface="Arial"/>
            </a:endParaRPr>
          </a:p>
        </p:txBody>
      </p:sp>
      <p:sp>
        <p:nvSpPr>
          <p:cNvPr id="419" name="Google Shape;419;p12"/>
          <p:cNvSpPr txBox="1"/>
          <p:nvPr/>
        </p:nvSpPr>
        <p:spPr>
          <a:xfrm>
            <a:off x="3680294" y="3825982"/>
            <a:ext cx="28446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0" i="0" u="none" strike="noStrike" cap="none">
                <a:solidFill>
                  <a:schemeClr val="dk1"/>
                </a:solidFill>
                <a:latin typeface="Open Sans"/>
                <a:ea typeface="Open Sans"/>
                <a:cs typeface="Open Sans"/>
                <a:sym typeface="Open Sans"/>
              </a:rPr>
              <a:t>buildSessionFactory()</a:t>
            </a:r>
            <a:endParaRPr sz="1400" b="0" i="0" u="none" strike="noStrike" cap="none">
              <a:solidFill>
                <a:srgbClr val="000000"/>
              </a:solidFill>
              <a:latin typeface="Arial"/>
              <a:ea typeface="Arial"/>
              <a:cs typeface="Arial"/>
              <a:sym typeface="Arial"/>
            </a:endParaRPr>
          </a:p>
        </p:txBody>
      </p:sp>
      <p:pic>
        <p:nvPicPr>
          <p:cNvPr id="420" name="Google Shape;420;p12"/>
          <p:cNvPicPr preferRelativeResize="0"/>
          <p:nvPr/>
        </p:nvPicPr>
        <p:blipFill rotWithShape="1">
          <a:blip r:embed="rId3">
            <a:alphaModFix/>
          </a:blip>
          <a:srcRect/>
          <a:stretch/>
        </p:blipFill>
        <p:spPr>
          <a:xfrm>
            <a:off x="5144716" y="603159"/>
            <a:ext cx="5972174" cy="36576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25"/>
        <p:cNvGrpSpPr/>
        <p:nvPr/>
      </p:nvGrpSpPr>
      <p:grpSpPr>
        <a:xfrm>
          <a:off x="0" y="0"/>
          <a:ext cx="0" cy="0"/>
          <a:chOff x="0" y="0"/>
          <a:chExt cx="0" cy="0"/>
        </a:xfrm>
      </p:grpSpPr>
      <p:sp>
        <p:nvSpPr>
          <p:cNvPr id="426" name="Google Shape;426;p13"/>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Hibernate Architecture: Elements</a:t>
            </a:r>
            <a:endParaRPr/>
          </a:p>
        </p:txBody>
      </p:sp>
      <p:grpSp>
        <p:nvGrpSpPr>
          <p:cNvPr id="427" name="Google Shape;427;p13"/>
          <p:cNvGrpSpPr/>
          <p:nvPr/>
        </p:nvGrpSpPr>
        <p:grpSpPr>
          <a:xfrm>
            <a:off x="2597194" y="2829705"/>
            <a:ext cx="11063270" cy="1080670"/>
            <a:chOff x="2860671" y="2968720"/>
            <a:chExt cx="9229362" cy="1080670"/>
          </a:xfrm>
        </p:grpSpPr>
        <p:sp>
          <p:nvSpPr>
            <p:cNvPr id="428" name="Google Shape;428;p13"/>
            <p:cNvSpPr/>
            <p:nvPr/>
          </p:nvSpPr>
          <p:spPr>
            <a:xfrm>
              <a:off x="5520848" y="3071067"/>
              <a:ext cx="6569185" cy="922939"/>
            </a:xfrm>
            <a:custGeom>
              <a:avLst/>
              <a:gdLst/>
              <a:ahLst/>
              <a:cxnLst/>
              <a:rect l="l" t="t" r="r" b="b"/>
              <a:pathLst>
                <a:path w="7369386" h="1975050" extrusionOk="0">
                  <a:moveTo>
                    <a:pt x="0" y="0"/>
                  </a:moveTo>
                  <a:lnTo>
                    <a:pt x="7369386" y="0"/>
                  </a:lnTo>
                  <a:lnTo>
                    <a:pt x="7369386" y="1975050"/>
                  </a:lnTo>
                  <a:lnTo>
                    <a:pt x="0" y="1975050"/>
                  </a:lnTo>
                  <a:lnTo>
                    <a:pt x="0" y="0"/>
                  </a:lnTo>
                  <a:close/>
                </a:path>
              </a:pathLst>
            </a:custGeom>
            <a:noFill/>
            <a:ln w="57150" cap="flat" cmpd="sng">
              <a:solidFill>
                <a:srgbClr val="99D35B"/>
              </a:solidFill>
              <a:prstDash val="solid"/>
              <a:round/>
              <a:headEnd type="none" w="sm" len="sm"/>
              <a:tailEnd type="none" w="sm" len="sm"/>
            </a:ln>
          </p:spPr>
          <p:txBody>
            <a:bodyPr spcFirstLastPara="1" wrap="square" lIns="160000" tIns="160000" rIns="160000" bIns="160000" anchor="ctr" anchorCtr="0">
              <a:noAutofit/>
            </a:bodyPr>
            <a:lstStyle/>
            <a:p>
              <a:pPr marL="0" marR="0" lvl="1" indent="0" algn="l" rtl="0">
                <a:lnSpc>
                  <a:spcPct val="90000"/>
                </a:lnSpc>
                <a:spcBef>
                  <a:spcPts val="0"/>
                </a:spcBef>
                <a:spcAft>
                  <a:spcPts val="0"/>
                </a:spcAft>
                <a:buClr>
                  <a:srgbClr val="000000"/>
                </a:buClr>
                <a:buSzPts val="2200"/>
                <a:buFont typeface="Arial"/>
                <a:buNone/>
              </a:pPr>
              <a:r>
                <a:rPr lang="en-US" sz="2200" b="0" i="0" u="none" strike="noStrike" cap="none">
                  <a:solidFill>
                    <a:srgbClr val="000000"/>
                  </a:solidFill>
                  <a:latin typeface="Open Sans"/>
                  <a:ea typeface="Open Sans"/>
                  <a:cs typeface="Open Sans"/>
                  <a:sym typeface="Open Sans"/>
                </a:rPr>
                <a:t>Interface to hold mandatory (first level cache) data; factory of Query, Criteria, and Transaction objects</a:t>
              </a:r>
              <a:endParaRPr sz="2200" b="0" i="0" u="none" strike="noStrike" cap="none">
                <a:solidFill>
                  <a:srgbClr val="000000"/>
                </a:solidFill>
                <a:latin typeface="Open Sans"/>
                <a:ea typeface="Open Sans"/>
                <a:cs typeface="Open Sans"/>
                <a:sym typeface="Open Sans"/>
              </a:endParaRPr>
            </a:p>
          </p:txBody>
        </p:sp>
        <p:sp>
          <p:nvSpPr>
            <p:cNvPr id="429" name="Google Shape;429;p13"/>
            <p:cNvSpPr/>
            <p:nvPr/>
          </p:nvSpPr>
          <p:spPr>
            <a:xfrm>
              <a:off x="2860671" y="2968720"/>
              <a:ext cx="2646496" cy="1080670"/>
            </a:xfrm>
            <a:prstGeom prst="roundRect">
              <a:avLst>
                <a:gd name="adj" fmla="val 16667"/>
              </a:avLst>
            </a:prstGeom>
            <a:solidFill>
              <a:srgbClr val="BAE18F"/>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Session</a:t>
              </a:r>
              <a:endParaRPr sz="1400" b="0" i="0" u="none" strike="noStrike" cap="none">
                <a:solidFill>
                  <a:srgbClr val="000000"/>
                </a:solidFill>
                <a:latin typeface="Arial"/>
                <a:ea typeface="Arial"/>
                <a:cs typeface="Arial"/>
                <a:sym typeface="Arial"/>
              </a:endParaRPr>
            </a:p>
          </p:txBody>
        </p:sp>
      </p:grpSp>
      <p:grpSp>
        <p:nvGrpSpPr>
          <p:cNvPr id="430" name="Google Shape;430;p13"/>
          <p:cNvGrpSpPr/>
          <p:nvPr/>
        </p:nvGrpSpPr>
        <p:grpSpPr>
          <a:xfrm>
            <a:off x="2580695" y="7388803"/>
            <a:ext cx="11079769" cy="1080670"/>
            <a:chOff x="2844683" y="1436710"/>
            <a:chExt cx="9243126" cy="1080670"/>
          </a:xfrm>
        </p:grpSpPr>
        <p:sp>
          <p:nvSpPr>
            <p:cNvPr id="431" name="Google Shape;431;p13"/>
            <p:cNvSpPr/>
            <p:nvPr/>
          </p:nvSpPr>
          <p:spPr>
            <a:xfrm>
              <a:off x="5518625" y="1540621"/>
              <a:ext cx="6569184" cy="922939"/>
            </a:xfrm>
            <a:custGeom>
              <a:avLst/>
              <a:gdLst/>
              <a:ahLst/>
              <a:cxnLst/>
              <a:rect l="l" t="t" r="r" b="b"/>
              <a:pathLst>
                <a:path w="7369386" h="2715693" extrusionOk="0">
                  <a:moveTo>
                    <a:pt x="0" y="0"/>
                  </a:moveTo>
                  <a:lnTo>
                    <a:pt x="7369386" y="0"/>
                  </a:lnTo>
                  <a:lnTo>
                    <a:pt x="7369386" y="2715693"/>
                  </a:lnTo>
                  <a:lnTo>
                    <a:pt x="0" y="2715693"/>
                  </a:lnTo>
                  <a:lnTo>
                    <a:pt x="0" y="0"/>
                  </a:lnTo>
                  <a:close/>
                </a:path>
              </a:pathLst>
            </a:custGeom>
            <a:noFill/>
            <a:ln w="57150" cap="flat" cmpd="sng">
              <a:solidFill>
                <a:srgbClr val="F38573"/>
              </a:solidFill>
              <a:prstDash val="solid"/>
              <a:round/>
              <a:headEnd type="none" w="sm" len="sm"/>
              <a:tailEnd type="none" w="sm" len="sm"/>
            </a:ln>
          </p:spPr>
          <p:txBody>
            <a:bodyPr spcFirstLastPara="1" wrap="square" lIns="160000" tIns="160000" rIns="160000" bIns="160000" anchor="ctr" anchorCtr="0">
              <a:noAutofit/>
            </a:bodyPr>
            <a:lstStyle/>
            <a:p>
              <a:pPr marL="0" marR="0" lvl="1" indent="0" algn="l" rtl="0">
                <a:lnSpc>
                  <a:spcPct val="90000"/>
                </a:lnSpc>
                <a:spcBef>
                  <a:spcPts val="0"/>
                </a:spcBef>
                <a:spcAft>
                  <a:spcPts val="0"/>
                </a:spcAft>
                <a:buClr>
                  <a:srgbClr val="000000"/>
                </a:buClr>
                <a:buSzPts val="2200"/>
                <a:buFont typeface="Arial"/>
                <a:buNone/>
              </a:pPr>
              <a:r>
                <a:rPr lang="en-US" sz="2200" b="0" i="0" u="none" strike="noStrike" cap="none">
                  <a:solidFill>
                    <a:srgbClr val="000000"/>
                  </a:solidFill>
                  <a:latin typeface="Open Sans"/>
                  <a:ea typeface="Open Sans"/>
                  <a:cs typeface="Open Sans"/>
                  <a:sym typeface="Open Sans"/>
                </a:rPr>
                <a:t>Optional JDBC connection factory that abstracts application from DriverManager or DataSource</a:t>
              </a:r>
              <a:endParaRPr sz="2200" b="0" i="0" u="none" strike="noStrike" cap="none">
                <a:solidFill>
                  <a:srgbClr val="000000"/>
                </a:solidFill>
                <a:latin typeface="Open Sans"/>
                <a:ea typeface="Open Sans"/>
                <a:cs typeface="Open Sans"/>
                <a:sym typeface="Open Sans"/>
              </a:endParaRPr>
            </a:p>
          </p:txBody>
        </p:sp>
        <p:sp>
          <p:nvSpPr>
            <p:cNvPr id="432" name="Google Shape;432;p13"/>
            <p:cNvSpPr/>
            <p:nvPr/>
          </p:nvSpPr>
          <p:spPr>
            <a:xfrm>
              <a:off x="2844683" y="1436710"/>
              <a:ext cx="2660262" cy="1080670"/>
            </a:xfrm>
            <a:prstGeom prst="roundRect">
              <a:avLst>
                <a:gd name="adj" fmla="val 16667"/>
              </a:avLst>
            </a:prstGeom>
            <a:solidFill>
              <a:srgbClr val="F7B2A7"/>
            </a:solidFill>
            <a:ln w="25400" cap="flat" cmpd="sng">
              <a:solidFill>
                <a:srgbClr val="F3857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ConnectionProvider</a:t>
              </a:r>
              <a:endParaRPr sz="1400" b="0" i="0" u="none" strike="noStrike" cap="none">
                <a:solidFill>
                  <a:srgbClr val="000000"/>
                </a:solidFill>
                <a:latin typeface="Arial"/>
                <a:ea typeface="Arial"/>
                <a:cs typeface="Arial"/>
                <a:sym typeface="Arial"/>
              </a:endParaRPr>
            </a:p>
          </p:txBody>
        </p:sp>
      </p:grpSp>
      <p:grpSp>
        <p:nvGrpSpPr>
          <p:cNvPr id="433" name="Google Shape;433;p13"/>
          <p:cNvGrpSpPr/>
          <p:nvPr/>
        </p:nvGrpSpPr>
        <p:grpSpPr>
          <a:xfrm>
            <a:off x="2595536" y="4349404"/>
            <a:ext cx="11064928" cy="1080670"/>
            <a:chOff x="2860670" y="4500730"/>
            <a:chExt cx="9230746" cy="1080670"/>
          </a:xfrm>
        </p:grpSpPr>
        <p:sp>
          <p:nvSpPr>
            <p:cNvPr id="434" name="Google Shape;434;p13"/>
            <p:cNvSpPr/>
            <p:nvPr/>
          </p:nvSpPr>
          <p:spPr>
            <a:xfrm>
              <a:off x="5522231" y="4607026"/>
              <a:ext cx="6569185" cy="922939"/>
            </a:xfrm>
            <a:custGeom>
              <a:avLst/>
              <a:gdLst/>
              <a:ahLst/>
              <a:cxnLst/>
              <a:rect l="l" t="t" r="r" b="b"/>
              <a:pathLst>
                <a:path w="7369386" h="2098490" extrusionOk="0">
                  <a:moveTo>
                    <a:pt x="0" y="0"/>
                  </a:moveTo>
                  <a:lnTo>
                    <a:pt x="7369386" y="0"/>
                  </a:lnTo>
                  <a:lnTo>
                    <a:pt x="7369386" y="2098490"/>
                  </a:lnTo>
                  <a:lnTo>
                    <a:pt x="0" y="2098490"/>
                  </a:lnTo>
                  <a:lnTo>
                    <a:pt x="0" y="0"/>
                  </a:lnTo>
                  <a:close/>
                </a:path>
              </a:pathLst>
            </a:custGeom>
            <a:noFill/>
            <a:ln w="57150" cap="flat" cmpd="sng">
              <a:solidFill>
                <a:srgbClr val="F69E66"/>
              </a:solidFill>
              <a:prstDash val="solid"/>
              <a:round/>
              <a:headEnd type="none" w="sm" len="sm"/>
              <a:tailEnd type="none" w="sm" len="sm"/>
            </a:ln>
          </p:spPr>
          <p:txBody>
            <a:bodyPr spcFirstLastPara="1" wrap="square" lIns="160000" tIns="160000" rIns="160000" bIns="160000" anchor="ctr" anchorCtr="0">
              <a:noAutofit/>
            </a:bodyPr>
            <a:lstStyle/>
            <a:p>
              <a:pPr marL="0" marR="0" lvl="1" indent="0" algn="l" rtl="0">
                <a:lnSpc>
                  <a:spcPct val="90000"/>
                </a:lnSpc>
                <a:spcBef>
                  <a:spcPts val="0"/>
                </a:spcBef>
                <a:spcAft>
                  <a:spcPts val="0"/>
                </a:spcAft>
                <a:buClr>
                  <a:srgbClr val="000000"/>
                </a:buClr>
                <a:buSzPts val="2200"/>
                <a:buFont typeface="Arial"/>
                <a:buNone/>
              </a:pPr>
              <a:r>
                <a:rPr lang="en-US" sz="2200" b="0" i="0" u="none" strike="noStrike" cap="none">
                  <a:solidFill>
                    <a:srgbClr val="000000"/>
                  </a:solidFill>
                  <a:latin typeface="Open Sans"/>
                  <a:ea typeface="Open Sans"/>
                  <a:cs typeface="Open Sans"/>
                  <a:sym typeface="Open Sans"/>
                </a:rPr>
                <a:t>Interface with methods for transaction management</a:t>
              </a:r>
              <a:endParaRPr sz="2200" b="0" i="0" u="none" strike="noStrike" cap="none">
                <a:solidFill>
                  <a:srgbClr val="000000"/>
                </a:solidFill>
                <a:latin typeface="Open Sans"/>
                <a:ea typeface="Open Sans"/>
                <a:cs typeface="Open Sans"/>
                <a:sym typeface="Open Sans"/>
              </a:endParaRPr>
            </a:p>
          </p:txBody>
        </p:sp>
        <p:sp>
          <p:nvSpPr>
            <p:cNvPr id="435" name="Google Shape;435;p13"/>
            <p:cNvSpPr/>
            <p:nvPr/>
          </p:nvSpPr>
          <p:spPr>
            <a:xfrm>
              <a:off x="2860670" y="4500730"/>
              <a:ext cx="2647881" cy="1080670"/>
            </a:xfrm>
            <a:prstGeom prst="roundRect">
              <a:avLst>
                <a:gd name="adj" fmla="val 16667"/>
              </a:avLst>
            </a:prstGeom>
            <a:solidFill>
              <a:srgbClr val="F8B388"/>
            </a:solidFill>
            <a:ln w="25400" cap="flat" cmpd="sng">
              <a:solidFill>
                <a:srgbClr val="F69E6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Transaction</a:t>
              </a:r>
              <a:endParaRPr sz="1400" b="0" i="0" u="none" strike="noStrike" cap="none">
                <a:solidFill>
                  <a:srgbClr val="000000"/>
                </a:solidFill>
                <a:latin typeface="Arial"/>
                <a:ea typeface="Arial"/>
                <a:cs typeface="Arial"/>
                <a:sym typeface="Arial"/>
              </a:endParaRPr>
            </a:p>
          </p:txBody>
        </p:sp>
      </p:grpSp>
      <p:grpSp>
        <p:nvGrpSpPr>
          <p:cNvPr id="436" name="Google Shape;436;p13"/>
          <p:cNvGrpSpPr/>
          <p:nvPr/>
        </p:nvGrpSpPr>
        <p:grpSpPr>
          <a:xfrm>
            <a:off x="2613076" y="5869103"/>
            <a:ext cx="11047388" cy="1080670"/>
            <a:chOff x="2844683" y="6032740"/>
            <a:chExt cx="9216113" cy="1080670"/>
          </a:xfrm>
        </p:grpSpPr>
        <p:sp>
          <p:nvSpPr>
            <p:cNvPr id="437" name="Google Shape;437;p13"/>
            <p:cNvSpPr/>
            <p:nvPr/>
          </p:nvSpPr>
          <p:spPr>
            <a:xfrm>
              <a:off x="5506245" y="6139036"/>
              <a:ext cx="6554551" cy="922939"/>
            </a:xfrm>
            <a:custGeom>
              <a:avLst/>
              <a:gdLst/>
              <a:ahLst/>
              <a:cxnLst/>
              <a:rect l="l" t="t" r="r" b="b"/>
              <a:pathLst>
                <a:path w="7369386" h="2098490" extrusionOk="0">
                  <a:moveTo>
                    <a:pt x="0" y="0"/>
                  </a:moveTo>
                  <a:lnTo>
                    <a:pt x="7369386" y="0"/>
                  </a:lnTo>
                  <a:lnTo>
                    <a:pt x="7369386" y="2098490"/>
                  </a:lnTo>
                  <a:lnTo>
                    <a:pt x="0" y="2098490"/>
                  </a:lnTo>
                  <a:lnTo>
                    <a:pt x="0" y="0"/>
                  </a:lnTo>
                  <a:close/>
                </a:path>
              </a:pathLst>
            </a:custGeom>
            <a:noFill/>
            <a:ln w="57150" cap="flat" cmpd="sng">
              <a:solidFill>
                <a:srgbClr val="3F97C0"/>
              </a:solidFill>
              <a:prstDash val="solid"/>
              <a:round/>
              <a:headEnd type="none" w="sm" len="sm"/>
              <a:tailEnd type="none" w="sm" len="sm"/>
            </a:ln>
          </p:spPr>
          <p:txBody>
            <a:bodyPr spcFirstLastPara="1" wrap="square" lIns="160000" tIns="160000" rIns="160000" bIns="160000" anchor="ctr" anchorCtr="0">
              <a:noAutofit/>
            </a:bodyPr>
            <a:lstStyle/>
            <a:p>
              <a:pPr marL="0" marR="0" lvl="1" indent="0" algn="l" rtl="0">
                <a:lnSpc>
                  <a:spcPct val="90000"/>
                </a:lnSpc>
                <a:spcBef>
                  <a:spcPts val="0"/>
                </a:spcBef>
                <a:spcAft>
                  <a:spcPts val="0"/>
                </a:spcAft>
                <a:buClr>
                  <a:srgbClr val="000000"/>
                </a:buClr>
                <a:buSzPts val="2200"/>
                <a:buFont typeface="Arial"/>
                <a:buNone/>
              </a:pPr>
              <a:r>
                <a:rPr lang="en-US" sz="2200" b="0" i="0" u="none" strike="noStrike" cap="none">
                  <a:solidFill>
                    <a:srgbClr val="000000"/>
                  </a:solidFill>
                  <a:latin typeface="Open Sans"/>
                  <a:ea typeface="Open Sans"/>
                  <a:cs typeface="Open Sans"/>
                  <a:sym typeface="Open Sans"/>
                </a:rPr>
                <a:t>Optional factory of Transaction</a:t>
              </a:r>
              <a:endParaRPr sz="2200" b="0" i="0" u="none" strike="noStrike" cap="none">
                <a:solidFill>
                  <a:srgbClr val="000000"/>
                </a:solidFill>
                <a:latin typeface="Open Sans"/>
                <a:ea typeface="Open Sans"/>
                <a:cs typeface="Open Sans"/>
                <a:sym typeface="Open Sans"/>
              </a:endParaRPr>
            </a:p>
          </p:txBody>
        </p:sp>
        <p:sp>
          <p:nvSpPr>
            <p:cNvPr id="438" name="Google Shape;438;p13"/>
            <p:cNvSpPr/>
            <p:nvPr/>
          </p:nvSpPr>
          <p:spPr>
            <a:xfrm>
              <a:off x="2844683" y="6032740"/>
              <a:ext cx="2661561" cy="1080670"/>
            </a:xfrm>
            <a:prstGeom prst="roundRect">
              <a:avLst>
                <a:gd name="adj" fmla="val 16667"/>
              </a:avLst>
            </a:prstGeom>
            <a:solidFill>
              <a:srgbClr val="9CDAEB"/>
            </a:solid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TransactionFactory</a:t>
              </a:r>
              <a:endParaRPr sz="1400" b="0" i="0" u="none" strike="noStrike" cap="none">
                <a:solidFill>
                  <a:srgbClr val="000000"/>
                </a:solidFill>
                <a:latin typeface="Arial"/>
                <a:ea typeface="Arial"/>
                <a:cs typeface="Arial"/>
                <a:sym typeface="Arial"/>
              </a:endParaRPr>
            </a:p>
          </p:txBody>
        </p:sp>
      </p:grpSp>
      <p:grpSp>
        <p:nvGrpSpPr>
          <p:cNvPr id="439" name="Google Shape;439;p13"/>
          <p:cNvGrpSpPr/>
          <p:nvPr/>
        </p:nvGrpSpPr>
        <p:grpSpPr>
          <a:xfrm>
            <a:off x="2595536" y="1283018"/>
            <a:ext cx="11064928" cy="1080670"/>
            <a:chOff x="2844683" y="7564749"/>
            <a:chExt cx="9230746" cy="1080670"/>
          </a:xfrm>
        </p:grpSpPr>
        <p:sp>
          <p:nvSpPr>
            <p:cNvPr id="440" name="Google Shape;440;p13"/>
            <p:cNvSpPr/>
            <p:nvPr/>
          </p:nvSpPr>
          <p:spPr>
            <a:xfrm>
              <a:off x="5506244" y="7671045"/>
              <a:ext cx="6569185" cy="922939"/>
            </a:xfrm>
            <a:custGeom>
              <a:avLst/>
              <a:gdLst/>
              <a:ahLst/>
              <a:cxnLst/>
              <a:rect l="l" t="t" r="r" b="b"/>
              <a:pathLst>
                <a:path w="7369386" h="2098490" extrusionOk="0">
                  <a:moveTo>
                    <a:pt x="0" y="0"/>
                  </a:moveTo>
                  <a:lnTo>
                    <a:pt x="7369386" y="0"/>
                  </a:lnTo>
                  <a:lnTo>
                    <a:pt x="7369386" y="2098490"/>
                  </a:lnTo>
                  <a:lnTo>
                    <a:pt x="0" y="2098490"/>
                  </a:lnTo>
                  <a:lnTo>
                    <a:pt x="0" y="0"/>
                  </a:lnTo>
                  <a:close/>
                </a:path>
              </a:pathLst>
            </a:custGeom>
            <a:noFill/>
            <a:ln w="57150" cap="flat" cmpd="sng">
              <a:solidFill>
                <a:srgbClr val="A5A5A5"/>
              </a:solidFill>
              <a:prstDash val="solid"/>
              <a:round/>
              <a:headEnd type="none" w="sm" len="sm"/>
              <a:tailEnd type="none" w="sm" len="sm"/>
            </a:ln>
          </p:spPr>
          <p:txBody>
            <a:bodyPr spcFirstLastPara="1" wrap="square" lIns="160000" tIns="160000" rIns="160000" bIns="160000" anchor="ctr" anchorCtr="0">
              <a:noAutofit/>
            </a:bodyPr>
            <a:lstStyle/>
            <a:p>
              <a:pPr marL="0" marR="0" lvl="1" indent="0" algn="l" rtl="0">
                <a:lnSpc>
                  <a:spcPct val="90000"/>
                </a:lnSpc>
                <a:spcBef>
                  <a:spcPts val="0"/>
                </a:spcBef>
                <a:spcAft>
                  <a:spcPts val="0"/>
                </a:spcAft>
                <a:buClr>
                  <a:srgbClr val="000000"/>
                </a:buClr>
                <a:buSzPts val="2200"/>
                <a:buFont typeface="Arial"/>
                <a:buNone/>
              </a:pPr>
              <a:r>
                <a:rPr lang="en-US" sz="2200" b="0" i="0" u="none" strike="noStrike" cap="none">
                  <a:solidFill>
                    <a:srgbClr val="000000"/>
                  </a:solidFill>
                  <a:latin typeface="Open Sans"/>
                  <a:ea typeface="Open Sans"/>
                  <a:cs typeface="Open Sans"/>
                  <a:sym typeface="Open Sans"/>
                </a:rPr>
                <a:t>Interface to hold optional (second level cache) data;</a:t>
              </a:r>
              <a:endParaRPr sz="1400" b="0" i="0" u="none" strike="noStrike" cap="none">
                <a:solidFill>
                  <a:srgbClr val="000000"/>
                </a:solidFill>
                <a:latin typeface="Arial"/>
                <a:ea typeface="Arial"/>
                <a:cs typeface="Arial"/>
                <a:sym typeface="Arial"/>
              </a:endParaRPr>
            </a:p>
            <a:p>
              <a:pPr marL="0" marR="0" lvl="1" indent="0" algn="l" rtl="0">
                <a:lnSpc>
                  <a:spcPct val="90000"/>
                </a:lnSpc>
                <a:spcBef>
                  <a:spcPts val="330"/>
                </a:spcBef>
                <a:spcAft>
                  <a:spcPts val="0"/>
                </a:spcAft>
                <a:buClr>
                  <a:srgbClr val="000000"/>
                </a:buClr>
                <a:buSzPts val="2200"/>
                <a:buFont typeface="Arial"/>
                <a:buNone/>
              </a:pPr>
              <a:r>
                <a:rPr lang="en-US" sz="2200" b="0" i="0" u="none" strike="noStrike" cap="none">
                  <a:solidFill>
                    <a:srgbClr val="000000"/>
                  </a:solidFill>
                  <a:latin typeface="Open Sans"/>
                  <a:ea typeface="Open Sans"/>
                  <a:cs typeface="Open Sans"/>
                  <a:sym typeface="Open Sans"/>
                </a:rPr>
                <a:t>factory for Session objects</a:t>
              </a:r>
              <a:endParaRPr sz="2200" b="0" i="0" u="none" strike="noStrike" cap="none">
                <a:solidFill>
                  <a:srgbClr val="000000"/>
                </a:solidFill>
                <a:latin typeface="Open Sans"/>
                <a:ea typeface="Open Sans"/>
                <a:cs typeface="Open Sans"/>
                <a:sym typeface="Open Sans"/>
              </a:endParaRPr>
            </a:p>
          </p:txBody>
        </p:sp>
        <p:sp>
          <p:nvSpPr>
            <p:cNvPr id="441" name="Google Shape;441;p13"/>
            <p:cNvSpPr/>
            <p:nvPr/>
          </p:nvSpPr>
          <p:spPr>
            <a:xfrm>
              <a:off x="2844683" y="7564749"/>
              <a:ext cx="2661561" cy="1080670"/>
            </a:xfrm>
            <a:prstGeom prst="roundRect">
              <a:avLst>
                <a:gd name="adj" fmla="val 16667"/>
              </a:avLst>
            </a:prstGeom>
            <a:solidFill>
              <a:srgbClr val="DBDBDB"/>
            </a:solidFill>
            <a:ln w="25400" cap="flat" cmpd="sng">
              <a:solidFill>
                <a:srgbClr val="A5A5A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SessionFactory</a:t>
              </a:r>
              <a:endParaRPr sz="1400" b="0" i="0" u="none" strike="noStrike" cap="none">
                <a:solidFill>
                  <a:srgbClr val="000000"/>
                </a:solidFill>
                <a:latin typeface="Arial"/>
                <a:ea typeface="Arial"/>
                <a:cs typeface="Arial"/>
                <a:sym typeface="Arial"/>
              </a:endParaRPr>
            </a:p>
          </p:txBody>
        </p:sp>
      </p:grpSp>
      <p:pic>
        <p:nvPicPr>
          <p:cNvPr id="442" name="Google Shape;442;p13"/>
          <p:cNvPicPr preferRelativeResize="0"/>
          <p:nvPr/>
        </p:nvPicPr>
        <p:blipFill rotWithShape="1">
          <a:blip r:embed="rId3">
            <a:alphaModFix/>
          </a:blip>
          <a:srcRect/>
          <a:stretch/>
        </p:blipFill>
        <p:spPr>
          <a:xfrm>
            <a:off x="3758874" y="603159"/>
            <a:ext cx="8743859" cy="36576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47"/>
        <p:cNvGrpSpPr/>
        <p:nvPr/>
      </p:nvGrpSpPr>
      <p:grpSpPr>
        <a:xfrm>
          <a:off x="0" y="0"/>
          <a:ext cx="0" cy="0"/>
          <a:chOff x="0" y="0"/>
          <a:chExt cx="0" cy="0"/>
        </a:xfrm>
      </p:grpSpPr>
      <p:cxnSp>
        <p:nvCxnSpPr>
          <p:cNvPr id="448" name="Google Shape;448;p14"/>
          <p:cNvCxnSpPr/>
          <p:nvPr/>
        </p:nvCxnSpPr>
        <p:spPr>
          <a:xfrm rot="10800000" flipH="1">
            <a:off x="13547259" y="5287191"/>
            <a:ext cx="10772" cy="902677"/>
          </a:xfrm>
          <a:prstGeom prst="straightConnector1">
            <a:avLst/>
          </a:prstGeom>
          <a:noFill/>
          <a:ln w="57150" cap="flat" cmpd="sng">
            <a:solidFill>
              <a:srgbClr val="FFD966"/>
            </a:solidFill>
            <a:prstDash val="solid"/>
            <a:round/>
            <a:headEnd type="none" w="sm" len="sm"/>
            <a:tailEnd type="none" w="sm" len="sm"/>
          </a:ln>
        </p:spPr>
      </p:cxnSp>
      <p:sp>
        <p:nvSpPr>
          <p:cNvPr id="449" name="Google Shape;449;p14"/>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Steps to Create a Hibernate Application on Command Prompt</a:t>
            </a:r>
            <a:endParaRPr/>
          </a:p>
        </p:txBody>
      </p:sp>
      <p:cxnSp>
        <p:nvCxnSpPr>
          <p:cNvPr id="450" name="Google Shape;450;p14"/>
          <p:cNvCxnSpPr/>
          <p:nvPr/>
        </p:nvCxnSpPr>
        <p:spPr>
          <a:xfrm>
            <a:off x="1136793" y="4970584"/>
            <a:ext cx="14027351" cy="0"/>
          </a:xfrm>
          <a:prstGeom prst="straightConnector1">
            <a:avLst/>
          </a:prstGeom>
          <a:noFill/>
          <a:ln w="57150" cap="flat" cmpd="sng">
            <a:solidFill>
              <a:schemeClr val="dk1"/>
            </a:solidFill>
            <a:prstDash val="solid"/>
            <a:round/>
            <a:headEnd type="none" w="sm" len="sm"/>
            <a:tailEnd type="none" w="sm" len="sm"/>
          </a:ln>
        </p:spPr>
      </p:cxnSp>
      <p:sp>
        <p:nvSpPr>
          <p:cNvPr id="451" name="Google Shape;451;p14"/>
          <p:cNvSpPr/>
          <p:nvPr/>
        </p:nvSpPr>
        <p:spPr>
          <a:xfrm>
            <a:off x="833904" y="4809000"/>
            <a:ext cx="323168" cy="323168"/>
          </a:xfrm>
          <a:prstGeom prst="ellipse">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2" name="Google Shape;452;p14"/>
          <p:cNvSpPr/>
          <p:nvPr/>
        </p:nvSpPr>
        <p:spPr>
          <a:xfrm>
            <a:off x="15002559" y="4783014"/>
            <a:ext cx="323168" cy="323168"/>
          </a:xfrm>
          <a:prstGeom prst="ellipse">
            <a:avLst/>
          </a:prstGeom>
          <a:solidFill>
            <a:schemeClr val="dk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453" name="Google Shape;453;p14"/>
          <p:cNvSpPr/>
          <p:nvPr/>
        </p:nvSpPr>
        <p:spPr>
          <a:xfrm>
            <a:off x="2251782" y="4607169"/>
            <a:ext cx="726830" cy="726830"/>
          </a:xfrm>
          <a:prstGeom prst="flowChartConnector">
            <a:avLst/>
          </a:prstGeom>
          <a:solidFill>
            <a:srgbClr val="F6B286"/>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1</a:t>
            </a:r>
            <a:endParaRPr sz="2200" b="0" i="0" u="none" strike="noStrike" cap="none">
              <a:solidFill>
                <a:schemeClr val="dk1"/>
              </a:solidFill>
              <a:latin typeface="Open Sans"/>
              <a:ea typeface="Open Sans"/>
              <a:cs typeface="Open Sans"/>
              <a:sym typeface="Open Sans"/>
            </a:endParaRPr>
          </a:p>
        </p:txBody>
      </p:sp>
      <p:sp>
        <p:nvSpPr>
          <p:cNvPr id="454" name="Google Shape;454;p14"/>
          <p:cNvSpPr/>
          <p:nvPr/>
        </p:nvSpPr>
        <p:spPr>
          <a:xfrm>
            <a:off x="4440349" y="4607169"/>
            <a:ext cx="726830" cy="726830"/>
          </a:xfrm>
          <a:prstGeom prst="flowChartConnector">
            <a:avLst/>
          </a:prstGeom>
          <a:solidFill>
            <a:srgbClr val="3F97C0"/>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2</a:t>
            </a:r>
            <a:endParaRPr sz="2200" b="0" i="0" u="none" strike="noStrike" cap="none">
              <a:solidFill>
                <a:schemeClr val="dk1"/>
              </a:solidFill>
              <a:latin typeface="Open Sans"/>
              <a:ea typeface="Open Sans"/>
              <a:cs typeface="Open Sans"/>
              <a:sym typeface="Open Sans"/>
            </a:endParaRPr>
          </a:p>
        </p:txBody>
      </p:sp>
      <p:sp>
        <p:nvSpPr>
          <p:cNvPr id="455" name="Google Shape;455;p14"/>
          <p:cNvSpPr/>
          <p:nvPr/>
        </p:nvSpPr>
        <p:spPr>
          <a:xfrm>
            <a:off x="6628916" y="4607169"/>
            <a:ext cx="726830" cy="726830"/>
          </a:xfrm>
          <a:prstGeom prst="flowChartConnector">
            <a:avLst/>
          </a:prstGeom>
          <a:solidFill>
            <a:srgbClr val="A9D18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3</a:t>
            </a:r>
            <a:endParaRPr sz="2200" b="0" i="0" u="none" strike="noStrike" cap="none">
              <a:solidFill>
                <a:schemeClr val="dk1"/>
              </a:solidFill>
              <a:latin typeface="Open Sans"/>
              <a:ea typeface="Open Sans"/>
              <a:cs typeface="Open Sans"/>
              <a:sym typeface="Open Sans"/>
            </a:endParaRPr>
          </a:p>
        </p:txBody>
      </p:sp>
      <p:sp>
        <p:nvSpPr>
          <p:cNvPr id="456" name="Google Shape;456;p14"/>
          <p:cNvSpPr/>
          <p:nvPr/>
        </p:nvSpPr>
        <p:spPr>
          <a:xfrm>
            <a:off x="8817483" y="4607169"/>
            <a:ext cx="726830" cy="726830"/>
          </a:xfrm>
          <a:prstGeom prst="flowChartConnector">
            <a:avLst/>
          </a:prstGeom>
          <a:solidFill>
            <a:srgbClr val="788DA8"/>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4</a:t>
            </a:r>
            <a:endParaRPr sz="2200" b="0" i="0" u="none" strike="noStrike" cap="none">
              <a:solidFill>
                <a:schemeClr val="dk1"/>
              </a:solidFill>
              <a:latin typeface="Open Sans"/>
              <a:ea typeface="Open Sans"/>
              <a:cs typeface="Open Sans"/>
              <a:sym typeface="Open Sans"/>
            </a:endParaRPr>
          </a:p>
        </p:txBody>
      </p:sp>
      <p:sp>
        <p:nvSpPr>
          <p:cNvPr id="457" name="Google Shape;457;p14"/>
          <p:cNvSpPr/>
          <p:nvPr/>
        </p:nvSpPr>
        <p:spPr>
          <a:xfrm>
            <a:off x="11006050" y="4593421"/>
            <a:ext cx="726830" cy="726830"/>
          </a:xfrm>
          <a:prstGeom prst="flowChartConnector">
            <a:avLst/>
          </a:prstGeom>
          <a:solidFill>
            <a:srgbClr val="BFBFB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5</a:t>
            </a:r>
            <a:endParaRPr sz="2200" b="0" i="0" u="none" strike="noStrike" cap="none">
              <a:solidFill>
                <a:schemeClr val="dk1"/>
              </a:solidFill>
              <a:latin typeface="Open Sans"/>
              <a:ea typeface="Open Sans"/>
              <a:cs typeface="Open Sans"/>
              <a:sym typeface="Open Sans"/>
            </a:endParaRPr>
          </a:p>
        </p:txBody>
      </p:sp>
      <p:sp>
        <p:nvSpPr>
          <p:cNvPr id="458" name="Google Shape;458;p14"/>
          <p:cNvSpPr/>
          <p:nvPr/>
        </p:nvSpPr>
        <p:spPr>
          <a:xfrm>
            <a:off x="13194619" y="4581183"/>
            <a:ext cx="726830" cy="726830"/>
          </a:xfrm>
          <a:prstGeom prst="flowChartConnector">
            <a:avLst/>
          </a:prstGeom>
          <a:solidFill>
            <a:srgbClr val="FFE699"/>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6</a:t>
            </a:r>
            <a:endParaRPr sz="2200" b="0" i="0" u="none" strike="noStrike" cap="none">
              <a:solidFill>
                <a:schemeClr val="dk1"/>
              </a:solidFill>
              <a:latin typeface="Open Sans"/>
              <a:ea typeface="Open Sans"/>
              <a:cs typeface="Open Sans"/>
              <a:sym typeface="Open Sans"/>
            </a:endParaRPr>
          </a:p>
        </p:txBody>
      </p:sp>
      <p:cxnSp>
        <p:nvCxnSpPr>
          <p:cNvPr id="459" name="Google Shape;459;p14"/>
          <p:cNvCxnSpPr/>
          <p:nvPr/>
        </p:nvCxnSpPr>
        <p:spPr>
          <a:xfrm rot="10800000" flipH="1">
            <a:off x="2615197" y="3704492"/>
            <a:ext cx="10772" cy="902677"/>
          </a:xfrm>
          <a:prstGeom prst="straightConnector1">
            <a:avLst/>
          </a:prstGeom>
          <a:noFill/>
          <a:ln w="57150" cap="flat" cmpd="sng">
            <a:solidFill>
              <a:srgbClr val="F6B286"/>
            </a:solidFill>
            <a:prstDash val="solid"/>
            <a:round/>
            <a:headEnd type="none" w="sm" len="sm"/>
            <a:tailEnd type="none" w="sm" len="sm"/>
          </a:ln>
        </p:spPr>
      </p:cxnSp>
      <p:sp>
        <p:nvSpPr>
          <p:cNvPr id="460" name="Google Shape;460;p14"/>
          <p:cNvSpPr/>
          <p:nvPr/>
        </p:nvSpPr>
        <p:spPr>
          <a:xfrm>
            <a:off x="1144398" y="1719835"/>
            <a:ext cx="2880000" cy="2160000"/>
          </a:xfrm>
          <a:prstGeom prst="round2DiagRect">
            <a:avLst>
              <a:gd name="adj1" fmla="val 16667"/>
              <a:gd name="adj2" fmla="val 0"/>
            </a:avLst>
          </a:prstGeom>
          <a:solidFill>
            <a:srgbClr val="F6B286"/>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Create the </a:t>
            </a:r>
            <a:r>
              <a:rPr lang="en-US" sz="2200" b="1" i="0" u="none" strike="noStrike" cap="none">
                <a:solidFill>
                  <a:schemeClr val="dk1"/>
                </a:solidFill>
                <a:latin typeface="Open Sans"/>
                <a:ea typeface="Open Sans"/>
                <a:cs typeface="Open Sans"/>
                <a:sym typeface="Open Sans"/>
              </a:rPr>
              <a:t>persistent</a:t>
            </a:r>
            <a:r>
              <a:rPr lang="en-US" sz="2200" b="0" i="0" u="none" strike="noStrike" cap="none">
                <a:solidFill>
                  <a:schemeClr val="dk1"/>
                </a:solidFill>
                <a:latin typeface="Open Sans"/>
                <a:ea typeface="Open Sans"/>
                <a:cs typeface="Open Sans"/>
                <a:sym typeface="Open Sans"/>
              </a:rPr>
              <a:t> </a:t>
            </a:r>
            <a:r>
              <a:rPr lang="en-US" sz="2200" b="1" i="0" u="none" strike="noStrike" cap="none">
                <a:solidFill>
                  <a:schemeClr val="dk1"/>
                </a:solidFill>
                <a:latin typeface="Open Sans"/>
                <a:ea typeface="Open Sans"/>
                <a:cs typeface="Open Sans"/>
                <a:sym typeface="Open Sans"/>
              </a:rPr>
              <a:t>class</a:t>
            </a:r>
            <a:endParaRPr sz="2200" b="1" i="0" u="none" strike="noStrike" cap="none">
              <a:solidFill>
                <a:schemeClr val="dk1"/>
              </a:solidFill>
              <a:latin typeface="Open Sans"/>
              <a:ea typeface="Open Sans"/>
              <a:cs typeface="Open Sans"/>
              <a:sym typeface="Open Sans"/>
            </a:endParaRPr>
          </a:p>
        </p:txBody>
      </p:sp>
      <p:cxnSp>
        <p:nvCxnSpPr>
          <p:cNvPr id="461" name="Google Shape;461;p14"/>
          <p:cNvCxnSpPr/>
          <p:nvPr/>
        </p:nvCxnSpPr>
        <p:spPr>
          <a:xfrm rot="10800000" flipH="1">
            <a:off x="4792992" y="5333998"/>
            <a:ext cx="10772" cy="902677"/>
          </a:xfrm>
          <a:prstGeom prst="straightConnector1">
            <a:avLst/>
          </a:prstGeom>
          <a:noFill/>
          <a:ln w="57150" cap="flat" cmpd="sng">
            <a:solidFill>
              <a:srgbClr val="3F97C0"/>
            </a:solidFill>
            <a:prstDash val="solid"/>
            <a:round/>
            <a:headEnd type="none" w="sm" len="sm"/>
            <a:tailEnd type="none" w="sm" len="sm"/>
          </a:ln>
        </p:spPr>
      </p:cxnSp>
      <p:cxnSp>
        <p:nvCxnSpPr>
          <p:cNvPr id="462" name="Google Shape;462;p14"/>
          <p:cNvCxnSpPr>
            <a:stCxn id="455" idx="0"/>
          </p:cNvCxnSpPr>
          <p:nvPr/>
        </p:nvCxnSpPr>
        <p:spPr>
          <a:xfrm rot="10800000" flipH="1">
            <a:off x="6992331" y="3669369"/>
            <a:ext cx="10800" cy="937800"/>
          </a:xfrm>
          <a:prstGeom prst="straightConnector1">
            <a:avLst/>
          </a:prstGeom>
          <a:noFill/>
          <a:ln w="57150" cap="flat" cmpd="sng">
            <a:solidFill>
              <a:srgbClr val="A8D08C"/>
            </a:solidFill>
            <a:prstDash val="solid"/>
            <a:round/>
            <a:headEnd type="none" w="sm" len="sm"/>
            <a:tailEnd type="none" w="sm" len="sm"/>
          </a:ln>
        </p:spPr>
      </p:cxnSp>
      <p:cxnSp>
        <p:nvCxnSpPr>
          <p:cNvPr id="463" name="Google Shape;463;p14"/>
          <p:cNvCxnSpPr>
            <a:stCxn id="464" idx="3"/>
            <a:endCxn id="456" idx="4"/>
          </p:cNvCxnSpPr>
          <p:nvPr/>
        </p:nvCxnSpPr>
        <p:spPr>
          <a:xfrm rot="10800000" flipH="1">
            <a:off x="9175512" y="5333857"/>
            <a:ext cx="5400" cy="879600"/>
          </a:xfrm>
          <a:prstGeom prst="straightConnector1">
            <a:avLst/>
          </a:prstGeom>
          <a:noFill/>
          <a:ln w="57150" cap="flat" cmpd="sng">
            <a:solidFill>
              <a:srgbClr val="788DA8"/>
            </a:solidFill>
            <a:prstDash val="solid"/>
            <a:round/>
            <a:headEnd type="none" w="sm" len="sm"/>
            <a:tailEnd type="none" w="sm" len="sm"/>
          </a:ln>
        </p:spPr>
      </p:cxnSp>
      <p:cxnSp>
        <p:nvCxnSpPr>
          <p:cNvPr id="465" name="Google Shape;465;p14"/>
          <p:cNvCxnSpPr/>
          <p:nvPr/>
        </p:nvCxnSpPr>
        <p:spPr>
          <a:xfrm rot="10800000" flipH="1">
            <a:off x="11369465" y="3690744"/>
            <a:ext cx="10772" cy="902677"/>
          </a:xfrm>
          <a:prstGeom prst="straightConnector1">
            <a:avLst/>
          </a:prstGeom>
          <a:noFill/>
          <a:ln w="57150" cap="flat" cmpd="sng">
            <a:solidFill>
              <a:srgbClr val="A5A5A5"/>
            </a:solidFill>
            <a:prstDash val="solid"/>
            <a:round/>
            <a:headEnd type="none" w="sm" len="sm"/>
            <a:tailEnd type="none" w="sm" len="sm"/>
          </a:ln>
        </p:spPr>
      </p:cxnSp>
      <p:sp>
        <p:nvSpPr>
          <p:cNvPr id="466" name="Google Shape;466;p14"/>
          <p:cNvSpPr/>
          <p:nvPr/>
        </p:nvSpPr>
        <p:spPr>
          <a:xfrm>
            <a:off x="3315884" y="6236130"/>
            <a:ext cx="2880000" cy="2160000"/>
          </a:xfrm>
          <a:prstGeom prst="round2DiagRect">
            <a:avLst>
              <a:gd name="adj1" fmla="val 16667"/>
              <a:gd name="adj2" fmla="val 0"/>
            </a:avLst>
          </a:prstGeom>
          <a:solidFill>
            <a:srgbClr val="3F97C0"/>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Create a </a:t>
            </a:r>
            <a:r>
              <a:rPr lang="en-US" sz="2200" b="1" i="0" u="none" strike="noStrike" cap="none">
                <a:solidFill>
                  <a:schemeClr val="dk1"/>
                </a:solidFill>
                <a:latin typeface="Open Sans"/>
                <a:ea typeface="Open Sans"/>
                <a:cs typeface="Open Sans"/>
                <a:sym typeface="Open Sans"/>
              </a:rPr>
              <a:t>mapping file</a:t>
            </a:r>
            <a:r>
              <a:rPr lang="en-US" sz="2200" b="0" i="0" u="none" strike="noStrike" cap="none">
                <a:solidFill>
                  <a:schemeClr val="dk1"/>
                </a:solidFill>
                <a:latin typeface="Open Sans"/>
                <a:ea typeface="Open Sans"/>
                <a:cs typeface="Open Sans"/>
                <a:sym typeface="Open Sans"/>
              </a:rPr>
              <a:t> for the persistent class</a:t>
            </a:r>
            <a:endParaRPr sz="2200" b="0" i="0" u="none" strike="noStrike" cap="none">
              <a:solidFill>
                <a:schemeClr val="dk1"/>
              </a:solidFill>
              <a:latin typeface="Open Sans"/>
              <a:ea typeface="Open Sans"/>
              <a:cs typeface="Open Sans"/>
              <a:sym typeface="Open Sans"/>
            </a:endParaRPr>
          </a:p>
        </p:txBody>
      </p:sp>
      <p:sp>
        <p:nvSpPr>
          <p:cNvPr id="467" name="Google Shape;467;p14"/>
          <p:cNvSpPr/>
          <p:nvPr/>
        </p:nvSpPr>
        <p:spPr>
          <a:xfrm>
            <a:off x="5515223" y="1719835"/>
            <a:ext cx="2880000" cy="2160000"/>
          </a:xfrm>
          <a:prstGeom prst="round2DiagRect">
            <a:avLst>
              <a:gd name="adj1" fmla="val 16667"/>
              <a:gd name="adj2" fmla="val 0"/>
            </a:avLst>
          </a:prstGeom>
          <a:solidFill>
            <a:srgbClr val="A8D08C"/>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Create the </a:t>
            </a:r>
            <a:r>
              <a:rPr lang="en-US" sz="2200" b="1" i="0" u="none" strike="noStrike" cap="none">
                <a:solidFill>
                  <a:schemeClr val="dk1"/>
                </a:solidFill>
                <a:latin typeface="Open Sans"/>
                <a:ea typeface="Open Sans"/>
                <a:cs typeface="Open Sans"/>
                <a:sym typeface="Open Sans"/>
              </a:rPr>
              <a:t>configuration</a:t>
            </a:r>
            <a:r>
              <a:rPr lang="en-US" sz="2200" b="0" i="0" u="none" strike="noStrike" cap="none">
                <a:solidFill>
                  <a:schemeClr val="dk1"/>
                </a:solidFill>
                <a:latin typeface="Open Sans"/>
                <a:ea typeface="Open Sans"/>
                <a:cs typeface="Open Sans"/>
                <a:sym typeface="Open Sans"/>
              </a:rPr>
              <a:t> </a:t>
            </a:r>
            <a:r>
              <a:rPr lang="en-US" sz="2200" b="1" i="0" u="none" strike="noStrike" cap="none">
                <a:solidFill>
                  <a:schemeClr val="dk1"/>
                </a:solidFill>
                <a:latin typeface="Open Sans"/>
                <a:ea typeface="Open Sans"/>
                <a:cs typeface="Open Sans"/>
                <a:sym typeface="Open Sans"/>
              </a:rPr>
              <a:t>file</a:t>
            </a:r>
            <a:endParaRPr sz="2200" b="1" i="0" u="none" strike="noStrike" cap="none">
              <a:solidFill>
                <a:schemeClr val="dk1"/>
              </a:solidFill>
              <a:latin typeface="Open Sans"/>
              <a:ea typeface="Open Sans"/>
              <a:cs typeface="Open Sans"/>
              <a:sym typeface="Open Sans"/>
            </a:endParaRPr>
          </a:p>
        </p:txBody>
      </p:sp>
      <p:sp>
        <p:nvSpPr>
          <p:cNvPr id="464" name="Google Shape;464;p14"/>
          <p:cNvSpPr/>
          <p:nvPr/>
        </p:nvSpPr>
        <p:spPr>
          <a:xfrm>
            <a:off x="7735512" y="6213457"/>
            <a:ext cx="2880000" cy="2160000"/>
          </a:xfrm>
          <a:prstGeom prst="round2DiagRect">
            <a:avLst>
              <a:gd name="adj1" fmla="val 16667"/>
              <a:gd name="adj2" fmla="val 0"/>
            </a:avLst>
          </a:prstGeom>
          <a:solidFill>
            <a:srgbClr val="788DA8"/>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Create the </a:t>
            </a:r>
            <a:r>
              <a:rPr lang="en-US" sz="2200" b="1" i="0" u="none" strike="noStrike" cap="none">
                <a:solidFill>
                  <a:schemeClr val="dk1"/>
                </a:solidFill>
                <a:latin typeface="Open Sans"/>
                <a:ea typeface="Open Sans"/>
                <a:cs typeface="Open Sans"/>
                <a:sym typeface="Open Sans"/>
              </a:rPr>
              <a:t>class</a:t>
            </a:r>
            <a:r>
              <a:rPr lang="en-US" sz="2200" b="0" i="0" u="none" strike="noStrike" cap="none">
                <a:solidFill>
                  <a:schemeClr val="dk1"/>
                </a:solidFill>
                <a:latin typeface="Open Sans"/>
                <a:ea typeface="Open Sans"/>
                <a:cs typeface="Open Sans"/>
                <a:sym typeface="Open Sans"/>
              </a:rPr>
              <a:t> that stores or retrieves the persistent object</a:t>
            </a:r>
            <a:endParaRPr sz="2200" b="0" i="0" u="none" strike="noStrike" cap="none">
              <a:solidFill>
                <a:schemeClr val="dk1"/>
              </a:solidFill>
              <a:latin typeface="Open Sans"/>
              <a:ea typeface="Open Sans"/>
              <a:cs typeface="Open Sans"/>
              <a:sym typeface="Open Sans"/>
            </a:endParaRPr>
          </a:p>
        </p:txBody>
      </p:sp>
      <p:sp>
        <p:nvSpPr>
          <p:cNvPr id="468" name="Google Shape;468;p14"/>
          <p:cNvSpPr/>
          <p:nvPr/>
        </p:nvSpPr>
        <p:spPr>
          <a:xfrm>
            <a:off x="9903129" y="1719835"/>
            <a:ext cx="2880000" cy="2160000"/>
          </a:xfrm>
          <a:prstGeom prst="round2DiagRect">
            <a:avLst>
              <a:gd name="adj1" fmla="val 16667"/>
              <a:gd name="adj2" fmla="val 0"/>
            </a:avLst>
          </a:prstGeom>
          <a:solidFill>
            <a:srgbClr val="BFBFBF"/>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Load the </a:t>
            </a:r>
            <a:r>
              <a:rPr lang="en-US" sz="2200" b="1" i="0" u="none" strike="noStrike" cap="none">
                <a:solidFill>
                  <a:schemeClr val="dk1"/>
                </a:solidFill>
                <a:latin typeface="Open Sans"/>
                <a:ea typeface="Open Sans"/>
                <a:cs typeface="Open Sans"/>
                <a:sym typeface="Open Sans"/>
              </a:rPr>
              <a:t>jar</a:t>
            </a:r>
            <a:r>
              <a:rPr lang="en-US" sz="2200" b="0" i="0" u="none" strike="noStrike" cap="none">
                <a:solidFill>
                  <a:schemeClr val="dk1"/>
                </a:solidFill>
                <a:latin typeface="Open Sans"/>
                <a:ea typeface="Open Sans"/>
                <a:cs typeface="Open Sans"/>
                <a:sym typeface="Open Sans"/>
              </a:rPr>
              <a:t> file</a:t>
            </a:r>
            <a:endParaRPr sz="2200" b="0" i="0" u="none" strike="noStrike" cap="none">
              <a:solidFill>
                <a:schemeClr val="dk1"/>
              </a:solidFill>
              <a:latin typeface="Open Sans"/>
              <a:ea typeface="Open Sans"/>
              <a:cs typeface="Open Sans"/>
              <a:sym typeface="Open Sans"/>
            </a:endParaRPr>
          </a:p>
        </p:txBody>
      </p:sp>
      <p:sp>
        <p:nvSpPr>
          <p:cNvPr id="469" name="Google Shape;469;p14"/>
          <p:cNvSpPr/>
          <p:nvPr/>
        </p:nvSpPr>
        <p:spPr>
          <a:xfrm>
            <a:off x="12070152" y="6236130"/>
            <a:ext cx="2880000" cy="2160000"/>
          </a:xfrm>
          <a:prstGeom prst="round2DiagRect">
            <a:avLst>
              <a:gd name="adj1" fmla="val 16667"/>
              <a:gd name="adj2" fmla="val 0"/>
            </a:avLst>
          </a:prstGeom>
          <a:solidFill>
            <a:srgbClr val="FEE599"/>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1" i="0" u="none" strike="noStrike" cap="none">
                <a:solidFill>
                  <a:schemeClr val="dk1"/>
                </a:solidFill>
                <a:latin typeface="Open Sans"/>
                <a:ea typeface="Open Sans"/>
                <a:cs typeface="Open Sans"/>
                <a:sym typeface="Open Sans"/>
              </a:rPr>
              <a:t>Run</a:t>
            </a:r>
            <a:r>
              <a:rPr lang="en-US" sz="2200" b="0" i="0" u="none" strike="noStrike" cap="none">
                <a:solidFill>
                  <a:schemeClr val="dk1"/>
                </a:solidFill>
                <a:latin typeface="Open Sans"/>
                <a:ea typeface="Open Sans"/>
                <a:cs typeface="Open Sans"/>
                <a:sym typeface="Open Sans"/>
              </a:rPr>
              <a:t> the application on command prompt</a:t>
            </a:r>
            <a:endParaRPr sz="2200" b="0" i="0" u="none" strike="noStrike" cap="none">
              <a:solidFill>
                <a:schemeClr val="dk1"/>
              </a:solidFill>
              <a:latin typeface="Open Sans"/>
              <a:ea typeface="Open Sans"/>
              <a:cs typeface="Open Sans"/>
              <a:sym typeface="Open Sans"/>
            </a:endParaRPr>
          </a:p>
        </p:txBody>
      </p:sp>
      <p:pic>
        <p:nvPicPr>
          <p:cNvPr id="470" name="Google Shape;470;p14"/>
          <p:cNvPicPr preferRelativeResize="0"/>
          <p:nvPr/>
        </p:nvPicPr>
        <p:blipFill rotWithShape="1">
          <a:blip r:embed="rId3">
            <a:alphaModFix/>
          </a:blip>
          <a:srcRect/>
          <a:stretch/>
        </p:blipFill>
        <p:spPr>
          <a:xfrm>
            <a:off x="385663" y="603159"/>
            <a:ext cx="15490281" cy="36576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15"/>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Configuration of Hibernate</a:t>
            </a:r>
            <a:endParaRPr/>
          </a:p>
        </p:txBody>
      </p:sp>
      <p:sp>
        <p:nvSpPr>
          <p:cNvPr id="477" name="Google Shape;477;p15"/>
          <p:cNvSpPr txBox="1">
            <a:spLocks noGrp="1"/>
          </p:cNvSpPr>
          <p:nvPr>
            <p:ph type="body" idx="1"/>
          </p:nvPr>
        </p:nvSpPr>
        <p:spPr>
          <a:xfrm>
            <a:off x="1902091" y="2363465"/>
            <a:ext cx="12451817" cy="5527418"/>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Configure Hibernate in Eclipse IDE.</a:t>
            </a:r>
            <a:endParaRPr/>
          </a:p>
        </p:txBody>
      </p:sp>
      <p:sp>
        <p:nvSpPr>
          <p:cNvPr id="478" name="Google Shape;478;p15"/>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20 min.</a:t>
            </a:r>
            <a:endParaRPr sz="22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83"/>
        <p:cNvGrpSpPr/>
        <p:nvPr/>
      </p:nvGrpSpPr>
      <p:grpSpPr>
        <a:xfrm>
          <a:off x="0" y="0"/>
          <a:ext cx="0" cy="0"/>
          <a:chOff x="0" y="0"/>
          <a:chExt cx="0" cy="0"/>
        </a:xfrm>
      </p:grpSpPr>
      <p:sp>
        <p:nvSpPr>
          <p:cNvPr id="484" name="Google Shape;484;p16"/>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 </a:t>
            </a:r>
            <a:endParaRPr>
              <a:latin typeface="Open Sans"/>
              <a:ea typeface="Open Sans"/>
              <a:cs typeface="Open Sans"/>
              <a:sym typeface="Open Sans"/>
            </a:endParaRPr>
          </a:p>
        </p:txBody>
      </p:sp>
      <p:sp>
        <p:nvSpPr>
          <p:cNvPr id="485" name="Google Shape;485;p16"/>
          <p:cNvSpPr txBox="1"/>
          <p:nvPr/>
        </p:nvSpPr>
        <p:spPr>
          <a:xfrm>
            <a:off x="1896550" y="1510529"/>
            <a:ext cx="12063900" cy="60477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a:solidFill>
                  <a:srgbClr val="3F3F3F"/>
                </a:solidFill>
                <a:latin typeface="Open Sans"/>
                <a:ea typeface="Open Sans"/>
                <a:cs typeface="Open Sans"/>
                <a:sym typeface="Open Sans"/>
              </a:rPr>
              <a:t>Steps to demonstrate hibernate configuration:</a:t>
            </a:r>
            <a:endParaRPr sz="2200">
              <a:solidFill>
                <a:srgbClr val="3F3F3F"/>
              </a:solidFill>
              <a:latin typeface="Open Sans"/>
              <a:ea typeface="Open Sans"/>
              <a:cs typeface="Open Sans"/>
              <a:sym typeface="Open Sans"/>
            </a:endParaRPr>
          </a:p>
          <a:p>
            <a:pPr marL="0" marR="0" lvl="0" indent="0" algn="l" rtl="0">
              <a:lnSpc>
                <a:spcPct val="150000"/>
              </a:lnSpc>
              <a:spcBef>
                <a:spcPts val="0"/>
              </a:spcBef>
              <a:spcAft>
                <a:spcPts val="0"/>
              </a:spcAft>
              <a:buNone/>
            </a:pPr>
            <a:endParaRPr sz="2200">
              <a:solidFill>
                <a:srgbClr val="3F3F3F"/>
              </a:solidFill>
              <a:latin typeface="Open Sans"/>
              <a:ea typeface="Open Sans"/>
              <a:cs typeface="Open Sans"/>
              <a:sym typeface="Open Sans"/>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dynamic web project in Eclipse IDE and add .jar files to load Hibernate and its dependencies. </a:t>
            </a:r>
            <a:endParaRPr sz="1400" b="0" i="0" u="none" strike="noStrike" cap="none">
              <a:solidFill>
                <a:srgbClr val="000000"/>
              </a:solidFill>
              <a:latin typeface="Arial"/>
              <a:ea typeface="Arial"/>
              <a:cs typeface="Arial"/>
              <a:sym typeface="Arial"/>
            </a:endParaRPr>
          </a:p>
          <a:p>
            <a:pPr marL="457189" marR="0" lvl="0" indent="-457189" algn="l" rtl="0">
              <a:lnSpc>
                <a:spcPct val="2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a:t>
            </a:r>
            <a:endParaRPr sz="1400" b="0" i="0" u="none" strike="noStrike" cap="none">
              <a:solidFill>
                <a:srgbClr val="000000"/>
              </a:solidFill>
              <a:latin typeface="Arial"/>
              <a:ea typeface="Arial"/>
              <a:cs typeface="Arial"/>
              <a:sym typeface="Arial"/>
            </a:endParaRPr>
          </a:p>
          <a:p>
            <a:pPr marL="457189" marR="0" lvl="0" indent="-457189" algn="l" rtl="0">
              <a:lnSpc>
                <a:spcPct val="2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an HTML file that calls the servlet.</a:t>
            </a:r>
            <a:endParaRPr sz="1400" b="0" i="0" u="none" strike="noStrike" cap="none">
              <a:solidFill>
                <a:srgbClr val="000000"/>
              </a:solidFill>
              <a:latin typeface="Arial"/>
              <a:ea typeface="Arial"/>
              <a:cs typeface="Arial"/>
              <a:sym typeface="Arial"/>
            </a:endParaRPr>
          </a:p>
          <a:p>
            <a:pPr marL="457200" marR="0" lvl="0" indent="-457200" algn="l" rtl="0">
              <a:lnSpc>
                <a:spcPct val="2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Run the HTML code on your browser. </a:t>
            </a:r>
            <a:endParaRPr sz="1400" b="0" i="0" u="none" strike="noStrike" cap="none">
              <a:solidFill>
                <a:srgbClr val="000000"/>
              </a:solidFill>
              <a:latin typeface="Arial"/>
              <a:ea typeface="Arial"/>
              <a:cs typeface="Arial"/>
              <a:sym typeface="Arial"/>
            </a:endParaRPr>
          </a:p>
          <a:p>
            <a:pPr marL="457200" marR="0" lvl="0" indent="-457200" algn="l" rtl="0">
              <a:lnSpc>
                <a:spcPct val="2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a:t>
            </a:r>
            <a:endParaRPr sz="1400" b="0" i="0" u="none" strike="noStrike" cap="none">
              <a:solidFill>
                <a:srgbClr val="000000"/>
              </a:solidFill>
              <a:latin typeface="Arial"/>
              <a:ea typeface="Arial"/>
              <a:cs typeface="Arial"/>
              <a:sym typeface="Arial"/>
            </a:endParaRPr>
          </a:p>
          <a:p>
            <a:pPr marL="457200" marR="0" lvl="0" indent="-457200" algn="l" rtl="0">
              <a:lnSpc>
                <a:spcPct val="2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2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486" name="Google Shape;486;p16"/>
          <p:cNvPicPr preferRelativeResize="0"/>
          <p:nvPr/>
        </p:nvPicPr>
        <p:blipFill rotWithShape="1">
          <a:blip r:embed="rId3">
            <a:alphaModFix/>
          </a:blip>
          <a:srcRect/>
          <a:stretch/>
        </p:blipFill>
        <p:spPr>
          <a:xfrm>
            <a:off x="4493450" y="603150"/>
            <a:ext cx="7274701" cy="36577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91"/>
        <p:cNvGrpSpPr/>
        <p:nvPr/>
      </p:nvGrpSpPr>
      <p:grpSpPr>
        <a:xfrm>
          <a:off x="0" y="0"/>
          <a:ext cx="0" cy="0"/>
          <a:chOff x="0" y="0"/>
          <a:chExt cx="0" cy="0"/>
        </a:xfrm>
      </p:grpSpPr>
      <p:sp>
        <p:nvSpPr>
          <p:cNvPr id="492" name="Google Shape;492;p17"/>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Hibernate Configuration Using XML in Eclipse</a:t>
            </a:r>
            <a:endParaRPr/>
          </a:p>
        </p:txBody>
      </p:sp>
      <p:sp>
        <p:nvSpPr>
          <p:cNvPr id="493" name="Google Shape;493;p17"/>
          <p:cNvSpPr txBox="1">
            <a:spLocks noGrp="1"/>
          </p:cNvSpPr>
          <p:nvPr>
            <p:ph type="body" idx="1"/>
          </p:nvPr>
        </p:nvSpPr>
        <p:spPr>
          <a:xfrm>
            <a:off x="1902091" y="2363465"/>
            <a:ext cx="12451817" cy="5527418"/>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Configure Hibernate using XML in Eclipse IDE.</a:t>
            </a:r>
            <a:endParaRPr b="1">
              <a:solidFill>
                <a:schemeClr val="dk1"/>
              </a:solidFill>
            </a:endParaRPr>
          </a:p>
          <a:p>
            <a:pPr marL="0" marR="0" lvl="0" indent="0" algn="l" rtl="0">
              <a:lnSpc>
                <a:spcPct val="90000"/>
              </a:lnSpc>
              <a:spcBef>
                <a:spcPts val="0"/>
              </a:spcBef>
              <a:spcAft>
                <a:spcPts val="0"/>
              </a:spcAft>
              <a:buClr>
                <a:schemeClr val="lt1"/>
              </a:buClr>
              <a:buSzPts val="800"/>
              <a:buFont typeface="Arial"/>
              <a:buNone/>
            </a:pPr>
            <a:endParaRPr/>
          </a:p>
        </p:txBody>
      </p:sp>
      <p:sp>
        <p:nvSpPr>
          <p:cNvPr id="494" name="Google Shape;494;p17"/>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20 min.</a:t>
            </a:r>
            <a:endParaRPr sz="22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18"/>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a:t>
            </a:r>
            <a:endParaRPr>
              <a:latin typeface="Open Sans"/>
              <a:ea typeface="Open Sans"/>
              <a:cs typeface="Open Sans"/>
              <a:sym typeface="Open Sans"/>
            </a:endParaRPr>
          </a:p>
        </p:txBody>
      </p:sp>
      <p:sp>
        <p:nvSpPr>
          <p:cNvPr id="501" name="Google Shape;501;p18"/>
          <p:cNvSpPr txBox="1"/>
          <p:nvPr/>
        </p:nvSpPr>
        <p:spPr>
          <a:xfrm>
            <a:off x="1661200" y="1535975"/>
            <a:ext cx="13375800" cy="68595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a:solidFill>
                  <a:srgbClr val="3F3F3F"/>
                </a:solidFill>
                <a:latin typeface="Open Sans"/>
                <a:ea typeface="Open Sans"/>
                <a:cs typeface="Open Sans"/>
                <a:sym typeface="Open Sans"/>
              </a:rPr>
              <a:t>Steps to demonstrate hibernate using XML:</a:t>
            </a:r>
            <a:endParaRPr sz="2200">
              <a:solidFill>
                <a:srgbClr val="3F3F3F"/>
              </a:solidFill>
              <a:latin typeface="Open Sans"/>
              <a:ea typeface="Open Sans"/>
              <a:cs typeface="Open Sans"/>
              <a:sym typeface="Open Sans"/>
            </a:endParaRPr>
          </a:p>
          <a:p>
            <a:pPr marL="0" marR="0" lvl="0" indent="0" algn="l" rtl="0">
              <a:lnSpc>
                <a:spcPct val="150000"/>
              </a:lnSpc>
              <a:spcBef>
                <a:spcPts val="0"/>
              </a:spcBef>
              <a:spcAft>
                <a:spcPts val="0"/>
              </a:spcAft>
              <a:buNone/>
            </a:pPr>
            <a:endParaRPr sz="2200">
              <a:solidFill>
                <a:srgbClr val="3F3F3F"/>
              </a:solidFill>
              <a:latin typeface="Open Sans"/>
              <a:ea typeface="Open Sans"/>
              <a:cs typeface="Open Sans"/>
              <a:sym typeface="Open Sans"/>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dynamic web project in Eclipse IDE and add .jar files to load Hibernate and its dependencies. </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database (ecommerce) and a table (eproduct) that contains laptops for sale; fill in sample data.</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 and database table with .hbm.xml files.</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Data access object class for the table.</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servlet that retrieves data and an HTML file that calls the servlet.</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Run the HTML code on your browser. </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502" name="Google Shape;502;p18"/>
          <p:cNvPicPr preferRelativeResize="0"/>
          <p:nvPr/>
        </p:nvPicPr>
        <p:blipFill rotWithShape="1">
          <a:blip r:embed="rId3">
            <a:alphaModFix/>
          </a:blip>
          <a:srcRect/>
          <a:stretch/>
        </p:blipFill>
        <p:spPr>
          <a:xfrm>
            <a:off x="4493450" y="603150"/>
            <a:ext cx="7274701" cy="3657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7"/>
        <p:cNvGrpSpPr/>
        <p:nvPr/>
      </p:nvGrpSpPr>
      <p:grpSpPr>
        <a:xfrm>
          <a:off x="0" y="0"/>
          <a:ext cx="0" cy="0"/>
          <a:chOff x="0" y="0"/>
          <a:chExt cx="0" cy="0"/>
        </a:xfrm>
      </p:grpSpPr>
      <p:sp>
        <p:nvSpPr>
          <p:cNvPr id="508" name="Google Shape;508;p19"/>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Hibernate Configuration Using Annotations in Eclipse</a:t>
            </a:r>
            <a:endParaRPr/>
          </a:p>
        </p:txBody>
      </p:sp>
      <p:sp>
        <p:nvSpPr>
          <p:cNvPr id="509" name="Google Shape;509;p19"/>
          <p:cNvSpPr txBox="1">
            <a:spLocks noGrp="1"/>
          </p:cNvSpPr>
          <p:nvPr>
            <p:ph type="body" idx="1"/>
          </p:nvPr>
        </p:nvSpPr>
        <p:spPr>
          <a:xfrm>
            <a:off x="1902091" y="2363465"/>
            <a:ext cx="12451817" cy="5527418"/>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Configure Hibernate using Annotations in Eclipse IDE.</a:t>
            </a:r>
            <a:endParaRPr/>
          </a:p>
        </p:txBody>
      </p:sp>
      <p:sp>
        <p:nvSpPr>
          <p:cNvPr id="510" name="Google Shape;510;p19"/>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20 min.</a:t>
            </a:r>
            <a:endParaRPr sz="22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20"/>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 </a:t>
            </a:r>
            <a:endParaRPr>
              <a:latin typeface="Open Sans"/>
              <a:ea typeface="Open Sans"/>
              <a:cs typeface="Open Sans"/>
              <a:sym typeface="Open Sans"/>
            </a:endParaRPr>
          </a:p>
        </p:txBody>
      </p:sp>
      <p:sp>
        <p:nvSpPr>
          <p:cNvPr id="517" name="Google Shape;517;p20"/>
          <p:cNvSpPr txBox="1"/>
          <p:nvPr/>
        </p:nvSpPr>
        <p:spPr>
          <a:xfrm>
            <a:off x="1705775" y="1271300"/>
            <a:ext cx="13691700" cy="75711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sz="2200">
                <a:solidFill>
                  <a:srgbClr val="3F3F3F"/>
                </a:solidFill>
                <a:latin typeface="Open Sans"/>
                <a:ea typeface="Open Sans"/>
                <a:cs typeface="Open Sans"/>
                <a:sym typeface="Open Sans"/>
              </a:rPr>
              <a:t>Steps to demonstrate hibernate using annotations:</a:t>
            </a:r>
            <a:endParaRPr sz="2200">
              <a:solidFill>
                <a:srgbClr val="3F3F3F"/>
              </a:solidFill>
              <a:latin typeface="Open Sans"/>
              <a:ea typeface="Open Sans"/>
              <a:cs typeface="Open Sans"/>
              <a:sym typeface="Open Sans"/>
            </a:endParaRPr>
          </a:p>
          <a:p>
            <a:pPr marL="0" marR="0" lvl="0" indent="0" algn="l" rtl="0">
              <a:lnSpc>
                <a:spcPct val="150000"/>
              </a:lnSpc>
              <a:spcBef>
                <a:spcPts val="0"/>
              </a:spcBef>
              <a:spcAft>
                <a:spcPts val="0"/>
              </a:spcAft>
              <a:buNone/>
            </a:pPr>
            <a:endParaRPr sz="2200">
              <a:solidFill>
                <a:srgbClr val="3F3F3F"/>
              </a:solidFill>
              <a:latin typeface="Open Sans"/>
              <a:ea typeface="Open Sans"/>
              <a:cs typeface="Open Sans"/>
              <a:sym typeface="Open Sans"/>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dynamic web project in Eclipse IDE and add .jar files to load Hibernate and its dependencies. </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database (e-commerce) and a table (e-product) that contains laptops for sale; fill in sample data.</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 and database table with .hbm.xml files.</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Data access object class for the table using Annotations.</a:t>
            </a:r>
            <a:endParaRPr sz="1400" b="0" i="0" u="none" strike="noStrike" cap="none">
              <a:solidFill>
                <a:srgbClr val="000000"/>
              </a:solidFill>
              <a:latin typeface="Arial"/>
              <a:ea typeface="Arial"/>
              <a:cs typeface="Arial"/>
              <a:sym typeface="Arial"/>
            </a:endParaRPr>
          </a:p>
          <a:p>
            <a:pPr marL="457189" marR="0" lvl="0" indent="-457189"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servlet that retrieves data using Annotations and an HTML file that calls the servlet.</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Run the HTML code on your browser. </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15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518" name="Google Shape;518;p20"/>
          <p:cNvPicPr preferRelativeResize="0"/>
          <p:nvPr/>
        </p:nvPicPr>
        <p:blipFill rotWithShape="1">
          <a:blip r:embed="rId3">
            <a:alphaModFix/>
          </a:blip>
          <a:srcRect/>
          <a:stretch/>
        </p:blipFill>
        <p:spPr>
          <a:xfrm>
            <a:off x="4493450" y="603150"/>
            <a:ext cx="7274701" cy="3657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21"/>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Hibernate Logging by Log4j</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22"/>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t>Hibernate Logging</a:t>
            </a:r>
            <a:endParaRPr/>
          </a:p>
        </p:txBody>
      </p:sp>
      <p:sp>
        <p:nvSpPr>
          <p:cNvPr id="530" name="Google Shape;530;p22"/>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Hibernate framework uses Log4j and Logback frameworks for logging.</a:t>
            </a:r>
            <a:endParaRPr sz="2200" b="0" i="0" u="none" strike="noStrike" cap="none">
              <a:solidFill>
                <a:srgbClr val="3F3F3F"/>
              </a:solidFill>
              <a:latin typeface="Open Sans"/>
              <a:ea typeface="Open Sans"/>
              <a:cs typeface="Open Sans"/>
              <a:sym typeface="Open Sans"/>
            </a:endParaRPr>
          </a:p>
        </p:txBody>
      </p:sp>
      <p:grpSp>
        <p:nvGrpSpPr>
          <p:cNvPr id="531" name="Google Shape;531;p22"/>
          <p:cNvGrpSpPr/>
          <p:nvPr/>
        </p:nvGrpSpPr>
        <p:grpSpPr>
          <a:xfrm>
            <a:off x="3089880" y="2137817"/>
            <a:ext cx="10105139" cy="5994697"/>
            <a:chOff x="366097" y="-1"/>
            <a:chExt cx="10105139" cy="5994697"/>
          </a:xfrm>
        </p:grpSpPr>
        <p:sp>
          <p:nvSpPr>
            <p:cNvPr id="532" name="Google Shape;532;p22"/>
            <p:cNvSpPr/>
            <p:nvPr/>
          </p:nvSpPr>
          <p:spPr>
            <a:xfrm>
              <a:off x="1505088" y="2997348"/>
              <a:ext cx="747179" cy="711870"/>
            </a:xfrm>
            <a:custGeom>
              <a:avLst/>
              <a:gdLst/>
              <a:ahLst/>
              <a:cxnLst/>
              <a:rect l="l" t="t" r="r" b="b"/>
              <a:pathLst>
                <a:path w="120000" h="120000" extrusionOk="0">
                  <a:moveTo>
                    <a:pt x="0" y="0"/>
                  </a:moveTo>
                  <a:lnTo>
                    <a:pt x="60000" y="0"/>
                  </a:lnTo>
                  <a:lnTo>
                    <a:pt x="60000" y="120000"/>
                  </a:lnTo>
                  <a:lnTo>
                    <a:pt x="120000" y="120000"/>
                  </a:lnTo>
                </a:path>
              </a:pathLst>
            </a:custGeom>
            <a:noFill/>
            <a:ln w="38100" cap="flat" cmpd="sng">
              <a:solidFill>
                <a:srgbClr val="7F7F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3" name="Google Shape;533;p22"/>
            <p:cNvSpPr txBox="1"/>
            <p:nvPr/>
          </p:nvSpPr>
          <p:spPr>
            <a:xfrm>
              <a:off x="1852877" y="3327483"/>
              <a:ext cx="51600" cy="516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Open Sans"/>
                <a:ea typeface="Open Sans"/>
                <a:cs typeface="Open Sans"/>
                <a:sym typeface="Open Sans"/>
              </a:endParaRPr>
            </a:p>
          </p:txBody>
        </p:sp>
        <p:sp>
          <p:nvSpPr>
            <p:cNvPr id="534" name="Google Shape;534;p22"/>
            <p:cNvSpPr/>
            <p:nvPr/>
          </p:nvSpPr>
          <p:spPr>
            <a:xfrm>
              <a:off x="5988162" y="2285478"/>
              <a:ext cx="747179" cy="711870"/>
            </a:xfrm>
            <a:custGeom>
              <a:avLst/>
              <a:gdLst/>
              <a:ahLst/>
              <a:cxnLst/>
              <a:rect l="l" t="t" r="r" b="b"/>
              <a:pathLst>
                <a:path w="120000" h="120000" extrusionOk="0">
                  <a:moveTo>
                    <a:pt x="0" y="0"/>
                  </a:moveTo>
                  <a:lnTo>
                    <a:pt x="60000" y="0"/>
                  </a:lnTo>
                  <a:lnTo>
                    <a:pt x="60000" y="120000"/>
                  </a:lnTo>
                  <a:lnTo>
                    <a:pt x="120000" y="120000"/>
                  </a:lnTo>
                </a:path>
              </a:pathLst>
            </a:custGeom>
            <a:noFill/>
            <a:ln w="38100" cap="flat" cmpd="sng">
              <a:solidFill>
                <a:srgbClr val="7F7F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5" name="Google Shape;535;p22"/>
            <p:cNvSpPr txBox="1"/>
            <p:nvPr/>
          </p:nvSpPr>
          <p:spPr>
            <a:xfrm>
              <a:off x="6335952" y="2615613"/>
              <a:ext cx="51600" cy="516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Arial"/>
                <a:buNone/>
              </a:pPr>
              <a:endParaRPr sz="500" b="0" i="0" u="none" strike="noStrike" cap="none">
                <a:solidFill>
                  <a:schemeClr val="dk1"/>
                </a:solidFill>
                <a:latin typeface="Arial"/>
                <a:ea typeface="Arial"/>
                <a:cs typeface="Arial"/>
                <a:sym typeface="Arial"/>
              </a:endParaRPr>
            </a:p>
          </p:txBody>
        </p:sp>
        <p:sp>
          <p:nvSpPr>
            <p:cNvPr id="536" name="Google Shape;536;p22"/>
            <p:cNvSpPr/>
            <p:nvPr/>
          </p:nvSpPr>
          <p:spPr>
            <a:xfrm>
              <a:off x="5988162" y="1573607"/>
              <a:ext cx="747179" cy="711870"/>
            </a:xfrm>
            <a:custGeom>
              <a:avLst/>
              <a:gdLst/>
              <a:ahLst/>
              <a:cxnLst/>
              <a:rect l="l" t="t" r="r" b="b"/>
              <a:pathLst>
                <a:path w="120000" h="120000" extrusionOk="0">
                  <a:moveTo>
                    <a:pt x="0" y="120000"/>
                  </a:moveTo>
                  <a:lnTo>
                    <a:pt x="60000" y="120000"/>
                  </a:lnTo>
                  <a:lnTo>
                    <a:pt x="60000" y="0"/>
                  </a:lnTo>
                  <a:lnTo>
                    <a:pt x="120000" y="0"/>
                  </a:lnTo>
                </a:path>
              </a:pathLst>
            </a:custGeom>
            <a:noFill/>
            <a:ln w="38100" cap="flat" cmpd="sng">
              <a:solidFill>
                <a:srgbClr val="7F7F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7" name="Google Shape;537;p22"/>
            <p:cNvSpPr txBox="1"/>
            <p:nvPr/>
          </p:nvSpPr>
          <p:spPr>
            <a:xfrm>
              <a:off x="6335952" y="1903742"/>
              <a:ext cx="51600" cy="516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500"/>
                <a:buFont typeface="Arial"/>
                <a:buNone/>
              </a:pPr>
              <a:endParaRPr sz="500" b="0" i="0" u="none" strike="noStrike" cap="none">
                <a:solidFill>
                  <a:schemeClr val="dk1"/>
                </a:solidFill>
                <a:latin typeface="Arial"/>
                <a:ea typeface="Arial"/>
                <a:cs typeface="Arial"/>
                <a:sym typeface="Arial"/>
              </a:endParaRPr>
            </a:p>
          </p:txBody>
        </p:sp>
        <p:sp>
          <p:nvSpPr>
            <p:cNvPr id="538" name="Google Shape;538;p22"/>
            <p:cNvSpPr/>
            <p:nvPr/>
          </p:nvSpPr>
          <p:spPr>
            <a:xfrm>
              <a:off x="1505088" y="2285478"/>
              <a:ext cx="747179" cy="711870"/>
            </a:xfrm>
            <a:custGeom>
              <a:avLst/>
              <a:gdLst/>
              <a:ahLst/>
              <a:cxnLst/>
              <a:rect l="l" t="t" r="r" b="b"/>
              <a:pathLst>
                <a:path w="120000" h="120000" extrusionOk="0">
                  <a:moveTo>
                    <a:pt x="0" y="120000"/>
                  </a:moveTo>
                  <a:lnTo>
                    <a:pt x="60000" y="120000"/>
                  </a:lnTo>
                  <a:lnTo>
                    <a:pt x="60000" y="0"/>
                  </a:lnTo>
                  <a:lnTo>
                    <a:pt x="120000" y="0"/>
                  </a:lnTo>
                </a:path>
              </a:pathLst>
            </a:custGeom>
            <a:noFill/>
            <a:ln w="38100" cap="flat" cmpd="sng">
              <a:solidFill>
                <a:srgbClr val="7F7F7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39" name="Google Shape;539;p22"/>
            <p:cNvSpPr txBox="1"/>
            <p:nvPr/>
          </p:nvSpPr>
          <p:spPr>
            <a:xfrm>
              <a:off x="1852877" y="2615613"/>
              <a:ext cx="51600" cy="51600"/>
            </a:xfrm>
            <a:prstGeom prst="rect">
              <a:avLst/>
            </a:prstGeom>
            <a:noFill/>
            <a:ln>
              <a:noFill/>
            </a:ln>
          </p:spPr>
          <p:txBody>
            <a:bodyPr spcFirstLastPara="1" wrap="square" lIns="12700" tIns="0" rIns="12700" bIns="0" anchor="ctr" anchorCtr="0">
              <a:noAutofit/>
            </a:bodyPr>
            <a:lstStyle/>
            <a:p>
              <a:pPr marL="0" marR="0" lvl="0" indent="0" algn="ctr"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Open Sans"/>
                <a:ea typeface="Open Sans"/>
                <a:cs typeface="Open Sans"/>
                <a:sym typeface="Open Sans"/>
              </a:endParaRPr>
            </a:p>
          </p:txBody>
        </p:sp>
        <p:sp>
          <p:nvSpPr>
            <p:cNvPr id="540" name="Google Shape;540;p22"/>
            <p:cNvSpPr/>
            <p:nvPr/>
          </p:nvSpPr>
          <p:spPr>
            <a:xfrm rot="-5400000">
              <a:off x="-2061756" y="2427852"/>
              <a:ext cx="5994697" cy="1138992"/>
            </a:xfrm>
            <a:prstGeom prst="rect">
              <a:avLst/>
            </a:prstGeom>
            <a:solidFill>
              <a:srgbClr val="3F97C0"/>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1" name="Google Shape;541;p22"/>
            <p:cNvSpPr txBox="1"/>
            <p:nvPr/>
          </p:nvSpPr>
          <p:spPr>
            <a:xfrm rot="-5400000">
              <a:off x="-2061756" y="2427852"/>
              <a:ext cx="5994697" cy="1138992"/>
            </a:xfrm>
            <a:prstGeom prst="rect">
              <a:avLst/>
            </a:prstGeom>
            <a:noFill/>
            <a:ln>
              <a:noFill/>
            </a:ln>
          </p:spPr>
          <p:txBody>
            <a:bodyPr spcFirstLastPara="1" wrap="square" lIns="17775" tIns="17775" rIns="17775" bIns="17775" anchor="ctr" anchorCtr="0">
              <a:noAutofit/>
            </a:bodyPr>
            <a:lstStyle/>
            <a:p>
              <a:pPr marL="0" marR="0" lvl="0" indent="0" algn="ctr" rtl="0">
                <a:lnSpc>
                  <a:spcPct val="90000"/>
                </a:lnSpc>
                <a:spcBef>
                  <a:spcPts val="0"/>
                </a:spcBef>
                <a:spcAft>
                  <a:spcPts val="0"/>
                </a:spcAft>
                <a:buClr>
                  <a:schemeClr val="dk1"/>
                </a:buClr>
                <a:buSzPts val="2800"/>
                <a:buFont typeface="Open Sans"/>
                <a:buNone/>
              </a:pPr>
              <a:r>
                <a:rPr lang="en-US" sz="2800" b="0" i="0" u="none" strike="noStrike" cap="none">
                  <a:solidFill>
                    <a:schemeClr val="dk1"/>
                  </a:solidFill>
                  <a:latin typeface="Open Sans"/>
                  <a:ea typeface="Open Sans"/>
                  <a:cs typeface="Open Sans"/>
                  <a:sym typeface="Open Sans"/>
                </a:rPr>
                <a:t>Hibernate Logging</a:t>
              </a:r>
              <a:endParaRPr sz="1400" b="0" i="0" u="none" strike="noStrike" cap="none">
                <a:solidFill>
                  <a:srgbClr val="000000"/>
                </a:solidFill>
                <a:latin typeface="Arial"/>
                <a:ea typeface="Arial"/>
                <a:cs typeface="Arial"/>
                <a:sym typeface="Arial"/>
              </a:endParaRPr>
            </a:p>
          </p:txBody>
        </p:sp>
        <p:sp>
          <p:nvSpPr>
            <p:cNvPr id="542" name="Google Shape;542;p22"/>
            <p:cNvSpPr/>
            <p:nvPr/>
          </p:nvSpPr>
          <p:spPr>
            <a:xfrm>
              <a:off x="2252267" y="1715982"/>
              <a:ext cx="3735895" cy="1138992"/>
            </a:xfrm>
            <a:prstGeom prst="rect">
              <a:avLst/>
            </a:prstGeom>
            <a:solidFill>
              <a:srgbClr val="FAC36F"/>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3" name="Google Shape;543;p22"/>
            <p:cNvSpPr txBox="1"/>
            <p:nvPr/>
          </p:nvSpPr>
          <p:spPr>
            <a:xfrm>
              <a:off x="2252267" y="1715982"/>
              <a:ext cx="3735895" cy="1138992"/>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chemeClr val="dk1"/>
                  </a:solidFill>
                  <a:latin typeface="Open Sans"/>
                  <a:ea typeface="Open Sans"/>
                  <a:cs typeface="Open Sans"/>
                  <a:sym typeface="Open Sans"/>
                </a:rPr>
                <a:t>Log4j framework</a:t>
              </a:r>
              <a:endParaRPr sz="1400" b="0" i="0" u="none" strike="noStrike" cap="none">
                <a:solidFill>
                  <a:srgbClr val="000000"/>
                </a:solidFill>
                <a:latin typeface="Arial"/>
                <a:ea typeface="Arial"/>
                <a:cs typeface="Arial"/>
                <a:sym typeface="Arial"/>
              </a:endParaRPr>
            </a:p>
          </p:txBody>
        </p:sp>
        <p:sp>
          <p:nvSpPr>
            <p:cNvPr id="544" name="Google Shape;544;p22"/>
            <p:cNvSpPr/>
            <p:nvPr/>
          </p:nvSpPr>
          <p:spPr>
            <a:xfrm>
              <a:off x="6735341" y="1004111"/>
              <a:ext cx="3735895" cy="1138992"/>
            </a:xfrm>
            <a:prstGeom prst="rect">
              <a:avLst/>
            </a:prstGeom>
            <a:solidFill>
              <a:srgbClr val="FFC972"/>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5" name="Google Shape;545;p22"/>
            <p:cNvSpPr txBox="1"/>
            <p:nvPr/>
          </p:nvSpPr>
          <p:spPr>
            <a:xfrm>
              <a:off x="6735341" y="1004111"/>
              <a:ext cx="3735895" cy="1138992"/>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chemeClr val="dk1"/>
                  </a:solidFill>
                  <a:latin typeface="Open Sans"/>
                  <a:ea typeface="Open Sans"/>
                  <a:cs typeface="Open Sans"/>
                  <a:sym typeface="Open Sans"/>
                </a:rPr>
                <a:t>log4j.xml</a:t>
              </a:r>
              <a:endParaRPr sz="1400" b="0" i="0" u="none" strike="noStrike" cap="none">
                <a:solidFill>
                  <a:srgbClr val="000000"/>
                </a:solidFill>
                <a:latin typeface="Arial"/>
                <a:ea typeface="Arial"/>
                <a:cs typeface="Arial"/>
                <a:sym typeface="Arial"/>
              </a:endParaRPr>
            </a:p>
          </p:txBody>
        </p:sp>
        <p:sp>
          <p:nvSpPr>
            <p:cNvPr id="546" name="Google Shape;546;p22"/>
            <p:cNvSpPr/>
            <p:nvPr/>
          </p:nvSpPr>
          <p:spPr>
            <a:xfrm>
              <a:off x="6735341" y="2427852"/>
              <a:ext cx="3735895" cy="1138992"/>
            </a:xfrm>
            <a:prstGeom prst="rect">
              <a:avLst/>
            </a:prstGeom>
            <a:solidFill>
              <a:srgbClr val="FFC972"/>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7" name="Google Shape;547;p22"/>
            <p:cNvSpPr txBox="1"/>
            <p:nvPr/>
          </p:nvSpPr>
          <p:spPr>
            <a:xfrm>
              <a:off x="6735341" y="2427852"/>
              <a:ext cx="3735895" cy="1138992"/>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chemeClr val="dk1"/>
                  </a:solidFill>
                  <a:latin typeface="Open Sans"/>
                  <a:ea typeface="Open Sans"/>
                  <a:cs typeface="Open Sans"/>
                  <a:sym typeface="Open Sans"/>
                </a:rPr>
                <a:t>log4j.properties</a:t>
              </a:r>
              <a:endParaRPr sz="1400" b="0" i="0" u="none" strike="noStrike" cap="none">
                <a:solidFill>
                  <a:srgbClr val="000000"/>
                </a:solidFill>
                <a:latin typeface="Arial"/>
                <a:ea typeface="Arial"/>
                <a:cs typeface="Arial"/>
                <a:sym typeface="Arial"/>
              </a:endParaRPr>
            </a:p>
          </p:txBody>
        </p:sp>
        <p:sp>
          <p:nvSpPr>
            <p:cNvPr id="548" name="Google Shape;548;p22"/>
            <p:cNvSpPr/>
            <p:nvPr/>
          </p:nvSpPr>
          <p:spPr>
            <a:xfrm>
              <a:off x="2252267" y="3139722"/>
              <a:ext cx="3735895" cy="1138992"/>
            </a:xfrm>
            <a:prstGeom prst="rect">
              <a:avLst/>
            </a:prstGeom>
            <a:solidFill>
              <a:srgbClr val="FAC36F"/>
            </a:solidFill>
            <a:ln w="2540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49" name="Google Shape;549;p22"/>
            <p:cNvSpPr txBox="1"/>
            <p:nvPr/>
          </p:nvSpPr>
          <p:spPr>
            <a:xfrm>
              <a:off x="2252267" y="3139722"/>
              <a:ext cx="3735895" cy="1138992"/>
            </a:xfrm>
            <a:prstGeom prst="rect">
              <a:avLst/>
            </a:prstGeom>
            <a:noFill/>
            <a:ln>
              <a:noFill/>
            </a:ln>
          </p:spPr>
          <p:txBody>
            <a:bodyPr spcFirstLastPara="1" wrap="square" lIns="15225" tIns="15225" rIns="15225" bIns="15225" anchor="ctr" anchorCtr="0">
              <a:noAutofit/>
            </a:bodyPr>
            <a:lstStyle/>
            <a:p>
              <a:pPr marL="0" marR="0" lvl="0" indent="0" algn="ctr" rtl="0">
                <a:lnSpc>
                  <a:spcPct val="90000"/>
                </a:lnSpc>
                <a:spcBef>
                  <a:spcPts val="0"/>
                </a:spcBef>
                <a:spcAft>
                  <a:spcPts val="0"/>
                </a:spcAft>
                <a:buClr>
                  <a:schemeClr val="dk1"/>
                </a:buClr>
                <a:buSzPts val="2400"/>
                <a:buFont typeface="Open Sans"/>
                <a:buNone/>
              </a:pPr>
              <a:r>
                <a:rPr lang="en-US" sz="2400" b="0" i="0" u="none" strike="noStrike" cap="none">
                  <a:solidFill>
                    <a:schemeClr val="dk1"/>
                  </a:solidFill>
                  <a:latin typeface="Open Sans"/>
                  <a:ea typeface="Open Sans"/>
                  <a:cs typeface="Open Sans"/>
                  <a:sym typeface="Open Sans"/>
                </a:rPr>
                <a:t>Logback framework</a:t>
              </a:r>
              <a:endParaRPr sz="1400" b="0" i="0" u="none" strike="noStrike" cap="none">
                <a:solidFill>
                  <a:srgbClr val="000000"/>
                </a:solidFill>
                <a:latin typeface="Arial"/>
                <a:ea typeface="Arial"/>
                <a:cs typeface="Arial"/>
                <a:sym typeface="Arial"/>
              </a:endParaRPr>
            </a:p>
          </p:txBody>
        </p:sp>
      </p:grpSp>
      <p:pic>
        <p:nvPicPr>
          <p:cNvPr id="550" name="Google Shape;550;p22"/>
          <p:cNvPicPr preferRelativeResize="0"/>
          <p:nvPr/>
        </p:nvPicPr>
        <p:blipFill rotWithShape="1">
          <a:blip r:embed="rId3">
            <a:alphaModFix/>
          </a:blip>
          <a:srcRect/>
          <a:stretch/>
        </p:blipFill>
        <p:spPr>
          <a:xfrm>
            <a:off x="5662963" y="603159"/>
            <a:ext cx="4935681" cy="36576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5"/>
        <p:cNvGrpSpPr/>
        <p:nvPr/>
      </p:nvGrpSpPr>
      <p:grpSpPr>
        <a:xfrm>
          <a:off x="0" y="0"/>
          <a:ext cx="0" cy="0"/>
          <a:chOff x="0" y="0"/>
          <a:chExt cx="0" cy="0"/>
        </a:xfrm>
      </p:grpSpPr>
      <p:sp>
        <p:nvSpPr>
          <p:cNvPr id="556" name="Google Shape;556;p23"/>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Hibernate Logging by Log4j Using log4j.xml </a:t>
            </a:r>
            <a:endParaRPr/>
          </a:p>
        </p:txBody>
      </p:sp>
      <p:sp>
        <p:nvSpPr>
          <p:cNvPr id="557" name="Google Shape;557;p23"/>
          <p:cNvSpPr/>
          <p:nvPr/>
        </p:nvSpPr>
        <p:spPr>
          <a:xfrm>
            <a:off x="6232031" y="2408389"/>
            <a:ext cx="5474598" cy="787296"/>
          </a:xfrm>
          <a:prstGeom prst="roundRect">
            <a:avLst>
              <a:gd name="adj" fmla="val 16667"/>
            </a:avLst>
          </a:prstGeom>
          <a:no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Load the </a:t>
            </a:r>
            <a:r>
              <a:rPr lang="en-US" sz="2200" b="1" i="0" u="none" strike="noStrike" cap="none">
                <a:solidFill>
                  <a:schemeClr val="dk1"/>
                </a:solidFill>
                <a:latin typeface="Open Sans"/>
                <a:ea typeface="Open Sans"/>
                <a:cs typeface="Open Sans"/>
                <a:sym typeface="Open Sans"/>
              </a:rPr>
              <a:t>jar files </a:t>
            </a:r>
            <a:r>
              <a:rPr lang="en-US" sz="2200" b="0" i="0" u="none" strike="noStrike" cap="none">
                <a:solidFill>
                  <a:schemeClr val="dk1"/>
                </a:solidFill>
                <a:latin typeface="Open Sans"/>
                <a:ea typeface="Open Sans"/>
                <a:cs typeface="Open Sans"/>
                <a:sym typeface="Open Sans"/>
              </a:rPr>
              <a:t>(slf4j.jar and log4j.jar) along with hibernate jar files</a:t>
            </a:r>
            <a:endParaRPr sz="1400" b="0" i="0" u="none" strike="noStrike" cap="none">
              <a:solidFill>
                <a:srgbClr val="000000"/>
              </a:solidFill>
              <a:latin typeface="Arial"/>
              <a:ea typeface="Arial"/>
              <a:cs typeface="Arial"/>
              <a:sym typeface="Arial"/>
            </a:endParaRPr>
          </a:p>
        </p:txBody>
      </p:sp>
      <p:sp>
        <p:nvSpPr>
          <p:cNvPr id="558" name="Google Shape;558;p23"/>
          <p:cNvSpPr/>
          <p:nvPr/>
        </p:nvSpPr>
        <p:spPr>
          <a:xfrm>
            <a:off x="6232031" y="4178351"/>
            <a:ext cx="5474598" cy="787296"/>
          </a:xfrm>
          <a:prstGeom prst="roundRect">
            <a:avLst>
              <a:gd name="adj" fmla="val 16667"/>
            </a:avLst>
          </a:prstGeom>
          <a:no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Create the log4j.xml file in </a:t>
            </a:r>
            <a:r>
              <a:rPr lang="en-US" sz="2200" b="1" i="0" u="none" strike="noStrike" cap="none">
                <a:solidFill>
                  <a:schemeClr val="dk1"/>
                </a:solidFill>
                <a:latin typeface="Open Sans"/>
                <a:ea typeface="Open Sans"/>
                <a:cs typeface="Open Sans"/>
                <a:sym typeface="Open Sans"/>
              </a:rPr>
              <a:t>src</a:t>
            </a:r>
            <a:r>
              <a:rPr lang="en-US" sz="2200" b="0" i="0" u="none" strike="noStrike" cap="none">
                <a:solidFill>
                  <a:schemeClr val="dk1"/>
                </a:solidFill>
                <a:latin typeface="Open Sans"/>
                <a:ea typeface="Open Sans"/>
                <a:cs typeface="Open Sans"/>
                <a:sym typeface="Open Sans"/>
              </a:rPr>
              <a:t> folder (same level as hibernate.xml file)</a:t>
            </a:r>
            <a:endParaRPr sz="1400" b="0" i="0" u="none" strike="noStrike" cap="none">
              <a:solidFill>
                <a:srgbClr val="000000"/>
              </a:solidFill>
              <a:latin typeface="Arial"/>
              <a:ea typeface="Arial"/>
              <a:cs typeface="Arial"/>
              <a:sym typeface="Arial"/>
            </a:endParaRPr>
          </a:p>
        </p:txBody>
      </p:sp>
      <p:sp>
        <p:nvSpPr>
          <p:cNvPr id="559" name="Google Shape;559;p23"/>
          <p:cNvSpPr/>
          <p:nvPr/>
        </p:nvSpPr>
        <p:spPr>
          <a:xfrm rot="5400000">
            <a:off x="8619009" y="3431770"/>
            <a:ext cx="700641" cy="515164"/>
          </a:xfrm>
          <a:prstGeom prst="rightArrow">
            <a:avLst>
              <a:gd name="adj1" fmla="val 50000"/>
              <a:gd name="adj2" fmla="val 50000"/>
            </a:avLst>
          </a:prstGeom>
          <a:solidFill>
            <a:srgbClr val="9CDAEB"/>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0" name="Google Shape;560;p23"/>
          <p:cNvSpPr/>
          <p:nvPr/>
        </p:nvSpPr>
        <p:spPr>
          <a:xfrm>
            <a:off x="2235993" y="3401999"/>
            <a:ext cx="2340000" cy="2340000"/>
          </a:xfrm>
          <a:prstGeom prst="diamond">
            <a:avLst/>
          </a:prstGeom>
          <a:solidFill>
            <a:srgbClr val="9CDAEB"/>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STEPS</a:t>
            </a:r>
            <a:endParaRPr sz="1400" b="0" i="0" u="none" strike="noStrike" cap="none">
              <a:solidFill>
                <a:srgbClr val="000000"/>
              </a:solidFill>
              <a:latin typeface="Arial"/>
              <a:ea typeface="Arial"/>
              <a:cs typeface="Arial"/>
              <a:sym typeface="Arial"/>
            </a:endParaRPr>
          </a:p>
        </p:txBody>
      </p:sp>
      <p:sp>
        <p:nvSpPr>
          <p:cNvPr id="561" name="Google Shape;561;p23"/>
          <p:cNvSpPr/>
          <p:nvPr/>
        </p:nvSpPr>
        <p:spPr>
          <a:xfrm>
            <a:off x="5813162" y="1868690"/>
            <a:ext cx="6283417" cy="5470980"/>
          </a:xfrm>
          <a:prstGeom prst="roundRect">
            <a:avLst>
              <a:gd name="adj" fmla="val 16667"/>
            </a:avLst>
          </a:prstGeom>
          <a:no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62" name="Google Shape;562;p23"/>
          <p:cNvSpPr/>
          <p:nvPr/>
        </p:nvSpPr>
        <p:spPr>
          <a:xfrm>
            <a:off x="6232031" y="5948313"/>
            <a:ext cx="5474598" cy="787296"/>
          </a:xfrm>
          <a:prstGeom prst="roundRect">
            <a:avLst>
              <a:gd name="adj" fmla="val 16667"/>
            </a:avLst>
          </a:prstGeom>
          <a:no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Configure the logger using DOMConfigurator in .java file</a:t>
            </a:r>
            <a:endParaRPr sz="1400" b="0" i="0" u="none" strike="noStrike" cap="none">
              <a:solidFill>
                <a:srgbClr val="000000"/>
              </a:solidFill>
              <a:latin typeface="Arial"/>
              <a:ea typeface="Arial"/>
              <a:cs typeface="Arial"/>
              <a:sym typeface="Arial"/>
            </a:endParaRPr>
          </a:p>
        </p:txBody>
      </p:sp>
      <p:sp>
        <p:nvSpPr>
          <p:cNvPr id="563" name="Google Shape;563;p23"/>
          <p:cNvSpPr/>
          <p:nvPr/>
        </p:nvSpPr>
        <p:spPr>
          <a:xfrm rot="5400000">
            <a:off x="8619009" y="5197065"/>
            <a:ext cx="700641" cy="515164"/>
          </a:xfrm>
          <a:prstGeom prst="rightArrow">
            <a:avLst>
              <a:gd name="adj1" fmla="val 50000"/>
              <a:gd name="adj2" fmla="val 50000"/>
            </a:avLst>
          </a:prstGeom>
          <a:solidFill>
            <a:srgbClr val="9CDAEB"/>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564" name="Google Shape;564;p23"/>
          <p:cNvGrpSpPr/>
          <p:nvPr/>
        </p:nvGrpSpPr>
        <p:grpSpPr>
          <a:xfrm>
            <a:off x="4575993" y="1868690"/>
            <a:ext cx="1017971" cy="5470980"/>
            <a:chOff x="7346262" y="3002090"/>
            <a:chExt cx="1017971" cy="2669551"/>
          </a:xfrm>
        </p:grpSpPr>
        <p:cxnSp>
          <p:nvCxnSpPr>
            <p:cNvPr id="565" name="Google Shape;565;p23"/>
            <p:cNvCxnSpPr>
              <a:stCxn id="560" idx="3"/>
              <a:endCxn id="566" idx="1"/>
            </p:cNvCxnSpPr>
            <p:nvPr/>
          </p:nvCxnSpPr>
          <p:spPr>
            <a:xfrm>
              <a:off x="7346262" y="4321163"/>
              <a:ext cx="390000" cy="15600"/>
            </a:xfrm>
            <a:prstGeom prst="straightConnector1">
              <a:avLst/>
            </a:prstGeom>
            <a:noFill/>
            <a:ln w="57150" cap="flat" cmpd="sng">
              <a:solidFill>
                <a:srgbClr val="3F97C0"/>
              </a:solidFill>
              <a:prstDash val="solid"/>
              <a:round/>
              <a:headEnd type="none" w="sm" len="sm"/>
              <a:tailEnd type="none" w="sm" len="sm"/>
            </a:ln>
          </p:spPr>
        </p:cxnSp>
        <p:sp>
          <p:nvSpPr>
            <p:cNvPr id="566" name="Google Shape;566;p23"/>
            <p:cNvSpPr/>
            <p:nvPr/>
          </p:nvSpPr>
          <p:spPr>
            <a:xfrm>
              <a:off x="7736212" y="3002090"/>
              <a:ext cx="628021" cy="2669551"/>
            </a:xfrm>
            <a:prstGeom prst="leftBrace">
              <a:avLst>
                <a:gd name="adj1" fmla="val 8333"/>
                <a:gd name="adj2" fmla="val 50000"/>
              </a:avLst>
            </a:prstGeom>
            <a:noFill/>
            <a:ln w="5715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pic>
        <p:nvPicPr>
          <p:cNvPr id="567" name="Google Shape;567;p23"/>
          <p:cNvPicPr preferRelativeResize="0"/>
          <p:nvPr/>
        </p:nvPicPr>
        <p:blipFill rotWithShape="1">
          <a:blip r:embed="rId3">
            <a:alphaModFix/>
          </a:blip>
          <a:srcRect/>
          <a:stretch/>
        </p:blipFill>
        <p:spPr>
          <a:xfrm>
            <a:off x="2840768" y="603159"/>
            <a:ext cx="10580070" cy="36576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572"/>
        <p:cNvGrpSpPr/>
        <p:nvPr/>
      </p:nvGrpSpPr>
      <p:grpSpPr>
        <a:xfrm>
          <a:off x="0" y="0"/>
          <a:ext cx="0" cy="0"/>
          <a:chOff x="0" y="0"/>
          <a:chExt cx="0" cy="0"/>
        </a:xfrm>
      </p:grpSpPr>
      <p:sp>
        <p:nvSpPr>
          <p:cNvPr id="573" name="Google Shape;573;p24"/>
          <p:cNvSpPr/>
          <p:nvPr/>
        </p:nvSpPr>
        <p:spPr>
          <a:xfrm>
            <a:off x="6232031" y="4178351"/>
            <a:ext cx="5474598" cy="787296"/>
          </a:xfrm>
          <a:prstGeom prst="roundRect">
            <a:avLst>
              <a:gd name="adj" fmla="val 16667"/>
            </a:avLst>
          </a:prstGeom>
          <a:noFill/>
          <a:ln w="25400" cap="flat" cmpd="sng">
            <a:solidFill>
              <a:srgbClr val="FAC3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Create the log4j.properties file in </a:t>
            </a:r>
            <a:r>
              <a:rPr lang="en-US" sz="2200" b="1" i="0" u="none" strike="noStrike" cap="none">
                <a:solidFill>
                  <a:schemeClr val="dk1"/>
                </a:solidFill>
                <a:latin typeface="Open Sans"/>
                <a:ea typeface="Open Sans"/>
                <a:cs typeface="Open Sans"/>
                <a:sym typeface="Open Sans"/>
              </a:rPr>
              <a:t>src</a:t>
            </a:r>
            <a:r>
              <a:rPr lang="en-US" sz="2200" b="0" i="0" u="none" strike="noStrike" cap="none">
                <a:solidFill>
                  <a:schemeClr val="dk1"/>
                </a:solidFill>
                <a:latin typeface="Open Sans"/>
                <a:ea typeface="Open Sans"/>
                <a:cs typeface="Open Sans"/>
                <a:sym typeface="Open Sans"/>
              </a:rPr>
              <a:t> folder (same level as hibernate.xml file)</a:t>
            </a:r>
            <a:endParaRPr sz="1400" b="0" i="0" u="none" strike="noStrike" cap="none">
              <a:solidFill>
                <a:srgbClr val="000000"/>
              </a:solidFill>
              <a:latin typeface="Arial"/>
              <a:ea typeface="Arial"/>
              <a:cs typeface="Arial"/>
              <a:sym typeface="Arial"/>
            </a:endParaRPr>
          </a:p>
        </p:txBody>
      </p:sp>
      <p:sp>
        <p:nvSpPr>
          <p:cNvPr id="574" name="Google Shape;574;p24"/>
          <p:cNvSpPr/>
          <p:nvPr/>
        </p:nvSpPr>
        <p:spPr>
          <a:xfrm rot="5400000">
            <a:off x="8619009" y="3431770"/>
            <a:ext cx="700641" cy="515164"/>
          </a:xfrm>
          <a:prstGeom prst="rightArrow">
            <a:avLst>
              <a:gd name="adj1" fmla="val 50000"/>
              <a:gd name="adj2" fmla="val 50000"/>
            </a:avLst>
          </a:prstGeom>
          <a:solidFill>
            <a:srgbClr val="FBCC83"/>
          </a:solidFill>
          <a:ln w="25400" cap="flat" cmpd="sng">
            <a:solidFill>
              <a:srgbClr val="C55A1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5" name="Google Shape;575;p24"/>
          <p:cNvSpPr/>
          <p:nvPr/>
        </p:nvSpPr>
        <p:spPr>
          <a:xfrm>
            <a:off x="2235993" y="3401999"/>
            <a:ext cx="2340000" cy="2340000"/>
          </a:xfrm>
          <a:prstGeom prst="diamond">
            <a:avLst/>
          </a:prstGeom>
          <a:solidFill>
            <a:srgbClr val="FBCC83"/>
          </a:solidFill>
          <a:ln w="25400" cap="flat" cmpd="sng">
            <a:solidFill>
              <a:srgbClr val="C55A1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STEPS</a:t>
            </a:r>
            <a:endParaRPr sz="1400" b="0" i="0" u="none" strike="noStrike" cap="none">
              <a:solidFill>
                <a:srgbClr val="000000"/>
              </a:solidFill>
              <a:latin typeface="Arial"/>
              <a:ea typeface="Arial"/>
              <a:cs typeface="Arial"/>
              <a:sym typeface="Arial"/>
            </a:endParaRPr>
          </a:p>
        </p:txBody>
      </p:sp>
      <p:sp>
        <p:nvSpPr>
          <p:cNvPr id="576" name="Google Shape;576;p24"/>
          <p:cNvSpPr/>
          <p:nvPr/>
        </p:nvSpPr>
        <p:spPr>
          <a:xfrm>
            <a:off x="5813162" y="1868690"/>
            <a:ext cx="6283417" cy="5470980"/>
          </a:xfrm>
          <a:prstGeom prst="roundRect">
            <a:avLst>
              <a:gd name="adj" fmla="val 16667"/>
            </a:avLst>
          </a:prstGeom>
          <a:noFill/>
          <a:ln w="25400" cap="flat" cmpd="sng">
            <a:solidFill>
              <a:srgbClr val="C55A1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577" name="Google Shape;577;p24"/>
          <p:cNvSpPr/>
          <p:nvPr/>
        </p:nvSpPr>
        <p:spPr>
          <a:xfrm>
            <a:off x="6232031" y="5948313"/>
            <a:ext cx="5474598" cy="787296"/>
          </a:xfrm>
          <a:prstGeom prst="roundRect">
            <a:avLst>
              <a:gd name="adj" fmla="val 16667"/>
            </a:avLst>
          </a:prstGeom>
          <a:noFill/>
          <a:ln w="25400" cap="flat" cmpd="sng">
            <a:solidFill>
              <a:srgbClr val="FBCC8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Configure the logger using PropertyConfigurator in .java file</a:t>
            </a:r>
            <a:endParaRPr sz="1400" b="0" i="0" u="none" strike="noStrike" cap="none">
              <a:solidFill>
                <a:srgbClr val="000000"/>
              </a:solidFill>
              <a:latin typeface="Arial"/>
              <a:ea typeface="Arial"/>
              <a:cs typeface="Arial"/>
              <a:sym typeface="Arial"/>
            </a:endParaRPr>
          </a:p>
        </p:txBody>
      </p:sp>
      <p:sp>
        <p:nvSpPr>
          <p:cNvPr id="578" name="Google Shape;578;p24"/>
          <p:cNvSpPr/>
          <p:nvPr/>
        </p:nvSpPr>
        <p:spPr>
          <a:xfrm rot="5400000">
            <a:off x="8619009" y="5197065"/>
            <a:ext cx="700641" cy="515164"/>
          </a:xfrm>
          <a:prstGeom prst="rightArrow">
            <a:avLst>
              <a:gd name="adj1" fmla="val 50000"/>
              <a:gd name="adj2" fmla="val 50000"/>
            </a:avLst>
          </a:prstGeom>
          <a:solidFill>
            <a:srgbClr val="FBCC83"/>
          </a:solidFill>
          <a:ln w="25400" cap="flat" cmpd="sng">
            <a:solidFill>
              <a:srgbClr val="C55A1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grpSp>
        <p:nvGrpSpPr>
          <p:cNvPr id="579" name="Google Shape;579;p24"/>
          <p:cNvGrpSpPr/>
          <p:nvPr/>
        </p:nvGrpSpPr>
        <p:grpSpPr>
          <a:xfrm>
            <a:off x="4575993" y="1868690"/>
            <a:ext cx="1017971" cy="5470980"/>
            <a:chOff x="7346262" y="3002090"/>
            <a:chExt cx="1017971" cy="2669551"/>
          </a:xfrm>
        </p:grpSpPr>
        <p:cxnSp>
          <p:nvCxnSpPr>
            <p:cNvPr id="580" name="Google Shape;580;p24"/>
            <p:cNvCxnSpPr>
              <a:stCxn id="575" idx="3"/>
              <a:endCxn id="581" idx="1"/>
            </p:cNvCxnSpPr>
            <p:nvPr/>
          </p:nvCxnSpPr>
          <p:spPr>
            <a:xfrm>
              <a:off x="7346262" y="4321163"/>
              <a:ext cx="390000" cy="15600"/>
            </a:xfrm>
            <a:prstGeom prst="straightConnector1">
              <a:avLst/>
            </a:prstGeom>
            <a:noFill/>
            <a:ln w="57150" cap="flat" cmpd="sng">
              <a:solidFill>
                <a:srgbClr val="C96623"/>
              </a:solidFill>
              <a:prstDash val="solid"/>
              <a:round/>
              <a:headEnd type="none" w="sm" len="sm"/>
              <a:tailEnd type="none" w="sm" len="sm"/>
            </a:ln>
          </p:spPr>
        </p:cxnSp>
        <p:sp>
          <p:nvSpPr>
            <p:cNvPr id="581" name="Google Shape;581;p24"/>
            <p:cNvSpPr/>
            <p:nvPr/>
          </p:nvSpPr>
          <p:spPr>
            <a:xfrm>
              <a:off x="7736212" y="3002090"/>
              <a:ext cx="628021" cy="2669551"/>
            </a:xfrm>
            <a:prstGeom prst="leftBrace">
              <a:avLst>
                <a:gd name="adj1" fmla="val 8333"/>
                <a:gd name="adj2" fmla="val 50000"/>
              </a:avLst>
            </a:prstGeom>
            <a:noFill/>
            <a:ln w="57150" cap="flat" cmpd="sng">
              <a:solidFill>
                <a:srgbClr val="C966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582" name="Google Shape;582;p24"/>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Hibernate Logging by Log4j Using log4j.properties</a:t>
            </a:r>
            <a:endParaRPr/>
          </a:p>
        </p:txBody>
      </p:sp>
      <p:sp>
        <p:nvSpPr>
          <p:cNvPr id="583" name="Google Shape;583;p24"/>
          <p:cNvSpPr/>
          <p:nvPr/>
        </p:nvSpPr>
        <p:spPr>
          <a:xfrm>
            <a:off x="6232031" y="2408389"/>
            <a:ext cx="5474598" cy="787296"/>
          </a:xfrm>
          <a:prstGeom prst="roundRect">
            <a:avLst>
              <a:gd name="adj" fmla="val 16667"/>
            </a:avLst>
          </a:prstGeom>
          <a:noFill/>
          <a:ln w="25400" cap="flat" cmpd="sng">
            <a:solidFill>
              <a:srgbClr val="FAC36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Load the </a:t>
            </a:r>
            <a:r>
              <a:rPr lang="en-US" sz="2200" b="1" i="0" u="none" strike="noStrike" cap="none">
                <a:solidFill>
                  <a:schemeClr val="dk1"/>
                </a:solidFill>
                <a:latin typeface="Open Sans"/>
                <a:ea typeface="Open Sans"/>
                <a:cs typeface="Open Sans"/>
                <a:sym typeface="Open Sans"/>
              </a:rPr>
              <a:t>jar files </a:t>
            </a:r>
            <a:r>
              <a:rPr lang="en-US" sz="2200" b="0" i="0" u="none" strike="noStrike" cap="none">
                <a:solidFill>
                  <a:schemeClr val="dk1"/>
                </a:solidFill>
                <a:latin typeface="Open Sans"/>
                <a:ea typeface="Open Sans"/>
                <a:cs typeface="Open Sans"/>
                <a:sym typeface="Open Sans"/>
              </a:rPr>
              <a:t>(slf4j.jar and log4j.jar) along with hibernate jar files</a:t>
            </a:r>
            <a:endParaRPr sz="1400" b="0" i="0" u="none" strike="noStrike" cap="none">
              <a:solidFill>
                <a:srgbClr val="000000"/>
              </a:solidFill>
              <a:latin typeface="Arial"/>
              <a:ea typeface="Arial"/>
              <a:cs typeface="Arial"/>
              <a:sym typeface="Arial"/>
            </a:endParaRPr>
          </a:p>
        </p:txBody>
      </p:sp>
      <p:pic>
        <p:nvPicPr>
          <p:cNvPr id="584" name="Google Shape;584;p24"/>
          <p:cNvPicPr preferRelativeResize="0"/>
          <p:nvPr/>
        </p:nvPicPr>
        <p:blipFill rotWithShape="1">
          <a:blip r:embed="rId3">
            <a:alphaModFix/>
          </a:blip>
          <a:srcRect/>
          <a:stretch/>
        </p:blipFill>
        <p:spPr>
          <a:xfrm>
            <a:off x="1729861" y="603159"/>
            <a:ext cx="12801885" cy="36576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89"/>
        <p:cNvGrpSpPr/>
        <p:nvPr/>
      </p:nvGrpSpPr>
      <p:grpSpPr>
        <a:xfrm>
          <a:off x="0" y="0"/>
          <a:ext cx="0" cy="0"/>
          <a:chOff x="0" y="0"/>
          <a:chExt cx="0" cy="0"/>
        </a:xfrm>
      </p:grpSpPr>
      <p:sp>
        <p:nvSpPr>
          <p:cNvPr id="590" name="Google Shape;590;p25"/>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Hibernate Logging by Log4j</a:t>
            </a:r>
            <a:endParaRPr/>
          </a:p>
        </p:txBody>
      </p:sp>
      <p:sp>
        <p:nvSpPr>
          <p:cNvPr id="591" name="Google Shape;591;p25"/>
          <p:cNvSpPr txBox="1">
            <a:spLocks noGrp="1"/>
          </p:cNvSpPr>
          <p:nvPr>
            <p:ph type="body" idx="1"/>
          </p:nvPr>
        </p:nvSpPr>
        <p:spPr>
          <a:xfrm>
            <a:off x="1902091" y="2363465"/>
            <a:ext cx="12451817" cy="5527418"/>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Demonstrate Hibernate logging by Log4j.</a:t>
            </a:r>
            <a:endParaRPr b="1">
              <a:solidFill>
                <a:schemeClr val="dk1"/>
              </a:solidFill>
            </a:endParaRPr>
          </a:p>
        </p:txBody>
      </p:sp>
      <p:sp>
        <p:nvSpPr>
          <p:cNvPr id="592" name="Google Shape;592;p25"/>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20 min.</a:t>
            </a:r>
            <a:endParaRPr sz="22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97"/>
        <p:cNvGrpSpPr/>
        <p:nvPr/>
      </p:nvGrpSpPr>
      <p:grpSpPr>
        <a:xfrm>
          <a:off x="0" y="0"/>
          <a:ext cx="0" cy="0"/>
          <a:chOff x="0" y="0"/>
          <a:chExt cx="0" cy="0"/>
        </a:xfrm>
      </p:grpSpPr>
      <p:sp>
        <p:nvSpPr>
          <p:cNvPr id="598" name="Google Shape;598;p26"/>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 </a:t>
            </a:r>
            <a:endParaRPr>
              <a:latin typeface="Open Sans"/>
              <a:ea typeface="Open Sans"/>
              <a:cs typeface="Open Sans"/>
              <a:sym typeface="Open Sans"/>
            </a:endParaRPr>
          </a:p>
        </p:txBody>
      </p:sp>
      <p:sp>
        <p:nvSpPr>
          <p:cNvPr id="599" name="Google Shape;599;p26"/>
          <p:cNvSpPr txBox="1"/>
          <p:nvPr/>
        </p:nvSpPr>
        <p:spPr>
          <a:xfrm>
            <a:off x="2087763" y="1267927"/>
            <a:ext cx="12063900" cy="68940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200">
                <a:solidFill>
                  <a:srgbClr val="3F3F3F"/>
                </a:solidFill>
                <a:latin typeface="Open Sans"/>
                <a:ea typeface="Open Sans"/>
                <a:cs typeface="Open Sans"/>
                <a:sym typeface="Open Sans"/>
              </a:rPr>
              <a:t>Steps to demonstrate hibernate logging by Log4j:</a:t>
            </a:r>
            <a:endParaRPr sz="2200">
              <a:solidFill>
                <a:srgbClr val="3F3F3F"/>
              </a:solidFill>
              <a:latin typeface="Open Sans"/>
              <a:ea typeface="Open Sans"/>
              <a:cs typeface="Open Sans"/>
              <a:sym typeface="Open Sans"/>
            </a:endParaRPr>
          </a:p>
          <a:p>
            <a:pPr marL="0" marR="0" lvl="0" indent="0" algn="l" rtl="0">
              <a:lnSpc>
                <a:spcPct val="115000"/>
              </a:lnSpc>
              <a:spcBef>
                <a:spcPts val="0"/>
              </a:spcBef>
              <a:spcAft>
                <a:spcPts val="0"/>
              </a:spcAft>
              <a:buNone/>
            </a:pPr>
            <a:endParaRPr sz="2200">
              <a:solidFill>
                <a:srgbClr val="3F3F3F"/>
              </a:solidFill>
              <a:latin typeface="Open Sans"/>
              <a:ea typeface="Open Sans"/>
              <a:cs typeface="Open Sans"/>
              <a:sym typeface="Open Sans"/>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dynamic web project in Eclipse IDE and the required jar files to load Hibernate and its dependencies. </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Add the required jar files to load log4j.</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servlet that opens a Hibernate session and closes it with logging enabled.</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an HTML file that calls the servlet. Run the HTML file on the browser.</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600" name="Google Shape;600;p26"/>
          <p:cNvPicPr preferRelativeResize="0"/>
          <p:nvPr/>
        </p:nvPicPr>
        <p:blipFill rotWithShape="1">
          <a:blip r:embed="rId3">
            <a:alphaModFix/>
          </a:blip>
          <a:srcRect/>
          <a:stretch/>
        </p:blipFill>
        <p:spPr>
          <a:xfrm>
            <a:off x="4493450" y="603150"/>
            <a:ext cx="7274701" cy="36577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sp>
        <p:nvSpPr>
          <p:cNvPr id="605" name="Google Shape;605;p27"/>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Hibernate Mapping</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10"/>
        <p:cNvGrpSpPr/>
        <p:nvPr/>
      </p:nvGrpSpPr>
      <p:grpSpPr>
        <a:xfrm>
          <a:off x="0" y="0"/>
          <a:ext cx="0" cy="0"/>
          <a:chOff x="0" y="0"/>
          <a:chExt cx="0" cy="0"/>
        </a:xfrm>
      </p:grpSpPr>
      <p:sp>
        <p:nvSpPr>
          <p:cNvPr id="611" name="Google Shape;611;p28"/>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Collection Mapping in Hibernate</a:t>
            </a:r>
            <a:endParaRPr/>
          </a:p>
        </p:txBody>
      </p:sp>
      <p:sp>
        <p:nvSpPr>
          <p:cNvPr id="612" name="Google Shape;612;p28"/>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Collection mapping as value type is supported by Hibernate  </a:t>
            </a:r>
            <a:endParaRPr sz="2200" b="0" i="0" u="none" strike="noStrike" cap="none">
              <a:solidFill>
                <a:srgbClr val="3F3F3F"/>
              </a:solidFill>
              <a:latin typeface="Open Sans"/>
              <a:ea typeface="Open Sans"/>
              <a:cs typeface="Open Sans"/>
              <a:sym typeface="Open Sans"/>
            </a:endParaRPr>
          </a:p>
        </p:txBody>
      </p:sp>
      <p:grpSp>
        <p:nvGrpSpPr>
          <p:cNvPr id="613" name="Google Shape;613;p28"/>
          <p:cNvGrpSpPr/>
          <p:nvPr/>
        </p:nvGrpSpPr>
        <p:grpSpPr>
          <a:xfrm>
            <a:off x="2235835" y="2580601"/>
            <a:ext cx="4896644" cy="5289084"/>
            <a:chOff x="2073771" y="1468871"/>
            <a:chExt cx="5058707" cy="5836260"/>
          </a:xfrm>
        </p:grpSpPr>
        <p:sp>
          <p:nvSpPr>
            <p:cNvPr id="614" name="Google Shape;614;p28"/>
            <p:cNvSpPr/>
            <p:nvPr/>
          </p:nvSpPr>
          <p:spPr>
            <a:xfrm>
              <a:off x="2073771" y="3066203"/>
              <a:ext cx="5058707" cy="4238928"/>
            </a:xfrm>
            <a:prstGeom prst="rect">
              <a:avLst/>
            </a:prstGeom>
            <a:solidFill>
              <a:srgbClr val="D8D8D8"/>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a:solidFill>
                  <a:schemeClr val="lt1"/>
                </a:solidFill>
                <a:latin typeface="Arial"/>
                <a:ea typeface="Arial"/>
                <a:cs typeface="Arial"/>
                <a:sym typeface="Arial"/>
              </a:endParaRPr>
            </a:p>
          </p:txBody>
        </p:sp>
        <p:sp>
          <p:nvSpPr>
            <p:cNvPr id="615" name="Google Shape;615;p28"/>
            <p:cNvSpPr/>
            <p:nvPr/>
          </p:nvSpPr>
          <p:spPr>
            <a:xfrm>
              <a:off x="2348019" y="3129064"/>
              <a:ext cx="4510033" cy="3970408"/>
            </a:xfrm>
            <a:prstGeom prst="rect">
              <a:avLst/>
            </a:prstGeom>
            <a:noFill/>
            <a:ln>
              <a:noFill/>
            </a:ln>
          </p:spPr>
          <p:txBody>
            <a:bodyPr spcFirstLastPara="1" wrap="square" lIns="91425" tIns="45700" rIns="91425" bIns="45700" anchor="t" anchorCtr="0">
              <a:spAutoFit/>
            </a:bodyPr>
            <a:lstStyle/>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java.util.List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java.util.Set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java.util.SortedSet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java.util.Map</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java.util.SortedMap</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java.util.Collection</a:t>
              </a:r>
              <a:endParaRPr sz="1400" b="0" i="0" u="none" strike="noStrike" cap="none">
                <a:solidFill>
                  <a:srgbClr val="000000"/>
                </a:solidFill>
                <a:latin typeface="Arial"/>
                <a:ea typeface="Arial"/>
                <a:cs typeface="Arial"/>
                <a:sym typeface="Arial"/>
              </a:endParaRPr>
            </a:p>
          </p:txBody>
        </p:sp>
        <p:grpSp>
          <p:nvGrpSpPr>
            <p:cNvPr id="616" name="Google Shape;616;p28"/>
            <p:cNvGrpSpPr/>
            <p:nvPr/>
          </p:nvGrpSpPr>
          <p:grpSpPr>
            <a:xfrm>
              <a:off x="2073771" y="1468871"/>
              <a:ext cx="5058707" cy="2446552"/>
              <a:chOff x="963430" y="1468871"/>
              <a:chExt cx="5058707" cy="2446552"/>
            </a:xfrm>
          </p:grpSpPr>
          <p:grpSp>
            <p:nvGrpSpPr>
              <p:cNvPr id="617" name="Google Shape;617;p28"/>
              <p:cNvGrpSpPr/>
              <p:nvPr/>
            </p:nvGrpSpPr>
            <p:grpSpPr>
              <a:xfrm>
                <a:off x="963430" y="1468871"/>
                <a:ext cx="5058707" cy="2446552"/>
                <a:chOff x="963430" y="2629922"/>
                <a:chExt cx="5058707" cy="2446552"/>
              </a:xfrm>
            </p:grpSpPr>
            <p:grpSp>
              <p:nvGrpSpPr>
                <p:cNvPr id="618" name="Google Shape;618;p28"/>
                <p:cNvGrpSpPr/>
                <p:nvPr/>
              </p:nvGrpSpPr>
              <p:grpSpPr>
                <a:xfrm rot="-5400000">
                  <a:off x="4572421" y="3700954"/>
                  <a:ext cx="1649618" cy="1101423"/>
                  <a:chOff x="8202447" y="2775985"/>
                  <a:chExt cx="1566863" cy="909638"/>
                </a:xfrm>
              </p:grpSpPr>
              <p:sp>
                <p:nvSpPr>
                  <p:cNvPr id="619" name="Google Shape;619;p28"/>
                  <p:cNvSpPr/>
                  <p:nvPr/>
                </p:nvSpPr>
                <p:spPr>
                  <a:xfrm>
                    <a:off x="8202447" y="2775985"/>
                    <a:ext cx="492125" cy="909638"/>
                  </a:xfrm>
                  <a:custGeom>
                    <a:avLst/>
                    <a:gdLst/>
                    <a:ahLst/>
                    <a:cxnLst/>
                    <a:rect l="l" t="t" r="r" b="b"/>
                    <a:pathLst>
                      <a:path w="310" h="573" extrusionOk="0">
                        <a:moveTo>
                          <a:pt x="310" y="0"/>
                        </a:moveTo>
                        <a:lnTo>
                          <a:pt x="0" y="287"/>
                        </a:lnTo>
                        <a:lnTo>
                          <a:pt x="310" y="573"/>
                        </a:lnTo>
                        <a:lnTo>
                          <a:pt x="310" y="434"/>
                        </a:lnTo>
                        <a:lnTo>
                          <a:pt x="310" y="287"/>
                        </a:lnTo>
                        <a:lnTo>
                          <a:pt x="310" y="143"/>
                        </a:lnTo>
                        <a:lnTo>
                          <a:pt x="310" y="0"/>
                        </a:lnTo>
                        <a:close/>
                      </a:path>
                    </a:pathLst>
                  </a:custGeom>
                  <a:solidFill>
                    <a:srgbClr val="3F97C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20" name="Google Shape;620;p28"/>
                  <p:cNvSpPr/>
                  <p:nvPr/>
                </p:nvSpPr>
                <p:spPr>
                  <a:xfrm>
                    <a:off x="8694572" y="3002998"/>
                    <a:ext cx="1074738" cy="461963"/>
                  </a:xfrm>
                  <a:custGeom>
                    <a:avLst/>
                    <a:gdLst/>
                    <a:ahLst/>
                    <a:cxnLst/>
                    <a:rect l="l" t="t" r="r" b="b"/>
                    <a:pathLst>
                      <a:path w="677" h="291" extrusionOk="0">
                        <a:moveTo>
                          <a:pt x="386" y="0"/>
                        </a:moveTo>
                        <a:lnTo>
                          <a:pt x="0" y="0"/>
                        </a:lnTo>
                        <a:lnTo>
                          <a:pt x="0" y="144"/>
                        </a:lnTo>
                        <a:lnTo>
                          <a:pt x="0" y="291"/>
                        </a:lnTo>
                        <a:lnTo>
                          <a:pt x="677" y="291"/>
                        </a:lnTo>
                        <a:lnTo>
                          <a:pt x="386" y="0"/>
                        </a:lnTo>
                        <a:close/>
                      </a:path>
                    </a:pathLst>
                  </a:custGeom>
                  <a:solidFill>
                    <a:srgbClr val="3F97C0"/>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621" name="Google Shape;621;p28"/>
                <p:cNvSpPr txBox="1"/>
                <p:nvPr/>
              </p:nvSpPr>
              <p:spPr>
                <a:xfrm>
                  <a:off x="963430" y="2629922"/>
                  <a:ext cx="5058707" cy="1437605"/>
                </a:xfrm>
                <a:prstGeom prst="rect">
                  <a:avLst/>
                </a:prstGeom>
                <a:solidFill>
                  <a:srgbClr val="3F97C0"/>
                </a:solidFill>
                <a:ln w="9525" cap="flat" cmpd="sng">
                  <a:solidFill>
                    <a:schemeClr val="dk1"/>
                  </a:solidFill>
                  <a:prstDash val="solid"/>
                  <a:round/>
                  <a:headEnd type="none" w="sm" len="sm"/>
                  <a:tailEnd type="none" w="sm" len="sm"/>
                </a:ln>
              </p:spPr>
              <p:txBody>
                <a:bodyPr spcFirstLastPara="1" wrap="square" lIns="121900" tIns="60950" rIns="121900" bIns="60950" anchor="t" anchorCtr="0">
                  <a:noAutofit/>
                </a:bodyPr>
                <a:lstStyle/>
                <a:p>
                  <a:pPr marL="0" marR="0" lvl="0" indent="0" algn="ctr" rtl="0">
                    <a:lnSpc>
                      <a:spcPct val="100000"/>
                    </a:lnSpc>
                    <a:spcBef>
                      <a:spcPts val="0"/>
                    </a:spcBef>
                    <a:spcAft>
                      <a:spcPts val="0"/>
                    </a:spcAft>
                    <a:buClr>
                      <a:srgbClr val="A5A5A5"/>
                    </a:buClr>
                    <a:buSzPts val="2400"/>
                    <a:buFont typeface="Arial"/>
                    <a:buNone/>
                  </a:pPr>
                  <a:endParaRPr sz="2400" b="1" i="0" u="none" strike="noStrike" cap="none">
                    <a:solidFill>
                      <a:srgbClr val="F2F2F2"/>
                    </a:solidFill>
                    <a:latin typeface="Arial"/>
                    <a:ea typeface="Arial"/>
                    <a:cs typeface="Arial"/>
                    <a:sym typeface="Arial"/>
                  </a:endParaRPr>
                </a:p>
              </p:txBody>
            </p:sp>
          </p:grpSp>
          <p:sp>
            <p:nvSpPr>
              <p:cNvPr id="622" name="Google Shape;622;p28"/>
              <p:cNvSpPr txBox="1"/>
              <p:nvPr/>
            </p:nvSpPr>
            <p:spPr>
              <a:xfrm>
                <a:off x="1145307" y="1581968"/>
                <a:ext cx="4694776" cy="132450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lt1"/>
                    </a:solidFill>
                    <a:latin typeface="Open Sans"/>
                    <a:ea typeface="Open Sans"/>
                    <a:cs typeface="Open Sans"/>
                    <a:sym typeface="Open Sans"/>
                  </a:rPr>
                  <a:t>The type of collection in the persistent class must be one of the following types</a:t>
                </a:r>
                <a:endParaRPr sz="1400" b="0" i="0" u="none" strike="noStrike" cap="none">
                  <a:solidFill>
                    <a:srgbClr val="000000"/>
                  </a:solidFill>
                  <a:latin typeface="Arial"/>
                  <a:ea typeface="Arial"/>
                  <a:cs typeface="Arial"/>
                  <a:sym typeface="Arial"/>
                </a:endParaRPr>
              </a:p>
            </p:txBody>
          </p:sp>
        </p:grpSp>
      </p:grpSp>
      <p:grpSp>
        <p:nvGrpSpPr>
          <p:cNvPr id="623" name="Google Shape;623;p28"/>
          <p:cNvGrpSpPr/>
          <p:nvPr/>
        </p:nvGrpSpPr>
        <p:grpSpPr>
          <a:xfrm>
            <a:off x="8377493" y="3264077"/>
            <a:ext cx="6383535" cy="4101315"/>
            <a:chOff x="8377493" y="3264077"/>
            <a:chExt cx="6383535" cy="4101315"/>
          </a:xfrm>
        </p:grpSpPr>
        <p:pic>
          <p:nvPicPr>
            <p:cNvPr id="624" name="Google Shape;624;p28"/>
            <p:cNvPicPr preferRelativeResize="0"/>
            <p:nvPr/>
          </p:nvPicPr>
          <p:blipFill rotWithShape="1">
            <a:blip r:embed="rId3">
              <a:alphaModFix/>
            </a:blip>
            <a:srcRect/>
            <a:stretch/>
          </p:blipFill>
          <p:spPr>
            <a:xfrm>
              <a:off x="8377493" y="3264077"/>
              <a:ext cx="6383535" cy="4101315"/>
            </a:xfrm>
            <a:prstGeom prst="rect">
              <a:avLst/>
            </a:prstGeom>
            <a:noFill/>
            <a:ln>
              <a:noFill/>
            </a:ln>
          </p:spPr>
        </p:pic>
        <p:sp>
          <p:nvSpPr>
            <p:cNvPr id="625" name="Google Shape;625;p28"/>
            <p:cNvSpPr txBox="1"/>
            <p:nvPr/>
          </p:nvSpPr>
          <p:spPr>
            <a:xfrm>
              <a:off x="8578370" y="3976782"/>
              <a:ext cx="5946729" cy="1561710"/>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Hibernate </a:t>
              </a:r>
              <a:endParaRPr sz="1400" b="0" i="0" u="none" strike="noStrike" cap="none">
                <a:solidFill>
                  <a:srgbClr val="000000"/>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also supports </a:t>
              </a:r>
              <a:r>
                <a:rPr lang="en-US" sz="2200" b="1" i="0" u="none" strike="noStrike" cap="none">
                  <a:solidFill>
                    <a:schemeClr val="dk1"/>
                  </a:solidFill>
                  <a:latin typeface="Open Sans"/>
                  <a:ea typeface="Open Sans"/>
                  <a:cs typeface="Open Sans"/>
                  <a:sym typeface="Open Sans"/>
                </a:rPr>
                <a:t>implementation</a:t>
              </a:r>
              <a:r>
                <a:rPr lang="en-US" sz="2200" b="0" i="0" u="none" strike="noStrike" cap="none">
                  <a:solidFill>
                    <a:schemeClr val="dk1"/>
                  </a:solidFill>
                  <a:latin typeface="Open Sans"/>
                  <a:ea typeface="Open Sans"/>
                  <a:cs typeface="Open Sans"/>
                  <a:sym typeface="Open Sans"/>
                </a:rPr>
                <a:t> of org.hibernate.usertype.UserCollectionType</a:t>
              </a:r>
              <a:endParaRPr sz="1400" b="0" i="0" u="none" strike="noStrike" cap="none">
                <a:solidFill>
                  <a:srgbClr val="000000"/>
                </a:solidFill>
                <a:latin typeface="Arial"/>
                <a:ea typeface="Arial"/>
                <a:cs typeface="Arial"/>
                <a:sym typeface="Arial"/>
              </a:endParaRPr>
            </a:p>
          </p:txBody>
        </p:sp>
      </p:grpSp>
      <p:pic>
        <p:nvPicPr>
          <p:cNvPr id="626" name="Google Shape;626;p28"/>
          <p:cNvPicPr preferRelativeResize="0"/>
          <p:nvPr/>
        </p:nvPicPr>
        <p:blipFill rotWithShape="1">
          <a:blip r:embed="rId4">
            <a:alphaModFix/>
          </a:blip>
          <a:srcRect/>
          <a:stretch/>
        </p:blipFill>
        <p:spPr>
          <a:xfrm>
            <a:off x="3758874" y="603159"/>
            <a:ext cx="8743859" cy="365760"/>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631"/>
        <p:cNvGrpSpPr/>
        <p:nvPr/>
      </p:nvGrpSpPr>
      <p:grpSpPr>
        <a:xfrm>
          <a:off x="0" y="0"/>
          <a:ext cx="0" cy="0"/>
          <a:chOff x="0" y="0"/>
          <a:chExt cx="0" cy="0"/>
        </a:xfrm>
      </p:grpSpPr>
      <p:sp>
        <p:nvSpPr>
          <p:cNvPr id="632" name="Google Shape;632;p29"/>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Collection Mapping Elements in Hibernate</a:t>
            </a:r>
            <a:endParaRPr/>
          </a:p>
        </p:txBody>
      </p:sp>
      <p:sp>
        <p:nvSpPr>
          <p:cNvPr id="633" name="Google Shape;633;p29"/>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Mapping elements used in Hibernate depend on the type of the interface.</a:t>
            </a:r>
            <a:endParaRPr sz="2200" b="0" i="0" u="none" strike="noStrike" cap="none">
              <a:solidFill>
                <a:srgbClr val="3F3F3F"/>
              </a:solidFill>
              <a:latin typeface="Open Sans"/>
              <a:ea typeface="Open Sans"/>
              <a:cs typeface="Open Sans"/>
              <a:sym typeface="Open Sans"/>
            </a:endParaRPr>
          </a:p>
        </p:txBody>
      </p:sp>
      <p:grpSp>
        <p:nvGrpSpPr>
          <p:cNvPr id="634" name="Google Shape;634;p29"/>
          <p:cNvGrpSpPr/>
          <p:nvPr/>
        </p:nvGrpSpPr>
        <p:grpSpPr>
          <a:xfrm>
            <a:off x="3144446" y="2317225"/>
            <a:ext cx="4766017" cy="5094008"/>
            <a:chOff x="2073771" y="1468871"/>
            <a:chExt cx="5058707" cy="5836260"/>
          </a:xfrm>
        </p:grpSpPr>
        <p:sp>
          <p:nvSpPr>
            <p:cNvPr id="635" name="Google Shape;635;p29"/>
            <p:cNvSpPr/>
            <p:nvPr/>
          </p:nvSpPr>
          <p:spPr>
            <a:xfrm>
              <a:off x="2073771" y="3066203"/>
              <a:ext cx="5058707" cy="4238928"/>
            </a:xfrm>
            <a:prstGeom prst="rect">
              <a:avLst/>
            </a:prstGeom>
            <a:solidFill>
              <a:srgbClr val="D8D8D8"/>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a:solidFill>
                  <a:schemeClr val="lt1"/>
                </a:solidFill>
                <a:latin typeface="Arial"/>
                <a:ea typeface="Arial"/>
                <a:cs typeface="Arial"/>
                <a:sym typeface="Arial"/>
              </a:endParaRPr>
            </a:p>
          </p:txBody>
        </p:sp>
        <p:sp>
          <p:nvSpPr>
            <p:cNvPr id="636" name="Google Shape;636;p29"/>
            <p:cNvSpPr/>
            <p:nvPr/>
          </p:nvSpPr>
          <p:spPr>
            <a:xfrm>
              <a:off x="2348019" y="3129064"/>
              <a:ext cx="4510033" cy="3970408"/>
            </a:xfrm>
            <a:prstGeom prst="rect">
              <a:avLst/>
            </a:prstGeom>
            <a:noFill/>
            <a:ln>
              <a:noFill/>
            </a:ln>
          </p:spPr>
          <p:txBody>
            <a:bodyPr spcFirstLastPara="1" wrap="square" lIns="91425" tIns="45700" rIns="91425" bIns="45700" anchor="t" anchorCtr="0">
              <a:spAutoFit/>
            </a:bodyPr>
            <a:lstStyle/>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&lt;set&gt;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&lt;list&gt;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&lt;map&gt;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&lt;bag&gt;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&lt;array&gt;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&lt;primitive-array&gt;</a:t>
              </a:r>
              <a:endParaRPr sz="1400" b="0" i="0" u="none" strike="noStrike" cap="none">
                <a:solidFill>
                  <a:srgbClr val="000000"/>
                </a:solidFill>
                <a:latin typeface="Arial"/>
                <a:ea typeface="Arial"/>
                <a:cs typeface="Arial"/>
                <a:sym typeface="Arial"/>
              </a:endParaRPr>
            </a:p>
          </p:txBody>
        </p:sp>
        <p:grpSp>
          <p:nvGrpSpPr>
            <p:cNvPr id="637" name="Google Shape;637;p29"/>
            <p:cNvGrpSpPr/>
            <p:nvPr/>
          </p:nvGrpSpPr>
          <p:grpSpPr>
            <a:xfrm>
              <a:off x="2073771" y="1468871"/>
              <a:ext cx="5058707" cy="2446552"/>
              <a:chOff x="963430" y="1468871"/>
              <a:chExt cx="5058707" cy="2446552"/>
            </a:xfrm>
          </p:grpSpPr>
          <p:grpSp>
            <p:nvGrpSpPr>
              <p:cNvPr id="638" name="Google Shape;638;p29"/>
              <p:cNvGrpSpPr/>
              <p:nvPr/>
            </p:nvGrpSpPr>
            <p:grpSpPr>
              <a:xfrm>
                <a:off x="963430" y="1468871"/>
                <a:ext cx="5058707" cy="2446552"/>
                <a:chOff x="963430" y="2629922"/>
                <a:chExt cx="5058707" cy="2446552"/>
              </a:xfrm>
            </p:grpSpPr>
            <p:grpSp>
              <p:nvGrpSpPr>
                <p:cNvPr id="639" name="Google Shape;639;p29"/>
                <p:cNvGrpSpPr/>
                <p:nvPr/>
              </p:nvGrpSpPr>
              <p:grpSpPr>
                <a:xfrm rot="-5400000">
                  <a:off x="4572421" y="3700954"/>
                  <a:ext cx="1649618" cy="1101423"/>
                  <a:chOff x="8202447" y="2775985"/>
                  <a:chExt cx="1566863" cy="909638"/>
                </a:xfrm>
              </p:grpSpPr>
              <p:sp>
                <p:nvSpPr>
                  <p:cNvPr id="640" name="Google Shape;640;p29"/>
                  <p:cNvSpPr/>
                  <p:nvPr/>
                </p:nvSpPr>
                <p:spPr>
                  <a:xfrm>
                    <a:off x="8202447" y="2775985"/>
                    <a:ext cx="492125" cy="909638"/>
                  </a:xfrm>
                  <a:custGeom>
                    <a:avLst/>
                    <a:gdLst/>
                    <a:ahLst/>
                    <a:cxnLst/>
                    <a:rect l="l" t="t" r="r" b="b"/>
                    <a:pathLst>
                      <a:path w="310" h="573" extrusionOk="0">
                        <a:moveTo>
                          <a:pt x="310" y="0"/>
                        </a:moveTo>
                        <a:lnTo>
                          <a:pt x="0" y="287"/>
                        </a:lnTo>
                        <a:lnTo>
                          <a:pt x="310" y="573"/>
                        </a:lnTo>
                        <a:lnTo>
                          <a:pt x="310" y="434"/>
                        </a:lnTo>
                        <a:lnTo>
                          <a:pt x="310" y="287"/>
                        </a:lnTo>
                        <a:lnTo>
                          <a:pt x="310" y="143"/>
                        </a:lnTo>
                        <a:lnTo>
                          <a:pt x="310" y="0"/>
                        </a:lnTo>
                        <a:close/>
                      </a:path>
                    </a:pathLst>
                  </a:custGeom>
                  <a:solidFill>
                    <a:srgbClr val="F4B08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641" name="Google Shape;641;p29"/>
                  <p:cNvSpPr/>
                  <p:nvPr/>
                </p:nvSpPr>
                <p:spPr>
                  <a:xfrm>
                    <a:off x="8694572" y="3002998"/>
                    <a:ext cx="1074738" cy="461963"/>
                  </a:xfrm>
                  <a:custGeom>
                    <a:avLst/>
                    <a:gdLst/>
                    <a:ahLst/>
                    <a:cxnLst/>
                    <a:rect l="l" t="t" r="r" b="b"/>
                    <a:pathLst>
                      <a:path w="677" h="291" extrusionOk="0">
                        <a:moveTo>
                          <a:pt x="386" y="0"/>
                        </a:moveTo>
                        <a:lnTo>
                          <a:pt x="0" y="0"/>
                        </a:lnTo>
                        <a:lnTo>
                          <a:pt x="0" y="144"/>
                        </a:lnTo>
                        <a:lnTo>
                          <a:pt x="0" y="291"/>
                        </a:lnTo>
                        <a:lnTo>
                          <a:pt x="677" y="291"/>
                        </a:lnTo>
                        <a:lnTo>
                          <a:pt x="386" y="0"/>
                        </a:lnTo>
                        <a:close/>
                      </a:path>
                    </a:pathLst>
                  </a:custGeom>
                  <a:solidFill>
                    <a:srgbClr val="F4B081"/>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642" name="Google Shape;642;p29"/>
                <p:cNvSpPr txBox="1"/>
                <p:nvPr/>
              </p:nvSpPr>
              <p:spPr>
                <a:xfrm>
                  <a:off x="963430" y="2629922"/>
                  <a:ext cx="5058707" cy="1437605"/>
                </a:xfrm>
                <a:prstGeom prst="rect">
                  <a:avLst/>
                </a:prstGeom>
                <a:solidFill>
                  <a:srgbClr val="F4B081"/>
                </a:solidFill>
                <a:ln w="9525" cap="flat" cmpd="sng">
                  <a:solidFill>
                    <a:schemeClr val="dk1"/>
                  </a:solidFill>
                  <a:prstDash val="solid"/>
                  <a:round/>
                  <a:headEnd type="none" w="sm" len="sm"/>
                  <a:tailEnd type="none" w="sm" len="sm"/>
                </a:ln>
              </p:spPr>
              <p:txBody>
                <a:bodyPr spcFirstLastPara="1" wrap="square" lIns="121900" tIns="60950" rIns="121900" bIns="60950" anchor="t" anchorCtr="0">
                  <a:noAutofit/>
                </a:bodyPr>
                <a:lstStyle/>
                <a:p>
                  <a:pPr marL="0" marR="0" lvl="0" indent="0" algn="ctr" rtl="0">
                    <a:lnSpc>
                      <a:spcPct val="100000"/>
                    </a:lnSpc>
                    <a:spcBef>
                      <a:spcPts val="0"/>
                    </a:spcBef>
                    <a:spcAft>
                      <a:spcPts val="0"/>
                    </a:spcAft>
                    <a:buClr>
                      <a:srgbClr val="A5A5A5"/>
                    </a:buClr>
                    <a:buSzPts val="2400"/>
                    <a:buFont typeface="Arial"/>
                    <a:buNone/>
                  </a:pPr>
                  <a:endParaRPr sz="2400" b="1" i="0" u="none" strike="noStrike" cap="none">
                    <a:solidFill>
                      <a:schemeClr val="dk1"/>
                    </a:solidFill>
                    <a:latin typeface="Arial"/>
                    <a:ea typeface="Arial"/>
                    <a:cs typeface="Arial"/>
                    <a:sym typeface="Arial"/>
                  </a:endParaRPr>
                </a:p>
              </p:txBody>
            </p:sp>
          </p:grpSp>
          <p:sp>
            <p:nvSpPr>
              <p:cNvPr id="643" name="Google Shape;643;p29"/>
              <p:cNvSpPr txBox="1"/>
              <p:nvPr/>
            </p:nvSpPr>
            <p:spPr>
              <a:xfrm>
                <a:off x="1534886" y="1824473"/>
                <a:ext cx="3586507" cy="916967"/>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Hibernate Mapping Elements</a:t>
                </a:r>
                <a:endParaRPr sz="1400" b="0" i="0" u="none" strike="noStrike" cap="none">
                  <a:solidFill>
                    <a:srgbClr val="000000"/>
                  </a:solidFill>
                  <a:latin typeface="Arial"/>
                  <a:ea typeface="Arial"/>
                  <a:cs typeface="Arial"/>
                  <a:sym typeface="Arial"/>
                </a:endParaRPr>
              </a:p>
            </p:txBody>
          </p:sp>
        </p:grpSp>
      </p:grpSp>
      <p:pic>
        <p:nvPicPr>
          <p:cNvPr id="644" name="Google Shape;644;p29"/>
          <p:cNvPicPr preferRelativeResize="0"/>
          <p:nvPr/>
        </p:nvPicPr>
        <p:blipFill rotWithShape="1">
          <a:blip r:embed="rId3">
            <a:alphaModFix/>
          </a:blip>
          <a:srcRect/>
          <a:stretch/>
        </p:blipFill>
        <p:spPr>
          <a:xfrm>
            <a:off x="9343401" y="3080401"/>
            <a:ext cx="3768153" cy="3983961"/>
          </a:xfrm>
          <a:prstGeom prst="rect">
            <a:avLst/>
          </a:prstGeom>
          <a:noFill/>
          <a:ln>
            <a:noFill/>
          </a:ln>
        </p:spPr>
      </p:pic>
      <p:sp>
        <p:nvSpPr>
          <p:cNvPr id="645" name="Google Shape;645;p29"/>
          <p:cNvSpPr txBox="1"/>
          <p:nvPr/>
        </p:nvSpPr>
        <p:spPr>
          <a:xfrm>
            <a:off x="9576576" y="3506603"/>
            <a:ext cx="3276598" cy="1938992"/>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3F3F3F"/>
                </a:solidFill>
                <a:latin typeface="Open Sans"/>
                <a:ea typeface="Open Sans"/>
                <a:cs typeface="Open Sans"/>
                <a:sym typeface="Open Sans"/>
              </a:rPr>
              <a:t>Persistent objects can be mapped either in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3F3F3F"/>
                </a:solidFill>
                <a:latin typeface="Open Sans"/>
                <a:ea typeface="Open Sans"/>
                <a:cs typeface="Open Sans"/>
                <a:sym typeface="Open Sans"/>
              </a:rPr>
              <a:t>the </a:t>
            </a:r>
            <a:r>
              <a:rPr lang="en-US" sz="2400" b="1" i="0" u="none" strike="noStrike" cap="none">
                <a:solidFill>
                  <a:srgbClr val="3F3F3F"/>
                </a:solidFill>
                <a:latin typeface="Open Sans"/>
                <a:ea typeface="Open Sans"/>
                <a:cs typeface="Open Sans"/>
                <a:sym typeface="Open Sans"/>
              </a:rPr>
              <a:t>mapping file </a:t>
            </a:r>
            <a:r>
              <a:rPr lang="en-US" sz="2400" b="0" i="0" u="none" strike="noStrike" cap="none">
                <a:solidFill>
                  <a:srgbClr val="3F3F3F"/>
                </a:solidFill>
                <a:latin typeface="Open Sans"/>
                <a:ea typeface="Open Sans"/>
                <a:cs typeface="Open Sans"/>
                <a:sym typeface="Open Sans"/>
              </a:rPr>
              <a:t>or using </a:t>
            </a:r>
            <a:r>
              <a:rPr lang="en-US" sz="2400" b="1" i="0" u="none" strike="noStrike" cap="none">
                <a:solidFill>
                  <a:srgbClr val="3F3F3F"/>
                </a:solidFill>
                <a:latin typeface="Open Sans"/>
                <a:ea typeface="Open Sans"/>
                <a:cs typeface="Open Sans"/>
                <a:sym typeface="Open Sans"/>
              </a:rPr>
              <a:t>annotations</a:t>
            </a:r>
            <a:r>
              <a:rPr lang="en-US" sz="2400" b="0" i="0" u="none" strike="noStrike" cap="none">
                <a:solidFill>
                  <a:srgbClr val="3F3F3F"/>
                </a:solidFill>
                <a:latin typeface="Open Sans"/>
                <a:ea typeface="Open Sans"/>
                <a:cs typeface="Open Sans"/>
                <a:sym typeface="Open Sans"/>
              </a:rPr>
              <a:t>.</a:t>
            </a:r>
            <a:endParaRPr sz="2400" b="0" i="0" u="none" strike="noStrike" cap="none">
              <a:solidFill>
                <a:srgbClr val="3F3F3F"/>
              </a:solidFill>
              <a:latin typeface="Open Sans"/>
              <a:ea typeface="Open Sans"/>
              <a:cs typeface="Open Sans"/>
              <a:sym typeface="Open Sans"/>
            </a:endParaRPr>
          </a:p>
        </p:txBody>
      </p:sp>
      <p:pic>
        <p:nvPicPr>
          <p:cNvPr id="646" name="Google Shape;646;p29"/>
          <p:cNvPicPr preferRelativeResize="0"/>
          <p:nvPr/>
        </p:nvPicPr>
        <p:blipFill rotWithShape="1">
          <a:blip r:embed="rId4">
            <a:alphaModFix/>
          </a:blip>
          <a:srcRect/>
          <a:stretch/>
        </p:blipFill>
        <p:spPr>
          <a:xfrm>
            <a:off x="2840768" y="603159"/>
            <a:ext cx="10580070" cy="36576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30"/>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Collection Mapping Types in Hibernate</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656"/>
        <p:cNvGrpSpPr/>
        <p:nvPr/>
      </p:nvGrpSpPr>
      <p:grpSpPr>
        <a:xfrm>
          <a:off x="0" y="0"/>
          <a:ext cx="0" cy="0"/>
          <a:chOff x="0" y="0"/>
          <a:chExt cx="0" cy="0"/>
        </a:xfrm>
      </p:grpSpPr>
      <p:sp>
        <p:nvSpPr>
          <p:cNvPr id="657" name="Google Shape;657;p31"/>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Mapping List in Collection Using XML File</a:t>
            </a:r>
            <a:endParaRPr/>
          </a:p>
        </p:txBody>
      </p:sp>
      <p:sp>
        <p:nvSpPr>
          <p:cNvPr id="658" name="Google Shape;658;p31"/>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In the mapping file, the </a:t>
            </a:r>
            <a:r>
              <a:rPr lang="en-US" sz="2200" b="1" i="0" u="none" strike="noStrike" cap="none">
                <a:solidFill>
                  <a:srgbClr val="3F3F3F"/>
                </a:solidFill>
                <a:latin typeface="Open Sans"/>
                <a:ea typeface="Open Sans"/>
                <a:cs typeface="Open Sans"/>
                <a:sym typeface="Open Sans"/>
              </a:rPr>
              <a:t>list</a:t>
            </a:r>
            <a:r>
              <a:rPr lang="en-US" sz="2200" b="0" i="0" u="none" strike="noStrike" cap="none">
                <a:solidFill>
                  <a:srgbClr val="3F3F3F"/>
                </a:solidFill>
                <a:latin typeface="Open Sans"/>
                <a:ea typeface="Open Sans"/>
                <a:cs typeface="Open Sans"/>
                <a:sym typeface="Open Sans"/>
              </a:rPr>
              <a:t> object can be mapped using the </a:t>
            </a:r>
            <a:r>
              <a:rPr lang="en-US" sz="2200" b="1" i="0" u="none" strike="noStrike" cap="none">
                <a:solidFill>
                  <a:srgbClr val="3F3F3F"/>
                </a:solidFill>
                <a:latin typeface="Open Sans"/>
                <a:ea typeface="Open Sans"/>
                <a:cs typeface="Open Sans"/>
                <a:sym typeface="Open Sans"/>
              </a:rPr>
              <a:t>&lt;list&gt; </a:t>
            </a:r>
            <a:r>
              <a:rPr lang="en-US" sz="2200" b="0" i="0" u="none" strike="noStrike" cap="none">
                <a:solidFill>
                  <a:srgbClr val="3F3F3F"/>
                </a:solidFill>
                <a:latin typeface="Open Sans"/>
                <a:ea typeface="Open Sans"/>
                <a:cs typeface="Open Sans"/>
                <a:sym typeface="Open Sans"/>
              </a:rPr>
              <a:t>element. A list is an index-based collection. </a:t>
            </a:r>
            <a:r>
              <a:rPr lang="en-US" sz="2200" b="1" i="0" u="none" strike="noStrike" cap="none">
                <a:solidFill>
                  <a:srgbClr val="3F3F3F"/>
                </a:solidFill>
                <a:latin typeface="Open Sans"/>
                <a:ea typeface="Open Sans"/>
                <a:cs typeface="Open Sans"/>
                <a:sym typeface="Open Sans"/>
              </a:rPr>
              <a:t>&lt;index&gt; </a:t>
            </a:r>
            <a:r>
              <a:rPr lang="en-US" sz="2200" b="0" i="0" u="none" strike="noStrike" cap="none">
                <a:solidFill>
                  <a:srgbClr val="3F3F3F"/>
                </a:solidFill>
                <a:latin typeface="Open Sans"/>
                <a:ea typeface="Open Sans"/>
                <a:cs typeface="Open Sans"/>
                <a:sym typeface="Open Sans"/>
              </a:rPr>
              <a:t>stores the key and </a:t>
            </a:r>
            <a:r>
              <a:rPr lang="en-US" sz="2200" b="1" i="0" u="none" strike="noStrike" cap="none">
                <a:solidFill>
                  <a:srgbClr val="3F3F3F"/>
                </a:solidFill>
                <a:latin typeface="Open Sans"/>
                <a:ea typeface="Open Sans"/>
                <a:cs typeface="Open Sans"/>
                <a:sym typeface="Open Sans"/>
              </a:rPr>
              <a:t>&lt;element&gt; </a:t>
            </a:r>
            <a:r>
              <a:rPr lang="en-US" sz="2200" b="0" i="0" u="none" strike="noStrike" cap="none">
                <a:solidFill>
                  <a:srgbClr val="3F3F3F"/>
                </a:solidFill>
                <a:latin typeface="Open Sans"/>
                <a:ea typeface="Open Sans"/>
                <a:cs typeface="Open Sans"/>
                <a:sym typeface="Open Sans"/>
              </a:rPr>
              <a:t>stores the value.</a:t>
            </a:r>
            <a:endParaRPr sz="2200" b="0" i="0" u="none" strike="noStrike" cap="none">
              <a:solidFill>
                <a:srgbClr val="3F3F3F"/>
              </a:solidFill>
              <a:latin typeface="Open Sans"/>
              <a:ea typeface="Open Sans"/>
              <a:cs typeface="Open Sans"/>
              <a:sym typeface="Open Sans"/>
            </a:endParaRPr>
          </a:p>
        </p:txBody>
      </p:sp>
      <p:sp>
        <p:nvSpPr>
          <p:cNvPr id="659" name="Google Shape;659;p31"/>
          <p:cNvSpPr/>
          <p:nvPr/>
        </p:nvSpPr>
        <p:spPr>
          <a:xfrm>
            <a:off x="3162950" y="3805682"/>
            <a:ext cx="9971783" cy="2211166"/>
          </a:xfrm>
          <a:prstGeom prst="rect">
            <a:avLst/>
          </a:prstGeom>
          <a:solidFill>
            <a:srgbClr val="BBD6EE"/>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&lt;list name=“sampleVal" table=“sampleCol"&gt;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&lt;key column=“name"&gt;&lt;/key&gt;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&lt;index column=“id"&gt;&lt;/index&gt;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&lt;element column=“samplname" type="string"&gt;&lt;/element&gt;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&lt;/list&gt;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228600" marR="0" lvl="0" indent="-88900" algn="l" rtl="0">
              <a:lnSpc>
                <a:spcPct val="100000"/>
              </a:lnSpc>
              <a:spcBef>
                <a:spcPts val="0"/>
              </a:spcBef>
              <a:spcAft>
                <a:spcPts val="0"/>
              </a:spcAft>
              <a:buClr>
                <a:schemeClr val="dk1"/>
              </a:buClr>
              <a:buSzPts val="2200"/>
              <a:buFont typeface="Arial"/>
              <a:buNone/>
            </a:pPr>
            <a:endParaRPr sz="22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p:txBody>
      </p:sp>
      <p:sp>
        <p:nvSpPr>
          <p:cNvPr id="660" name="Google Shape;660;p31"/>
          <p:cNvSpPr/>
          <p:nvPr/>
        </p:nvSpPr>
        <p:spPr>
          <a:xfrm>
            <a:off x="6731522" y="2656018"/>
            <a:ext cx="2834640" cy="63582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Example</a:t>
            </a:r>
            <a:endParaRPr sz="1400" b="0" i="0" u="none" strike="noStrike" cap="none">
              <a:solidFill>
                <a:srgbClr val="000000"/>
              </a:solidFill>
              <a:latin typeface="Arial"/>
              <a:ea typeface="Arial"/>
              <a:cs typeface="Arial"/>
              <a:sym typeface="Arial"/>
            </a:endParaRPr>
          </a:p>
        </p:txBody>
      </p:sp>
      <p:pic>
        <p:nvPicPr>
          <p:cNvPr id="661" name="Google Shape;661;p31"/>
          <p:cNvPicPr preferRelativeResize="0"/>
          <p:nvPr/>
        </p:nvPicPr>
        <p:blipFill rotWithShape="1">
          <a:blip r:embed="rId3">
            <a:alphaModFix/>
          </a:blip>
          <a:srcRect/>
          <a:stretch/>
        </p:blipFill>
        <p:spPr>
          <a:xfrm>
            <a:off x="2840768" y="603159"/>
            <a:ext cx="10580070" cy="36576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666"/>
        <p:cNvGrpSpPr/>
        <p:nvPr/>
      </p:nvGrpSpPr>
      <p:grpSpPr>
        <a:xfrm>
          <a:off x="0" y="0"/>
          <a:ext cx="0" cy="0"/>
          <a:chOff x="0" y="0"/>
          <a:chExt cx="0" cy="0"/>
        </a:xfrm>
      </p:grpSpPr>
      <p:sp>
        <p:nvSpPr>
          <p:cNvPr id="667" name="Google Shape;667;p32"/>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Mapping Bag in Collection Using XML File</a:t>
            </a:r>
            <a:endParaRPr/>
          </a:p>
        </p:txBody>
      </p:sp>
      <p:sp>
        <p:nvSpPr>
          <p:cNvPr id="668" name="Google Shape;668;p32"/>
          <p:cNvSpPr/>
          <p:nvPr/>
        </p:nvSpPr>
        <p:spPr>
          <a:xfrm>
            <a:off x="2235835" y="1136177"/>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In the mapping file, the </a:t>
            </a:r>
            <a:r>
              <a:rPr lang="en-US" sz="2200" b="1" i="0" u="none" strike="noStrike" cap="none">
                <a:solidFill>
                  <a:srgbClr val="3F3F3F"/>
                </a:solidFill>
                <a:latin typeface="Open Sans"/>
                <a:ea typeface="Open Sans"/>
                <a:cs typeface="Open Sans"/>
                <a:sym typeface="Open Sans"/>
              </a:rPr>
              <a:t>bag</a:t>
            </a:r>
            <a:r>
              <a:rPr lang="en-US" sz="2200" b="0" i="0" u="none" strike="noStrike" cap="none">
                <a:solidFill>
                  <a:srgbClr val="3F3F3F"/>
                </a:solidFill>
                <a:latin typeface="Open Sans"/>
                <a:ea typeface="Open Sans"/>
                <a:cs typeface="Open Sans"/>
                <a:sym typeface="Open Sans"/>
              </a:rPr>
              <a:t> object can be mapped using the </a:t>
            </a:r>
            <a:r>
              <a:rPr lang="en-US" sz="2200" b="1" i="0" u="none" strike="noStrike" cap="none">
                <a:solidFill>
                  <a:srgbClr val="3F3F3F"/>
                </a:solidFill>
                <a:latin typeface="Open Sans"/>
                <a:ea typeface="Open Sans"/>
                <a:cs typeface="Open Sans"/>
                <a:sym typeface="Open Sans"/>
              </a:rPr>
              <a:t>&lt;bag&gt; </a:t>
            </a:r>
            <a:r>
              <a:rPr lang="en-US" sz="2200" b="0" i="0" u="none" strike="noStrike" cap="none">
                <a:solidFill>
                  <a:srgbClr val="3F3F3F"/>
                </a:solidFill>
                <a:latin typeface="Open Sans"/>
                <a:ea typeface="Open Sans"/>
                <a:cs typeface="Open Sans"/>
                <a:sym typeface="Open Sans"/>
              </a:rPr>
              <a:t>element. </a:t>
            </a:r>
            <a:endParaRPr sz="2200" b="0" i="0" u="none" strike="noStrike" cap="none">
              <a:solidFill>
                <a:srgbClr val="3F3F3F"/>
              </a:solidFill>
              <a:latin typeface="Open Sans"/>
              <a:ea typeface="Open Sans"/>
              <a:cs typeface="Open Sans"/>
              <a:sym typeface="Open Sans"/>
            </a:endParaRPr>
          </a:p>
        </p:txBody>
      </p:sp>
      <p:sp>
        <p:nvSpPr>
          <p:cNvPr id="669" name="Google Shape;669;p32"/>
          <p:cNvSpPr/>
          <p:nvPr/>
        </p:nvSpPr>
        <p:spPr>
          <a:xfrm>
            <a:off x="3162950" y="3805682"/>
            <a:ext cx="9971783" cy="2211166"/>
          </a:xfrm>
          <a:prstGeom prst="rect">
            <a:avLst/>
          </a:prstGeom>
          <a:solidFill>
            <a:srgbClr val="BBD6EE"/>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&lt;bag name=“sampleVal" table=“sampleCol"&gt;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&lt;key column=“name"&gt;&lt;/key&gt;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&lt;element column=“Samplename" type="string"&gt;&lt;/element&gt;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&lt;/bag&gt;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228600" marR="0" lvl="0" indent="-88900" algn="l" rtl="0">
              <a:lnSpc>
                <a:spcPct val="100000"/>
              </a:lnSpc>
              <a:spcBef>
                <a:spcPts val="0"/>
              </a:spcBef>
              <a:spcAft>
                <a:spcPts val="0"/>
              </a:spcAft>
              <a:buClr>
                <a:schemeClr val="dk1"/>
              </a:buClr>
              <a:buSzPts val="2200"/>
              <a:buFont typeface="Arial"/>
              <a:buNone/>
            </a:pPr>
            <a:endParaRPr sz="22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p:txBody>
      </p:sp>
      <p:sp>
        <p:nvSpPr>
          <p:cNvPr id="670" name="Google Shape;670;p32"/>
          <p:cNvSpPr/>
          <p:nvPr/>
        </p:nvSpPr>
        <p:spPr>
          <a:xfrm>
            <a:off x="6731522" y="2656018"/>
            <a:ext cx="2834640" cy="63582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Example</a:t>
            </a:r>
            <a:endParaRPr sz="1400" b="0" i="0" u="none" strike="noStrike" cap="none">
              <a:solidFill>
                <a:srgbClr val="000000"/>
              </a:solidFill>
              <a:latin typeface="Arial"/>
              <a:ea typeface="Arial"/>
              <a:cs typeface="Arial"/>
              <a:sym typeface="Arial"/>
            </a:endParaRPr>
          </a:p>
        </p:txBody>
      </p:sp>
      <p:pic>
        <p:nvPicPr>
          <p:cNvPr id="671" name="Google Shape;671;p32"/>
          <p:cNvPicPr preferRelativeResize="0"/>
          <p:nvPr/>
        </p:nvPicPr>
        <p:blipFill rotWithShape="1">
          <a:blip r:embed="rId3">
            <a:alphaModFix/>
          </a:blip>
          <a:srcRect/>
          <a:stretch/>
        </p:blipFill>
        <p:spPr>
          <a:xfrm>
            <a:off x="2840768" y="603159"/>
            <a:ext cx="10580070" cy="365760"/>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676"/>
        <p:cNvGrpSpPr/>
        <p:nvPr/>
      </p:nvGrpSpPr>
      <p:grpSpPr>
        <a:xfrm>
          <a:off x="0" y="0"/>
          <a:ext cx="0" cy="0"/>
          <a:chOff x="0" y="0"/>
          <a:chExt cx="0" cy="0"/>
        </a:xfrm>
      </p:grpSpPr>
      <p:sp>
        <p:nvSpPr>
          <p:cNvPr id="677" name="Google Shape;677;p33"/>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Mapping Set in Collection Using XML File</a:t>
            </a:r>
            <a:endParaRPr/>
          </a:p>
        </p:txBody>
      </p:sp>
      <p:sp>
        <p:nvSpPr>
          <p:cNvPr id="678" name="Google Shape;678;p33"/>
          <p:cNvSpPr/>
          <p:nvPr/>
        </p:nvSpPr>
        <p:spPr>
          <a:xfrm>
            <a:off x="2235835" y="1177741"/>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In the mapping file, the </a:t>
            </a:r>
            <a:r>
              <a:rPr lang="en-US" sz="2200" b="1" i="0" u="none" strike="noStrike" cap="none">
                <a:solidFill>
                  <a:srgbClr val="3F3F3F"/>
                </a:solidFill>
                <a:latin typeface="Open Sans"/>
                <a:ea typeface="Open Sans"/>
                <a:cs typeface="Open Sans"/>
                <a:sym typeface="Open Sans"/>
              </a:rPr>
              <a:t>set</a:t>
            </a:r>
            <a:r>
              <a:rPr lang="en-US" sz="2200" b="0" i="0" u="none" strike="noStrike" cap="none">
                <a:solidFill>
                  <a:srgbClr val="3F3F3F"/>
                </a:solidFill>
                <a:latin typeface="Open Sans"/>
                <a:ea typeface="Open Sans"/>
                <a:cs typeface="Open Sans"/>
                <a:sym typeface="Open Sans"/>
              </a:rPr>
              <a:t> object can be mapped using the </a:t>
            </a:r>
            <a:r>
              <a:rPr lang="en-US" sz="2200" b="1" i="0" u="none" strike="noStrike" cap="none">
                <a:solidFill>
                  <a:srgbClr val="3F3F3F"/>
                </a:solidFill>
                <a:latin typeface="Open Sans"/>
                <a:ea typeface="Open Sans"/>
                <a:cs typeface="Open Sans"/>
                <a:sym typeface="Open Sans"/>
              </a:rPr>
              <a:t>&lt;set&gt; </a:t>
            </a:r>
            <a:r>
              <a:rPr lang="en-US" sz="2200" b="0" i="0" u="none" strike="noStrike" cap="none">
                <a:solidFill>
                  <a:srgbClr val="3F3F3F"/>
                </a:solidFill>
                <a:latin typeface="Open Sans"/>
                <a:ea typeface="Open Sans"/>
                <a:cs typeface="Open Sans"/>
                <a:sym typeface="Open Sans"/>
              </a:rPr>
              <a:t>element. </a:t>
            </a:r>
            <a:endParaRPr sz="2200" b="0" i="0" u="none" strike="noStrike" cap="none">
              <a:solidFill>
                <a:srgbClr val="3F3F3F"/>
              </a:solidFill>
              <a:latin typeface="Open Sans"/>
              <a:ea typeface="Open Sans"/>
              <a:cs typeface="Open Sans"/>
              <a:sym typeface="Open Sans"/>
            </a:endParaRPr>
          </a:p>
        </p:txBody>
      </p:sp>
      <p:sp>
        <p:nvSpPr>
          <p:cNvPr id="679" name="Google Shape;679;p33"/>
          <p:cNvSpPr/>
          <p:nvPr/>
        </p:nvSpPr>
        <p:spPr>
          <a:xfrm>
            <a:off x="2720234" y="3805682"/>
            <a:ext cx="10857216" cy="2211166"/>
          </a:xfrm>
          <a:prstGeom prst="rect">
            <a:avLst/>
          </a:prstGeom>
          <a:solidFill>
            <a:srgbClr val="BBD6EE"/>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&lt;set name="sampleVal" table="sampleCol"&gt;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&lt;key column="name"&gt;&lt;/key&gt;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&lt;element column="Samplename" type="string"&gt;&lt;/element&gt;   &lt;/set&gt;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228600" marR="0" lvl="0" indent="-8890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228600" marR="0" lvl="0" indent="-88900" algn="l" rtl="0">
              <a:lnSpc>
                <a:spcPct val="100000"/>
              </a:lnSpc>
              <a:spcBef>
                <a:spcPts val="0"/>
              </a:spcBef>
              <a:spcAft>
                <a:spcPts val="0"/>
              </a:spcAft>
              <a:buClr>
                <a:schemeClr val="dk1"/>
              </a:buClr>
              <a:buSzPts val="2200"/>
              <a:buFont typeface="Arial"/>
              <a:buNone/>
            </a:pPr>
            <a:endParaRPr sz="22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p:txBody>
      </p:sp>
      <p:sp>
        <p:nvSpPr>
          <p:cNvPr id="680" name="Google Shape;680;p33"/>
          <p:cNvSpPr/>
          <p:nvPr/>
        </p:nvSpPr>
        <p:spPr>
          <a:xfrm>
            <a:off x="6731522" y="2656018"/>
            <a:ext cx="2834640" cy="63582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Example</a:t>
            </a:r>
            <a:endParaRPr sz="1400" b="0" i="0" u="none" strike="noStrike" cap="none">
              <a:solidFill>
                <a:srgbClr val="000000"/>
              </a:solidFill>
              <a:latin typeface="Arial"/>
              <a:ea typeface="Arial"/>
              <a:cs typeface="Arial"/>
              <a:sym typeface="Arial"/>
            </a:endParaRPr>
          </a:p>
        </p:txBody>
      </p:sp>
      <p:pic>
        <p:nvPicPr>
          <p:cNvPr id="681" name="Google Shape;681;p33"/>
          <p:cNvPicPr preferRelativeResize="0"/>
          <p:nvPr/>
        </p:nvPicPr>
        <p:blipFill rotWithShape="1">
          <a:blip r:embed="rId3">
            <a:alphaModFix/>
          </a:blip>
          <a:srcRect/>
          <a:stretch/>
        </p:blipFill>
        <p:spPr>
          <a:xfrm>
            <a:off x="2840768" y="603159"/>
            <a:ext cx="10580070" cy="36576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686"/>
        <p:cNvGrpSpPr/>
        <p:nvPr/>
      </p:nvGrpSpPr>
      <p:grpSpPr>
        <a:xfrm>
          <a:off x="0" y="0"/>
          <a:ext cx="0" cy="0"/>
          <a:chOff x="0" y="0"/>
          <a:chExt cx="0" cy="0"/>
        </a:xfrm>
      </p:grpSpPr>
      <p:sp>
        <p:nvSpPr>
          <p:cNvPr id="687" name="Google Shape;687;p34"/>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Mapping Map in Collection Using XML File</a:t>
            </a:r>
            <a:endParaRPr/>
          </a:p>
        </p:txBody>
      </p:sp>
      <p:sp>
        <p:nvSpPr>
          <p:cNvPr id="688" name="Google Shape;688;p34"/>
          <p:cNvSpPr/>
          <p:nvPr/>
        </p:nvSpPr>
        <p:spPr>
          <a:xfrm>
            <a:off x="2235835" y="1281650"/>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In the mapping file, the </a:t>
            </a:r>
            <a:r>
              <a:rPr lang="en-US" sz="2200" b="1" i="0" u="none" strike="noStrike" cap="none">
                <a:solidFill>
                  <a:srgbClr val="3F3F3F"/>
                </a:solidFill>
                <a:latin typeface="Open Sans"/>
                <a:ea typeface="Open Sans"/>
                <a:cs typeface="Open Sans"/>
                <a:sym typeface="Open Sans"/>
              </a:rPr>
              <a:t>map</a:t>
            </a:r>
            <a:r>
              <a:rPr lang="en-US" sz="2200" b="0" i="0" u="none" strike="noStrike" cap="none">
                <a:solidFill>
                  <a:srgbClr val="3F3F3F"/>
                </a:solidFill>
                <a:latin typeface="Open Sans"/>
                <a:ea typeface="Open Sans"/>
                <a:cs typeface="Open Sans"/>
                <a:sym typeface="Open Sans"/>
              </a:rPr>
              <a:t> object can be mapped using the </a:t>
            </a:r>
            <a:r>
              <a:rPr lang="en-US" sz="2200" b="1" i="0" u="none" strike="noStrike" cap="none">
                <a:solidFill>
                  <a:srgbClr val="3F3F3F"/>
                </a:solidFill>
                <a:latin typeface="Open Sans"/>
                <a:ea typeface="Open Sans"/>
                <a:cs typeface="Open Sans"/>
                <a:sym typeface="Open Sans"/>
              </a:rPr>
              <a:t>&lt;map&gt; </a:t>
            </a:r>
            <a:r>
              <a:rPr lang="en-US" sz="2200" b="0" i="0" u="none" strike="noStrike" cap="none">
                <a:solidFill>
                  <a:srgbClr val="3F3F3F"/>
                </a:solidFill>
                <a:latin typeface="Open Sans"/>
                <a:ea typeface="Open Sans"/>
                <a:cs typeface="Open Sans"/>
                <a:sym typeface="Open Sans"/>
              </a:rPr>
              <a:t>element. A map is an index-based collection. </a:t>
            </a:r>
            <a:r>
              <a:rPr lang="en-US" sz="2200" b="1" i="0" u="none" strike="noStrike" cap="none">
                <a:solidFill>
                  <a:srgbClr val="3F3F3F"/>
                </a:solidFill>
                <a:latin typeface="Open Sans"/>
                <a:ea typeface="Open Sans"/>
                <a:cs typeface="Open Sans"/>
                <a:sym typeface="Open Sans"/>
              </a:rPr>
              <a:t>&lt;index&gt; </a:t>
            </a:r>
            <a:r>
              <a:rPr lang="en-US" sz="2200" b="0" i="0" u="none" strike="noStrike" cap="none">
                <a:solidFill>
                  <a:srgbClr val="3F3F3F"/>
                </a:solidFill>
                <a:latin typeface="Open Sans"/>
                <a:ea typeface="Open Sans"/>
                <a:cs typeface="Open Sans"/>
                <a:sym typeface="Open Sans"/>
              </a:rPr>
              <a:t>stores the key and </a:t>
            </a:r>
            <a:r>
              <a:rPr lang="en-US" sz="2200" b="1" i="0" u="none" strike="noStrike" cap="none">
                <a:solidFill>
                  <a:srgbClr val="3F3F3F"/>
                </a:solidFill>
                <a:latin typeface="Open Sans"/>
                <a:ea typeface="Open Sans"/>
                <a:cs typeface="Open Sans"/>
                <a:sym typeface="Open Sans"/>
              </a:rPr>
              <a:t>&lt;element&gt; </a:t>
            </a:r>
            <a:r>
              <a:rPr lang="en-US" sz="2200" b="0" i="0" u="none" strike="noStrike" cap="none">
                <a:solidFill>
                  <a:srgbClr val="3F3F3F"/>
                </a:solidFill>
                <a:latin typeface="Open Sans"/>
                <a:ea typeface="Open Sans"/>
                <a:cs typeface="Open Sans"/>
                <a:sym typeface="Open Sans"/>
              </a:rPr>
              <a:t>stores the value.</a:t>
            </a:r>
            <a:endParaRPr sz="2200" b="0" i="0" u="none" strike="noStrike" cap="none">
              <a:solidFill>
                <a:srgbClr val="3F3F3F"/>
              </a:solidFill>
              <a:latin typeface="Open Sans"/>
              <a:ea typeface="Open Sans"/>
              <a:cs typeface="Open Sans"/>
              <a:sym typeface="Open Sans"/>
            </a:endParaRPr>
          </a:p>
        </p:txBody>
      </p:sp>
      <p:sp>
        <p:nvSpPr>
          <p:cNvPr id="689" name="Google Shape;689;p34"/>
          <p:cNvSpPr/>
          <p:nvPr/>
        </p:nvSpPr>
        <p:spPr>
          <a:xfrm>
            <a:off x="2720234" y="3805682"/>
            <a:ext cx="10857216" cy="2211166"/>
          </a:xfrm>
          <a:prstGeom prst="rect">
            <a:avLst/>
          </a:prstGeom>
          <a:solidFill>
            <a:srgbClr val="BBD6EE"/>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&lt;map name="sampleVal” table=" sampleCol " cascade="all"&gt;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&lt;key column="name"&gt;&lt;/key&gt;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&lt;index column="id” type="string"&gt;&lt;/index&gt;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&lt;element column="Samplename” type="string"&gt;&lt;/element&gt;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&lt;/map&gt; </a:t>
            </a: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228600" marR="0" lvl="0" indent="-88900" algn="l" rtl="0">
              <a:lnSpc>
                <a:spcPct val="100000"/>
              </a:lnSpc>
              <a:spcBef>
                <a:spcPts val="0"/>
              </a:spcBef>
              <a:spcAft>
                <a:spcPts val="0"/>
              </a:spcAft>
              <a:buClr>
                <a:schemeClr val="dk1"/>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228600" marR="0" lvl="0" indent="-88900" algn="l" rtl="0">
              <a:lnSpc>
                <a:spcPct val="100000"/>
              </a:lnSpc>
              <a:spcBef>
                <a:spcPts val="0"/>
              </a:spcBef>
              <a:spcAft>
                <a:spcPts val="0"/>
              </a:spcAft>
              <a:buClr>
                <a:schemeClr val="dk1"/>
              </a:buClr>
              <a:buSzPts val="2200"/>
              <a:buFont typeface="Arial"/>
              <a:buNone/>
            </a:pPr>
            <a:endParaRPr sz="22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p:txBody>
      </p:sp>
      <p:sp>
        <p:nvSpPr>
          <p:cNvPr id="690" name="Google Shape;690;p34"/>
          <p:cNvSpPr/>
          <p:nvPr/>
        </p:nvSpPr>
        <p:spPr>
          <a:xfrm>
            <a:off x="6731522" y="2656018"/>
            <a:ext cx="2834640" cy="635822"/>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Example</a:t>
            </a:r>
            <a:endParaRPr sz="1400" b="0" i="0" u="none" strike="noStrike" cap="none">
              <a:solidFill>
                <a:srgbClr val="000000"/>
              </a:solidFill>
              <a:latin typeface="Arial"/>
              <a:ea typeface="Arial"/>
              <a:cs typeface="Arial"/>
              <a:sym typeface="Arial"/>
            </a:endParaRPr>
          </a:p>
        </p:txBody>
      </p:sp>
      <p:pic>
        <p:nvPicPr>
          <p:cNvPr id="691" name="Google Shape;691;p34"/>
          <p:cNvPicPr preferRelativeResize="0"/>
          <p:nvPr/>
        </p:nvPicPr>
        <p:blipFill rotWithShape="1">
          <a:blip r:embed="rId3">
            <a:alphaModFix/>
          </a:blip>
          <a:srcRect/>
          <a:stretch/>
        </p:blipFill>
        <p:spPr>
          <a:xfrm>
            <a:off x="2840768" y="603159"/>
            <a:ext cx="10580070" cy="36576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696"/>
        <p:cNvGrpSpPr/>
        <p:nvPr/>
      </p:nvGrpSpPr>
      <p:grpSpPr>
        <a:xfrm>
          <a:off x="0" y="0"/>
          <a:ext cx="0" cy="0"/>
          <a:chOff x="0" y="0"/>
          <a:chExt cx="0" cy="0"/>
        </a:xfrm>
      </p:grpSpPr>
      <p:sp>
        <p:nvSpPr>
          <p:cNvPr id="697" name="Google Shape;697;p35"/>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Collection Mapping in Hibernate</a:t>
            </a:r>
            <a:endParaRPr/>
          </a:p>
        </p:txBody>
      </p:sp>
      <p:sp>
        <p:nvSpPr>
          <p:cNvPr id="698" name="Google Shape;698;p35"/>
          <p:cNvSpPr txBox="1">
            <a:spLocks noGrp="1"/>
          </p:cNvSpPr>
          <p:nvPr>
            <p:ph type="body" idx="1"/>
          </p:nvPr>
        </p:nvSpPr>
        <p:spPr>
          <a:xfrm>
            <a:off x="1902091" y="2363465"/>
            <a:ext cx="12451817" cy="5527418"/>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Demonstrate mapping List, Set, Bag, and Map in collection using XML file.</a:t>
            </a:r>
            <a:endParaRPr b="1">
              <a:solidFill>
                <a:schemeClr val="dk1"/>
              </a:solidFill>
            </a:endParaRPr>
          </a:p>
        </p:txBody>
      </p:sp>
      <p:sp>
        <p:nvSpPr>
          <p:cNvPr id="699" name="Google Shape;699;p35"/>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60 min.</a:t>
            </a:r>
            <a:endParaRPr sz="22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704"/>
        <p:cNvGrpSpPr/>
        <p:nvPr/>
      </p:nvGrpSpPr>
      <p:grpSpPr>
        <a:xfrm>
          <a:off x="0" y="0"/>
          <a:ext cx="0" cy="0"/>
          <a:chOff x="0" y="0"/>
          <a:chExt cx="0" cy="0"/>
        </a:xfrm>
      </p:grpSpPr>
      <p:sp>
        <p:nvSpPr>
          <p:cNvPr id="705" name="Google Shape;705;p36"/>
          <p:cNvSpPr txBox="1">
            <a:spLocks noGrp="1"/>
          </p:cNvSpPr>
          <p:nvPr>
            <p:ph type="title"/>
          </p:nvPr>
        </p:nvSpPr>
        <p:spPr>
          <a:xfrm>
            <a:off x="-10160" y="188315"/>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 </a:t>
            </a:r>
            <a:endParaRPr>
              <a:latin typeface="Open Sans"/>
              <a:ea typeface="Open Sans"/>
              <a:cs typeface="Open Sans"/>
              <a:sym typeface="Open Sans"/>
            </a:endParaRPr>
          </a:p>
        </p:txBody>
      </p:sp>
      <p:sp>
        <p:nvSpPr>
          <p:cNvPr id="706" name="Google Shape;706;p36"/>
          <p:cNvSpPr txBox="1"/>
          <p:nvPr/>
        </p:nvSpPr>
        <p:spPr>
          <a:xfrm>
            <a:off x="1167722" y="1132822"/>
            <a:ext cx="14057239" cy="7571047"/>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200">
                <a:solidFill>
                  <a:srgbClr val="3F3F3F"/>
                </a:solidFill>
                <a:latin typeface="Open Sans"/>
                <a:ea typeface="Open Sans"/>
                <a:cs typeface="Open Sans"/>
                <a:sym typeface="Open Sans"/>
              </a:rPr>
              <a:t>Steps to demonstrate collection mapping:</a:t>
            </a:r>
            <a:endParaRPr sz="2200">
              <a:solidFill>
                <a:srgbClr val="3F3F3F"/>
              </a:solidFill>
              <a:latin typeface="Open Sans"/>
              <a:ea typeface="Open Sans"/>
              <a:cs typeface="Open Sans"/>
              <a:sym typeface="Open Sans"/>
            </a:endParaRPr>
          </a:p>
          <a:p>
            <a:pPr marL="457188" marR="0" lvl="0" indent="-457188"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dynamic web project in Eclipse IDE and add .jar files to load Hibernate and its dependencies. </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database (e-commerce) and a table (e-product) that contains laptops for sale; fill in sample and secondary data (operating system, colour, screen size, and finance option).</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 and database table with .hbm.xml files.</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Data access object class for the table.</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servlet that retrieves data using Hibernate Collections and an HTML file that calls the servlet.</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Run the HTML code on your browser. </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 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707" name="Google Shape;707;p36"/>
          <p:cNvPicPr preferRelativeResize="0"/>
          <p:nvPr/>
        </p:nvPicPr>
        <p:blipFill rotWithShape="1">
          <a:blip r:embed="rId3">
            <a:alphaModFix/>
          </a:blip>
          <a:srcRect/>
          <a:stretch/>
        </p:blipFill>
        <p:spPr>
          <a:xfrm>
            <a:off x="4493450" y="603150"/>
            <a:ext cx="7274701" cy="3657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711"/>
        <p:cNvGrpSpPr/>
        <p:nvPr/>
      </p:nvGrpSpPr>
      <p:grpSpPr>
        <a:xfrm>
          <a:off x="0" y="0"/>
          <a:ext cx="0" cy="0"/>
          <a:chOff x="0" y="0"/>
          <a:chExt cx="0" cy="0"/>
        </a:xfrm>
      </p:grpSpPr>
      <p:sp>
        <p:nvSpPr>
          <p:cNvPr id="712" name="Google Shape;712;p37"/>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Hibernate Mapping Using XML File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717"/>
        <p:cNvGrpSpPr/>
        <p:nvPr/>
      </p:nvGrpSpPr>
      <p:grpSpPr>
        <a:xfrm>
          <a:off x="0" y="0"/>
          <a:ext cx="0" cy="0"/>
          <a:chOff x="0" y="0"/>
          <a:chExt cx="0" cy="0"/>
        </a:xfrm>
      </p:grpSpPr>
      <p:sp>
        <p:nvSpPr>
          <p:cNvPr id="718" name="Google Shape;718;p38"/>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Association Mapping</a:t>
            </a:r>
            <a:endParaRPr/>
          </a:p>
        </p:txBody>
      </p:sp>
      <p:sp>
        <p:nvSpPr>
          <p:cNvPr id="719" name="Google Shape;719;p38"/>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Mapping of associations between entity classes and tables form the crux of Hibernate. An association mapping can be unidirectional or bidirectional.</a:t>
            </a:r>
            <a:endParaRPr sz="2200" b="0" i="0" u="none" strike="noStrike" cap="none">
              <a:solidFill>
                <a:srgbClr val="3F3F3F"/>
              </a:solidFill>
              <a:latin typeface="Open Sans"/>
              <a:ea typeface="Open Sans"/>
              <a:cs typeface="Open Sans"/>
              <a:sym typeface="Open Sans"/>
            </a:endParaRPr>
          </a:p>
        </p:txBody>
      </p:sp>
      <p:grpSp>
        <p:nvGrpSpPr>
          <p:cNvPr id="720" name="Google Shape;720;p38"/>
          <p:cNvGrpSpPr/>
          <p:nvPr/>
        </p:nvGrpSpPr>
        <p:grpSpPr>
          <a:xfrm>
            <a:off x="633239" y="1208958"/>
            <a:ext cx="11265404" cy="6792197"/>
            <a:chOff x="-5704994" y="-873257"/>
            <a:chExt cx="11265404" cy="6792197"/>
          </a:xfrm>
        </p:grpSpPr>
        <p:sp>
          <p:nvSpPr>
            <p:cNvPr id="721" name="Google Shape;721;p38"/>
            <p:cNvSpPr/>
            <p:nvPr/>
          </p:nvSpPr>
          <p:spPr>
            <a:xfrm>
              <a:off x="-5704994" y="-873257"/>
              <a:ext cx="6792197" cy="6792197"/>
            </a:xfrm>
            <a:prstGeom prst="blockArc">
              <a:avLst>
                <a:gd name="adj1" fmla="val 18900000"/>
                <a:gd name="adj2" fmla="val 2700000"/>
                <a:gd name="adj3" fmla="val 318"/>
              </a:avLst>
            </a:prstGeom>
            <a:noFill/>
            <a:ln w="25400" cap="flat" cmpd="sng">
              <a:solidFill>
                <a:srgbClr val="487AA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2" name="Google Shape;722;p38"/>
            <p:cNvSpPr/>
            <p:nvPr/>
          </p:nvSpPr>
          <p:spPr>
            <a:xfrm>
              <a:off x="569101" y="387912"/>
              <a:ext cx="4991309" cy="776227"/>
            </a:xfrm>
            <a:prstGeom prst="rect">
              <a:avLst/>
            </a:prstGeom>
            <a:solidFill>
              <a:srgbClr val="F8B589"/>
            </a:solidFill>
            <a:ln w="25400" cap="flat" cmpd="sng">
              <a:solidFill>
                <a:srgbClr val="79AD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3" name="Google Shape;723;p38"/>
            <p:cNvSpPr txBox="1"/>
            <p:nvPr/>
          </p:nvSpPr>
          <p:spPr>
            <a:xfrm>
              <a:off x="569101" y="387912"/>
              <a:ext cx="4991309" cy="776227"/>
            </a:xfrm>
            <a:prstGeom prst="rect">
              <a:avLst/>
            </a:prstGeom>
            <a:noFill/>
            <a:ln>
              <a:noFill/>
            </a:ln>
          </p:spPr>
          <p:txBody>
            <a:bodyPr spcFirstLastPara="1" wrap="square" lIns="6161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One-to-one</a:t>
              </a:r>
              <a:endParaRPr sz="1400" b="0" i="0" u="none" strike="noStrike" cap="none">
                <a:solidFill>
                  <a:srgbClr val="000000"/>
                </a:solidFill>
                <a:latin typeface="Arial"/>
                <a:ea typeface="Arial"/>
                <a:cs typeface="Arial"/>
                <a:sym typeface="Arial"/>
              </a:endParaRPr>
            </a:p>
          </p:txBody>
        </p:sp>
        <p:sp>
          <p:nvSpPr>
            <p:cNvPr id="724" name="Google Shape;724;p38"/>
            <p:cNvSpPr/>
            <p:nvPr/>
          </p:nvSpPr>
          <p:spPr>
            <a:xfrm>
              <a:off x="83958" y="290883"/>
              <a:ext cx="970284" cy="970284"/>
            </a:xfrm>
            <a:prstGeom prst="ellipse">
              <a:avLst/>
            </a:prstGeom>
            <a:solidFill>
              <a:schemeClr val="lt1"/>
            </a:solidFill>
            <a:ln w="25400" cap="flat" cmpd="sng">
              <a:solidFill>
                <a:srgbClr val="599BD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5" name="Google Shape;725;p38"/>
            <p:cNvSpPr/>
            <p:nvPr/>
          </p:nvSpPr>
          <p:spPr>
            <a:xfrm>
              <a:off x="1014130" y="1552455"/>
              <a:ext cx="4546280" cy="776227"/>
            </a:xfrm>
            <a:prstGeom prst="rect">
              <a:avLst/>
            </a:prstGeom>
            <a:solidFill>
              <a:srgbClr val="9CDAEB"/>
            </a:solidFill>
            <a:ln w="25400" cap="flat" cmpd="sng">
              <a:solidFill>
                <a:srgbClr val="79AD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6" name="Google Shape;726;p38"/>
            <p:cNvSpPr txBox="1"/>
            <p:nvPr/>
          </p:nvSpPr>
          <p:spPr>
            <a:xfrm>
              <a:off x="1014130" y="1552455"/>
              <a:ext cx="4546280" cy="776227"/>
            </a:xfrm>
            <a:prstGeom prst="rect">
              <a:avLst/>
            </a:prstGeom>
            <a:noFill/>
            <a:ln>
              <a:noFill/>
            </a:ln>
          </p:spPr>
          <p:txBody>
            <a:bodyPr spcFirstLastPara="1" wrap="square" lIns="6161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Many-to-many</a:t>
              </a:r>
              <a:endParaRPr sz="1400" b="0" i="0" u="none" strike="noStrike" cap="none">
                <a:solidFill>
                  <a:srgbClr val="000000"/>
                </a:solidFill>
                <a:latin typeface="Arial"/>
                <a:ea typeface="Arial"/>
                <a:cs typeface="Arial"/>
                <a:sym typeface="Arial"/>
              </a:endParaRPr>
            </a:p>
          </p:txBody>
        </p:sp>
        <p:sp>
          <p:nvSpPr>
            <p:cNvPr id="727" name="Google Shape;727;p38"/>
            <p:cNvSpPr/>
            <p:nvPr/>
          </p:nvSpPr>
          <p:spPr>
            <a:xfrm>
              <a:off x="528988" y="1455427"/>
              <a:ext cx="970284" cy="970284"/>
            </a:xfrm>
            <a:prstGeom prst="ellipse">
              <a:avLst/>
            </a:prstGeom>
            <a:solidFill>
              <a:schemeClr val="lt1"/>
            </a:solidFill>
            <a:ln w="25400" cap="flat" cmpd="sng">
              <a:solidFill>
                <a:srgbClr val="599BD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8" name="Google Shape;728;p38"/>
            <p:cNvSpPr/>
            <p:nvPr/>
          </p:nvSpPr>
          <p:spPr>
            <a:xfrm>
              <a:off x="1014130" y="2716999"/>
              <a:ext cx="4546280" cy="776227"/>
            </a:xfrm>
            <a:prstGeom prst="rect">
              <a:avLst/>
            </a:prstGeom>
            <a:solidFill>
              <a:srgbClr val="A8D08C"/>
            </a:solidFill>
            <a:ln w="25400" cap="flat" cmpd="sng">
              <a:solidFill>
                <a:srgbClr val="79AD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29" name="Google Shape;729;p38"/>
            <p:cNvSpPr txBox="1"/>
            <p:nvPr/>
          </p:nvSpPr>
          <p:spPr>
            <a:xfrm>
              <a:off x="1014130" y="2716999"/>
              <a:ext cx="4546280" cy="776227"/>
            </a:xfrm>
            <a:prstGeom prst="rect">
              <a:avLst/>
            </a:prstGeom>
            <a:noFill/>
            <a:ln>
              <a:noFill/>
            </a:ln>
          </p:spPr>
          <p:txBody>
            <a:bodyPr spcFirstLastPara="1" wrap="square" lIns="6161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One-to-many</a:t>
              </a:r>
              <a:endParaRPr sz="1400" b="0" i="0" u="none" strike="noStrike" cap="none">
                <a:solidFill>
                  <a:srgbClr val="000000"/>
                </a:solidFill>
                <a:latin typeface="Arial"/>
                <a:ea typeface="Arial"/>
                <a:cs typeface="Arial"/>
                <a:sym typeface="Arial"/>
              </a:endParaRPr>
            </a:p>
          </p:txBody>
        </p:sp>
        <p:sp>
          <p:nvSpPr>
            <p:cNvPr id="730" name="Google Shape;730;p38"/>
            <p:cNvSpPr/>
            <p:nvPr/>
          </p:nvSpPr>
          <p:spPr>
            <a:xfrm>
              <a:off x="528988" y="2619970"/>
              <a:ext cx="970284" cy="970284"/>
            </a:xfrm>
            <a:prstGeom prst="ellipse">
              <a:avLst/>
            </a:prstGeom>
            <a:solidFill>
              <a:schemeClr val="lt1"/>
            </a:solidFill>
            <a:ln w="25400" cap="flat" cmpd="sng">
              <a:solidFill>
                <a:srgbClr val="599BD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1" name="Google Shape;731;p38"/>
            <p:cNvSpPr/>
            <p:nvPr/>
          </p:nvSpPr>
          <p:spPr>
            <a:xfrm>
              <a:off x="569101" y="3881543"/>
              <a:ext cx="4991309" cy="776227"/>
            </a:xfrm>
            <a:prstGeom prst="rect">
              <a:avLst/>
            </a:prstGeom>
            <a:solidFill>
              <a:srgbClr val="FFD966"/>
            </a:solidFill>
            <a:ln w="25400" cap="flat" cmpd="sng">
              <a:solidFill>
                <a:srgbClr val="79ADDD"/>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32" name="Google Shape;732;p38"/>
            <p:cNvSpPr txBox="1"/>
            <p:nvPr/>
          </p:nvSpPr>
          <p:spPr>
            <a:xfrm>
              <a:off x="569101" y="3881543"/>
              <a:ext cx="4991309" cy="776227"/>
            </a:xfrm>
            <a:prstGeom prst="rect">
              <a:avLst/>
            </a:prstGeom>
            <a:noFill/>
            <a:ln>
              <a:noFill/>
            </a:ln>
          </p:spPr>
          <p:txBody>
            <a:bodyPr spcFirstLastPara="1" wrap="square" lIns="616125" tIns="55875" rIns="55875" bIns="55875"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Many-to-one</a:t>
              </a:r>
              <a:endParaRPr sz="1400" b="0" i="0" u="none" strike="noStrike" cap="none">
                <a:solidFill>
                  <a:srgbClr val="000000"/>
                </a:solidFill>
                <a:latin typeface="Arial"/>
                <a:ea typeface="Arial"/>
                <a:cs typeface="Arial"/>
                <a:sym typeface="Arial"/>
              </a:endParaRPr>
            </a:p>
          </p:txBody>
        </p:sp>
        <p:sp>
          <p:nvSpPr>
            <p:cNvPr id="733" name="Google Shape;733;p38"/>
            <p:cNvSpPr/>
            <p:nvPr/>
          </p:nvSpPr>
          <p:spPr>
            <a:xfrm>
              <a:off x="83958" y="3784514"/>
              <a:ext cx="970284" cy="970284"/>
            </a:xfrm>
            <a:prstGeom prst="ellipse">
              <a:avLst/>
            </a:prstGeom>
            <a:solidFill>
              <a:schemeClr val="lt1"/>
            </a:solidFill>
            <a:ln w="25400" cap="flat" cmpd="sng">
              <a:solidFill>
                <a:srgbClr val="599BD5"/>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734" name="Google Shape;734;p38"/>
          <p:cNvSpPr/>
          <p:nvPr/>
        </p:nvSpPr>
        <p:spPr>
          <a:xfrm>
            <a:off x="3726596" y="3807545"/>
            <a:ext cx="2611637" cy="1595021"/>
          </a:xfrm>
          <a:prstGeom prst="frame">
            <a:avLst>
              <a:gd name="adj1" fmla="val 125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Relationship between objects</a:t>
            </a:r>
            <a:endParaRPr sz="1400" b="0" i="0" u="none" strike="noStrike" cap="none">
              <a:solidFill>
                <a:srgbClr val="000000"/>
              </a:solidFill>
              <a:latin typeface="Arial"/>
              <a:ea typeface="Arial"/>
              <a:cs typeface="Arial"/>
              <a:sym typeface="Arial"/>
            </a:endParaRPr>
          </a:p>
        </p:txBody>
      </p:sp>
      <p:sp>
        <p:nvSpPr>
          <p:cNvPr id="735" name="Google Shape;735;p38"/>
          <p:cNvSpPr/>
          <p:nvPr/>
        </p:nvSpPr>
        <p:spPr>
          <a:xfrm>
            <a:off x="3726596" y="7272614"/>
            <a:ext cx="8846404" cy="1279145"/>
          </a:xfrm>
          <a:prstGeom prst="roundRect">
            <a:avLst>
              <a:gd name="adj" fmla="val 16667"/>
            </a:avLst>
          </a:prstGeom>
          <a:noFill/>
          <a:ln w="25400" cap="flat" cmpd="sng">
            <a:solidFill>
              <a:srgbClr val="5B9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Mapping of java objects to database will be done in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1200"/>
              </a:spcBef>
              <a:spcAft>
                <a:spcPts val="0"/>
              </a:spcAft>
              <a:buClr>
                <a:srgbClr val="000000"/>
              </a:buClr>
              <a:buSzPts val="2200"/>
              <a:buFont typeface="Arial"/>
              <a:buNone/>
            </a:pPr>
            <a:r>
              <a:rPr lang="en-US" sz="2200" b="1" i="0" u="none" strike="noStrike" cap="none">
                <a:solidFill>
                  <a:schemeClr val="dk1"/>
                </a:solidFill>
                <a:latin typeface="Open Sans"/>
                <a:ea typeface="Open Sans"/>
                <a:cs typeface="Open Sans"/>
                <a:sym typeface="Open Sans"/>
              </a:rPr>
              <a:t>Hibernate XML Mapping file (hbm.xml)</a:t>
            </a:r>
            <a:r>
              <a:rPr lang="en-US" sz="22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p:txBody>
      </p:sp>
      <p:pic>
        <p:nvPicPr>
          <p:cNvPr id="736" name="Google Shape;736;p38"/>
          <p:cNvPicPr preferRelativeResize="0"/>
          <p:nvPr/>
        </p:nvPicPr>
        <p:blipFill rotWithShape="1">
          <a:blip r:embed="rId3">
            <a:alphaModFix/>
          </a:blip>
          <a:srcRect/>
          <a:stretch/>
        </p:blipFill>
        <p:spPr>
          <a:xfrm>
            <a:off x="5144716" y="603159"/>
            <a:ext cx="5972174" cy="36576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741"/>
        <p:cNvGrpSpPr/>
        <p:nvPr/>
      </p:nvGrpSpPr>
      <p:grpSpPr>
        <a:xfrm>
          <a:off x="0" y="0"/>
          <a:ext cx="0" cy="0"/>
          <a:chOff x="0" y="0"/>
          <a:chExt cx="0" cy="0"/>
        </a:xfrm>
      </p:grpSpPr>
      <p:sp>
        <p:nvSpPr>
          <p:cNvPr id="742" name="Google Shape;742;p39"/>
          <p:cNvSpPr/>
          <p:nvPr/>
        </p:nvSpPr>
        <p:spPr>
          <a:xfrm>
            <a:off x="3885487" y="6102424"/>
            <a:ext cx="8400331" cy="1635498"/>
          </a:xfrm>
          <a:prstGeom prst="roundRect">
            <a:avLst>
              <a:gd name="adj" fmla="val 16667"/>
            </a:avLst>
          </a:prstGeom>
          <a:noFill/>
          <a:ln w="25400" cap="flat" cmpd="sng">
            <a:solidFill>
              <a:srgbClr val="5B9BD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Mapping of java objects to database will be done in </a:t>
            </a:r>
            <a:endParaRPr sz="1400" b="0" i="0" u="none" strike="noStrike" cap="none">
              <a:solidFill>
                <a:srgbClr val="000000"/>
              </a:solidFill>
              <a:latin typeface="Arial"/>
              <a:ea typeface="Arial"/>
              <a:cs typeface="Arial"/>
              <a:sym typeface="Arial"/>
            </a:endParaRPr>
          </a:p>
          <a:p>
            <a:pPr marL="0" marR="0" lvl="0" indent="0" algn="ctr" rtl="0">
              <a:lnSpc>
                <a:spcPct val="90000"/>
              </a:lnSpc>
              <a:spcBef>
                <a:spcPts val="1200"/>
              </a:spcBef>
              <a:spcAft>
                <a:spcPts val="0"/>
              </a:spcAft>
              <a:buClr>
                <a:srgbClr val="000000"/>
              </a:buClr>
              <a:buSzPts val="2200"/>
              <a:buFont typeface="Arial"/>
              <a:buNone/>
            </a:pPr>
            <a:r>
              <a:rPr lang="en-US" sz="2200" b="1" i="0" u="none" strike="noStrike" cap="none">
                <a:solidFill>
                  <a:schemeClr val="dk1"/>
                </a:solidFill>
                <a:latin typeface="Open Sans"/>
                <a:ea typeface="Open Sans"/>
                <a:cs typeface="Open Sans"/>
                <a:sym typeface="Open Sans"/>
              </a:rPr>
              <a:t>Hibernate XML Mapping file ( &lt;className&gt;.hbm.xml)</a:t>
            </a:r>
            <a:r>
              <a:rPr lang="en-US" sz="2200" b="0" i="0" u="none" strike="noStrike" cap="none">
                <a:solidFill>
                  <a:schemeClr val="dk1"/>
                </a:solidFill>
                <a:latin typeface="Open Sans"/>
                <a:ea typeface="Open Sans"/>
                <a:cs typeface="Open Sans"/>
                <a:sym typeface="Open Sans"/>
              </a:rPr>
              <a:t>.</a:t>
            </a:r>
            <a:endParaRPr sz="1400" b="0" i="0" u="none" strike="noStrike" cap="none">
              <a:solidFill>
                <a:srgbClr val="000000"/>
              </a:solidFill>
              <a:latin typeface="Arial"/>
              <a:ea typeface="Arial"/>
              <a:cs typeface="Arial"/>
              <a:sym typeface="Arial"/>
            </a:endParaRPr>
          </a:p>
        </p:txBody>
      </p:sp>
      <p:sp>
        <p:nvSpPr>
          <p:cNvPr id="743" name="Google Shape;743;p39"/>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Association Mapping</a:t>
            </a:r>
            <a:endParaRPr/>
          </a:p>
        </p:txBody>
      </p:sp>
      <p:sp>
        <p:nvSpPr>
          <p:cNvPr id="744" name="Google Shape;744;p39"/>
          <p:cNvSpPr/>
          <p:nvPr/>
        </p:nvSpPr>
        <p:spPr>
          <a:xfrm>
            <a:off x="3838686" y="1919207"/>
            <a:ext cx="3384000" cy="3384000"/>
          </a:xfrm>
          <a:custGeom>
            <a:avLst/>
            <a:gdLst/>
            <a:ahLst/>
            <a:cxnLst/>
            <a:rect l="l" t="t" r="r" b="b"/>
            <a:pathLst>
              <a:path w="21600" h="21600" extrusionOk="0">
                <a:moveTo>
                  <a:pt x="10800" y="21600"/>
                </a:moveTo>
                <a:lnTo>
                  <a:pt x="0" y="10800"/>
                </a:lnTo>
                <a:lnTo>
                  <a:pt x="10800" y="0"/>
                </a:lnTo>
                <a:lnTo>
                  <a:pt x="21600" y="10800"/>
                </a:lnTo>
                <a:close/>
              </a:path>
            </a:pathLst>
          </a:custGeom>
          <a:solidFill>
            <a:srgbClr val="9CDAEB"/>
          </a:solidFill>
          <a:ln w="12700" cap="flat" cmpd="sng">
            <a:solidFill>
              <a:srgbClr val="1F3864"/>
            </a:solidFill>
            <a:prstDash val="solid"/>
            <a:miter lim="400000"/>
            <a:headEnd type="none" w="sm" len="sm"/>
            <a:tailEnd type="none" w="sm" len="sm"/>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Association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Mapping</a:t>
            </a:r>
            <a:endParaRPr sz="1400" b="0" i="0" u="none" strike="noStrike" cap="none">
              <a:solidFill>
                <a:srgbClr val="000000"/>
              </a:solidFill>
              <a:latin typeface="Arial"/>
              <a:ea typeface="Arial"/>
              <a:cs typeface="Arial"/>
              <a:sym typeface="Arial"/>
            </a:endParaRPr>
          </a:p>
        </p:txBody>
      </p:sp>
      <p:grpSp>
        <p:nvGrpSpPr>
          <p:cNvPr id="745" name="Google Shape;745;p39"/>
          <p:cNvGrpSpPr/>
          <p:nvPr/>
        </p:nvGrpSpPr>
        <p:grpSpPr>
          <a:xfrm>
            <a:off x="7245240" y="2276431"/>
            <a:ext cx="2195939" cy="2669551"/>
            <a:chOff x="6948690" y="3002090"/>
            <a:chExt cx="2301721" cy="2669551"/>
          </a:xfrm>
        </p:grpSpPr>
        <p:cxnSp>
          <p:nvCxnSpPr>
            <p:cNvPr id="746" name="Google Shape;746;p39"/>
            <p:cNvCxnSpPr>
              <a:endCxn id="747" idx="1"/>
            </p:cNvCxnSpPr>
            <p:nvPr/>
          </p:nvCxnSpPr>
          <p:spPr>
            <a:xfrm>
              <a:off x="6948690" y="4336866"/>
              <a:ext cx="1673700" cy="0"/>
            </a:xfrm>
            <a:prstGeom prst="straightConnector1">
              <a:avLst/>
            </a:prstGeom>
            <a:noFill/>
            <a:ln w="57150" cap="flat" cmpd="sng">
              <a:solidFill>
                <a:srgbClr val="F38573"/>
              </a:solidFill>
              <a:prstDash val="solid"/>
              <a:round/>
              <a:headEnd type="none" w="sm" len="sm"/>
              <a:tailEnd type="none" w="sm" len="sm"/>
            </a:ln>
          </p:spPr>
        </p:cxnSp>
        <p:sp>
          <p:nvSpPr>
            <p:cNvPr id="747" name="Google Shape;747;p39"/>
            <p:cNvSpPr/>
            <p:nvPr/>
          </p:nvSpPr>
          <p:spPr>
            <a:xfrm>
              <a:off x="8622390" y="3002090"/>
              <a:ext cx="628021" cy="2669551"/>
            </a:xfrm>
            <a:prstGeom prst="leftBrace">
              <a:avLst>
                <a:gd name="adj1" fmla="val 8333"/>
                <a:gd name="adj2" fmla="val 50000"/>
              </a:avLst>
            </a:prstGeom>
            <a:noFill/>
            <a:ln w="57150" cap="flat" cmpd="sng">
              <a:solidFill>
                <a:srgbClr val="F3857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748" name="Google Shape;748;p39"/>
          <p:cNvSpPr txBox="1"/>
          <p:nvPr/>
        </p:nvSpPr>
        <p:spPr>
          <a:xfrm>
            <a:off x="7222685" y="2718424"/>
            <a:ext cx="1889641" cy="76944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Can be done using</a:t>
            </a:r>
            <a:endParaRPr sz="1400" b="0" i="0" u="none" strike="noStrike" cap="none">
              <a:solidFill>
                <a:srgbClr val="000000"/>
              </a:solidFill>
              <a:latin typeface="Arial"/>
              <a:ea typeface="Arial"/>
              <a:cs typeface="Arial"/>
              <a:sym typeface="Arial"/>
            </a:endParaRPr>
          </a:p>
        </p:txBody>
      </p:sp>
      <p:sp>
        <p:nvSpPr>
          <p:cNvPr id="749" name="Google Shape;749;p39"/>
          <p:cNvSpPr/>
          <p:nvPr/>
        </p:nvSpPr>
        <p:spPr>
          <a:xfrm>
            <a:off x="9555480" y="2276431"/>
            <a:ext cx="2528779" cy="665045"/>
          </a:xfrm>
          <a:prstGeom prst="rect">
            <a:avLst/>
          </a:prstGeom>
          <a:solidFill>
            <a:srgbClr val="F8B589"/>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XML File</a:t>
            </a:r>
            <a:endParaRPr sz="1400" b="0" i="0" u="none" strike="noStrike" cap="none">
              <a:solidFill>
                <a:srgbClr val="000000"/>
              </a:solidFill>
              <a:latin typeface="Arial"/>
              <a:ea typeface="Arial"/>
              <a:cs typeface="Arial"/>
              <a:sym typeface="Arial"/>
            </a:endParaRPr>
          </a:p>
        </p:txBody>
      </p:sp>
      <p:sp>
        <p:nvSpPr>
          <p:cNvPr id="750" name="Google Shape;750;p39"/>
          <p:cNvSpPr/>
          <p:nvPr/>
        </p:nvSpPr>
        <p:spPr>
          <a:xfrm>
            <a:off x="9555480" y="4280937"/>
            <a:ext cx="2528779" cy="665045"/>
          </a:xfrm>
          <a:prstGeom prst="rect">
            <a:avLst/>
          </a:prstGeom>
          <a:solidFill>
            <a:srgbClr val="C4E0B2"/>
          </a:solidFill>
          <a:ln w="25400"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Annotations</a:t>
            </a:r>
            <a:endParaRPr sz="1400" b="0" i="0" u="none" strike="noStrike" cap="none">
              <a:solidFill>
                <a:srgbClr val="000000"/>
              </a:solidFill>
              <a:latin typeface="Arial"/>
              <a:ea typeface="Arial"/>
              <a:cs typeface="Arial"/>
              <a:sym typeface="Arial"/>
            </a:endParaRPr>
          </a:p>
        </p:txBody>
      </p:sp>
      <p:pic>
        <p:nvPicPr>
          <p:cNvPr id="751" name="Google Shape;751;p39"/>
          <p:cNvPicPr preferRelativeResize="0"/>
          <p:nvPr/>
        </p:nvPicPr>
        <p:blipFill rotWithShape="1">
          <a:blip r:embed="rId3">
            <a:alphaModFix/>
          </a:blip>
          <a:srcRect/>
          <a:stretch/>
        </p:blipFill>
        <p:spPr>
          <a:xfrm>
            <a:off x="5144716" y="603159"/>
            <a:ext cx="5972174" cy="365760"/>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756"/>
        <p:cNvGrpSpPr/>
        <p:nvPr/>
      </p:nvGrpSpPr>
      <p:grpSpPr>
        <a:xfrm>
          <a:off x="0" y="0"/>
          <a:ext cx="0" cy="0"/>
          <a:chOff x="0" y="0"/>
          <a:chExt cx="0" cy="0"/>
        </a:xfrm>
      </p:grpSpPr>
      <p:sp>
        <p:nvSpPr>
          <p:cNvPr id="757" name="Google Shape;757;p40"/>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Hibernate Mapping Using XML</a:t>
            </a:r>
            <a:endParaRPr/>
          </a:p>
        </p:txBody>
      </p:sp>
      <p:sp>
        <p:nvSpPr>
          <p:cNvPr id="758" name="Google Shape;758;p40"/>
          <p:cNvSpPr/>
          <p:nvPr/>
        </p:nvSpPr>
        <p:spPr>
          <a:xfrm>
            <a:off x="1830734" y="1600490"/>
            <a:ext cx="6069517" cy="6395176"/>
          </a:xfrm>
          <a:custGeom>
            <a:avLst/>
            <a:gdLst/>
            <a:ahLst/>
            <a:cxnLst/>
            <a:rect l="l" t="t" r="r" b="b"/>
            <a:pathLst>
              <a:path w="6069517" h="7224889" extrusionOk="0">
                <a:moveTo>
                  <a:pt x="0" y="606952"/>
                </a:moveTo>
                <a:cubicBezTo>
                  <a:pt x="0" y="271742"/>
                  <a:pt x="271742" y="0"/>
                  <a:pt x="606952" y="0"/>
                </a:cubicBezTo>
                <a:lnTo>
                  <a:pt x="5462565" y="0"/>
                </a:lnTo>
                <a:cubicBezTo>
                  <a:pt x="5797775" y="0"/>
                  <a:pt x="6069517" y="271742"/>
                  <a:pt x="6069517" y="606952"/>
                </a:cubicBezTo>
                <a:lnTo>
                  <a:pt x="6069517" y="6617937"/>
                </a:lnTo>
                <a:cubicBezTo>
                  <a:pt x="6069517" y="6953147"/>
                  <a:pt x="5797775" y="7224889"/>
                  <a:pt x="5462565" y="7224889"/>
                </a:cubicBezTo>
                <a:lnTo>
                  <a:pt x="606952" y="7224889"/>
                </a:lnTo>
                <a:cubicBezTo>
                  <a:pt x="271742" y="7224889"/>
                  <a:pt x="0" y="6953147"/>
                  <a:pt x="0" y="6617937"/>
                </a:cubicBezTo>
                <a:lnTo>
                  <a:pt x="0" y="606952"/>
                </a:lnTo>
                <a:close/>
              </a:path>
            </a:pathLst>
          </a:custGeom>
          <a:solidFill>
            <a:srgbClr val="FFF2CC"/>
          </a:solidFill>
          <a:ln w="9525" cap="flat" cmpd="sng">
            <a:solidFill>
              <a:srgbClr val="FA8976"/>
            </a:solidFill>
            <a:prstDash val="solid"/>
            <a:round/>
            <a:headEnd type="none" w="sm" len="sm"/>
            <a:tailEnd type="none" w="sm" len="sm"/>
          </a:ln>
        </p:spPr>
        <p:txBody>
          <a:bodyPr spcFirstLastPara="1" wrap="square" lIns="106675" tIns="106675" rIns="106675" bIns="5164100" anchor="ctr" anchorCtr="0">
            <a:noAutofit/>
          </a:bodyPr>
          <a:lstStyle/>
          <a:p>
            <a:pPr marL="0" marR="0" lvl="0" indent="0" algn="ctr"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Open Sans"/>
              <a:ea typeface="Open Sans"/>
              <a:cs typeface="Open Sans"/>
              <a:sym typeface="Open Sans"/>
            </a:endParaRPr>
          </a:p>
        </p:txBody>
      </p:sp>
      <p:sp>
        <p:nvSpPr>
          <p:cNvPr id="759" name="Google Shape;759;p40"/>
          <p:cNvSpPr/>
          <p:nvPr/>
        </p:nvSpPr>
        <p:spPr>
          <a:xfrm>
            <a:off x="2209053" y="1948359"/>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One-to-one</a:t>
            </a:r>
            <a:endParaRPr sz="1400" b="0" i="0" u="none" strike="noStrike" cap="none">
              <a:solidFill>
                <a:srgbClr val="000000"/>
              </a:solidFill>
              <a:latin typeface="Arial"/>
              <a:ea typeface="Arial"/>
              <a:cs typeface="Arial"/>
              <a:sym typeface="Arial"/>
            </a:endParaRPr>
          </a:p>
        </p:txBody>
      </p:sp>
      <p:sp>
        <p:nvSpPr>
          <p:cNvPr id="760" name="Google Shape;760;p40"/>
          <p:cNvSpPr/>
          <p:nvPr/>
        </p:nvSpPr>
        <p:spPr>
          <a:xfrm>
            <a:off x="8355465" y="1600490"/>
            <a:ext cx="6069517" cy="6395176"/>
          </a:xfrm>
          <a:custGeom>
            <a:avLst/>
            <a:gdLst/>
            <a:ahLst/>
            <a:cxnLst/>
            <a:rect l="l" t="t" r="r" b="b"/>
            <a:pathLst>
              <a:path w="6069517" h="7224889" extrusionOk="0">
                <a:moveTo>
                  <a:pt x="0" y="606952"/>
                </a:moveTo>
                <a:cubicBezTo>
                  <a:pt x="0" y="271742"/>
                  <a:pt x="271742" y="0"/>
                  <a:pt x="606952" y="0"/>
                </a:cubicBezTo>
                <a:lnTo>
                  <a:pt x="5462565" y="0"/>
                </a:lnTo>
                <a:cubicBezTo>
                  <a:pt x="5797775" y="0"/>
                  <a:pt x="6069517" y="271742"/>
                  <a:pt x="6069517" y="606952"/>
                </a:cubicBezTo>
                <a:lnTo>
                  <a:pt x="6069517" y="6617937"/>
                </a:lnTo>
                <a:cubicBezTo>
                  <a:pt x="6069517" y="6953147"/>
                  <a:pt x="5797775" y="7224889"/>
                  <a:pt x="5462565" y="7224889"/>
                </a:cubicBezTo>
                <a:lnTo>
                  <a:pt x="606952" y="7224889"/>
                </a:lnTo>
                <a:cubicBezTo>
                  <a:pt x="271742" y="7224889"/>
                  <a:pt x="0" y="6953147"/>
                  <a:pt x="0" y="6617937"/>
                </a:cubicBezTo>
                <a:lnTo>
                  <a:pt x="0" y="606952"/>
                </a:lnTo>
                <a:close/>
              </a:path>
            </a:pathLst>
          </a:custGeom>
          <a:solidFill>
            <a:srgbClr val="FFF2CC"/>
          </a:solidFill>
          <a:ln w="9525" cap="flat" cmpd="sng">
            <a:solidFill>
              <a:srgbClr val="FA8976"/>
            </a:solidFill>
            <a:prstDash val="solid"/>
            <a:round/>
            <a:headEnd type="none" w="sm" len="sm"/>
            <a:tailEnd type="none" w="sm" len="sm"/>
          </a:ln>
        </p:spPr>
        <p:txBody>
          <a:bodyPr spcFirstLastPara="1" wrap="square" lIns="106675" tIns="106675" rIns="106675" bIns="5164100" anchor="ctr" anchorCtr="0">
            <a:noAutofit/>
          </a:bodyPr>
          <a:lstStyle/>
          <a:p>
            <a:pPr marL="0" marR="0" lvl="0" indent="0" algn="ctr" rtl="0">
              <a:lnSpc>
                <a:spcPct val="90000"/>
              </a:lnSpc>
              <a:spcBef>
                <a:spcPts val="0"/>
              </a:spcBef>
              <a:spcAft>
                <a:spcPts val="0"/>
              </a:spcAft>
              <a:buClr>
                <a:schemeClr val="dk1"/>
              </a:buClr>
              <a:buSzPts val="2800"/>
              <a:buFont typeface="Arial"/>
              <a:buNone/>
            </a:pPr>
            <a:endParaRPr sz="2800" b="0" i="0" u="none" strike="noStrike" cap="none">
              <a:solidFill>
                <a:schemeClr val="dk1"/>
              </a:solidFill>
              <a:latin typeface="Open Sans"/>
              <a:ea typeface="Open Sans"/>
              <a:cs typeface="Open Sans"/>
              <a:sym typeface="Open Sans"/>
            </a:endParaRPr>
          </a:p>
        </p:txBody>
      </p:sp>
      <p:sp>
        <p:nvSpPr>
          <p:cNvPr id="761" name="Google Shape;761;p40"/>
          <p:cNvSpPr/>
          <p:nvPr/>
        </p:nvSpPr>
        <p:spPr>
          <a:xfrm>
            <a:off x="8733784" y="1948359"/>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One object can be associated with only one object</a:t>
            </a:r>
            <a:endParaRPr sz="2200" b="0" i="0" u="none" strike="noStrike" cap="none">
              <a:solidFill>
                <a:schemeClr val="dk1"/>
              </a:solidFill>
              <a:latin typeface="Open Sans"/>
              <a:ea typeface="Open Sans"/>
              <a:cs typeface="Open Sans"/>
              <a:sym typeface="Open Sans"/>
            </a:endParaRPr>
          </a:p>
        </p:txBody>
      </p:sp>
      <p:sp>
        <p:nvSpPr>
          <p:cNvPr id="762" name="Google Shape;762;p40"/>
          <p:cNvSpPr/>
          <p:nvPr/>
        </p:nvSpPr>
        <p:spPr>
          <a:xfrm>
            <a:off x="2209053" y="3354813"/>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Many-to-many</a:t>
            </a:r>
            <a:endParaRPr sz="1400" b="0" i="0" u="none" strike="noStrike" cap="none">
              <a:solidFill>
                <a:srgbClr val="000000"/>
              </a:solidFill>
              <a:latin typeface="Arial"/>
              <a:ea typeface="Arial"/>
              <a:cs typeface="Arial"/>
              <a:sym typeface="Arial"/>
            </a:endParaRPr>
          </a:p>
        </p:txBody>
      </p:sp>
      <p:sp>
        <p:nvSpPr>
          <p:cNvPr id="763" name="Google Shape;763;p40"/>
          <p:cNvSpPr/>
          <p:nvPr/>
        </p:nvSpPr>
        <p:spPr>
          <a:xfrm>
            <a:off x="8733784" y="3354813"/>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Multiple objects can be associated with multiple objects. This mapping can be achieved using the Set collection</a:t>
            </a:r>
            <a:endParaRPr sz="2200" b="0" i="0" u="none" strike="noStrike" cap="none">
              <a:solidFill>
                <a:schemeClr val="dk1"/>
              </a:solidFill>
              <a:latin typeface="Open Sans"/>
              <a:ea typeface="Open Sans"/>
              <a:cs typeface="Open Sans"/>
              <a:sym typeface="Open Sans"/>
            </a:endParaRPr>
          </a:p>
        </p:txBody>
      </p:sp>
      <p:sp>
        <p:nvSpPr>
          <p:cNvPr id="764" name="Google Shape;764;p40"/>
          <p:cNvSpPr/>
          <p:nvPr/>
        </p:nvSpPr>
        <p:spPr>
          <a:xfrm>
            <a:off x="2209053" y="4761267"/>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One-to-many</a:t>
            </a:r>
            <a:endParaRPr sz="1400" b="0" i="0" u="none" strike="noStrike" cap="none">
              <a:solidFill>
                <a:srgbClr val="000000"/>
              </a:solidFill>
              <a:latin typeface="Arial"/>
              <a:ea typeface="Arial"/>
              <a:cs typeface="Arial"/>
              <a:sym typeface="Arial"/>
            </a:endParaRPr>
          </a:p>
        </p:txBody>
      </p:sp>
      <p:sp>
        <p:nvSpPr>
          <p:cNvPr id="765" name="Google Shape;765;p40"/>
          <p:cNvSpPr/>
          <p:nvPr/>
        </p:nvSpPr>
        <p:spPr>
          <a:xfrm>
            <a:off x="8733784" y="4761267"/>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One object can be associated with multiple objects. This mapping can be achieved using the Set collection</a:t>
            </a:r>
            <a:endParaRPr sz="2200" b="0" i="0" u="none" strike="noStrike" cap="none">
              <a:solidFill>
                <a:schemeClr val="dk1"/>
              </a:solidFill>
              <a:latin typeface="Open Sans"/>
              <a:ea typeface="Open Sans"/>
              <a:cs typeface="Open Sans"/>
              <a:sym typeface="Open Sans"/>
            </a:endParaRPr>
          </a:p>
        </p:txBody>
      </p:sp>
      <p:sp>
        <p:nvSpPr>
          <p:cNvPr id="766" name="Google Shape;766;p40"/>
          <p:cNvSpPr/>
          <p:nvPr/>
        </p:nvSpPr>
        <p:spPr>
          <a:xfrm>
            <a:off x="2229916" y="6167721"/>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Many-to-one</a:t>
            </a:r>
            <a:endParaRPr sz="1400" b="0" i="0" u="none" strike="noStrike" cap="none">
              <a:solidFill>
                <a:srgbClr val="000000"/>
              </a:solidFill>
              <a:latin typeface="Arial"/>
              <a:ea typeface="Arial"/>
              <a:cs typeface="Arial"/>
              <a:sym typeface="Arial"/>
            </a:endParaRPr>
          </a:p>
        </p:txBody>
      </p:sp>
      <p:sp>
        <p:nvSpPr>
          <p:cNvPr id="767" name="Google Shape;767;p40"/>
          <p:cNvSpPr/>
          <p:nvPr/>
        </p:nvSpPr>
        <p:spPr>
          <a:xfrm>
            <a:off x="8733784" y="6167721"/>
            <a:ext cx="5347976" cy="1276503"/>
          </a:xfrm>
          <a:custGeom>
            <a:avLst/>
            <a:gdLst/>
            <a:ahLst/>
            <a:cxnLst/>
            <a:rect l="l" t="t" r="r" b="b"/>
            <a:pathLst>
              <a:path w="4855613" h="666419" extrusionOk="0">
                <a:moveTo>
                  <a:pt x="0" y="66642"/>
                </a:moveTo>
                <a:cubicBezTo>
                  <a:pt x="0" y="29837"/>
                  <a:pt x="29837" y="0"/>
                  <a:pt x="66642" y="0"/>
                </a:cubicBezTo>
                <a:lnTo>
                  <a:pt x="4788971" y="0"/>
                </a:lnTo>
                <a:cubicBezTo>
                  <a:pt x="4825776" y="0"/>
                  <a:pt x="4855613" y="29837"/>
                  <a:pt x="4855613" y="66642"/>
                </a:cubicBezTo>
                <a:lnTo>
                  <a:pt x="4855613" y="599777"/>
                </a:lnTo>
                <a:cubicBezTo>
                  <a:pt x="4855613" y="636582"/>
                  <a:pt x="4825776" y="666419"/>
                  <a:pt x="4788971" y="666419"/>
                </a:cubicBezTo>
                <a:lnTo>
                  <a:pt x="66642" y="666419"/>
                </a:lnTo>
                <a:cubicBezTo>
                  <a:pt x="29837" y="666419"/>
                  <a:pt x="0" y="636582"/>
                  <a:pt x="0" y="599777"/>
                </a:cubicBezTo>
                <a:lnTo>
                  <a:pt x="0" y="66642"/>
                </a:lnTo>
                <a:close/>
              </a:path>
            </a:pathLst>
          </a:custGeom>
          <a:solidFill>
            <a:schemeClr val="lt1"/>
          </a:solidFill>
          <a:ln w="25400" cap="flat" cmpd="sng">
            <a:solidFill>
              <a:srgbClr val="FA8976"/>
            </a:solidFill>
            <a:prstDash val="solid"/>
            <a:round/>
            <a:headEnd type="none" w="sm" len="sm"/>
            <a:tailEnd type="none" w="sm" len="sm"/>
          </a:ln>
        </p:spPr>
        <p:txBody>
          <a:bodyPr spcFirstLastPara="1" wrap="square" lIns="75375" tIns="61425" rIns="75375" bIns="61425" anchor="ctr" anchorCtr="0">
            <a:noAutofit/>
          </a:bodyPr>
          <a:lstStyle/>
          <a:p>
            <a:pPr marL="0" marR="0" lvl="0" indent="0" algn="ctr" rtl="0">
              <a:lnSpc>
                <a:spcPct val="9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One object can be associated with multiple objects. This is the most common type of association</a:t>
            </a:r>
            <a:endParaRPr sz="2200" b="0" i="0" u="none" strike="noStrike" cap="none">
              <a:solidFill>
                <a:schemeClr val="dk1"/>
              </a:solidFill>
              <a:latin typeface="Open Sans"/>
              <a:ea typeface="Open Sans"/>
              <a:cs typeface="Open Sans"/>
              <a:sym typeface="Open Sans"/>
            </a:endParaRPr>
          </a:p>
        </p:txBody>
      </p:sp>
      <p:cxnSp>
        <p:nvCxnSpPr>
          <p:cNvPr id="768" name="Google Shape;768;p40"/>
          <p:cNvCxnSpPr/>
          <p:nvPr/>
        </p:nvCxnSpPr>
        <p:spPr>
          <a:xfrm>
            <a:off x="7544793" y="2608850"/>
            <a:ext cx="1152000" cy="0"/>
          </a:xfrm>
          <a:prstGeom prst="straightConnector1">
            <a:avLst/>
          </a:prstGeom>
          <a:noFill/>
          <a:ln w="9525" cap="flat" cmpd="sng">
            <a:solidFill>
              <a:srgbClr val="5597D3"/>
            </a:solidFill>
            <a:prstDash val="dash"/>
            <a:round/>
            <a:headEnd type="none" w="sm" len="sm"/>
            <a:tailEnd type="none" w="sm" len="sm"/>
          </a:ln>
        </p:spPr>
      </p:cxnSp>
      <p:cxnSp>
        <p:nvCxnSpPr>
          <p:cNvPr id="769" name="Google Shape;769;p40"/>
          <p:cNvCxnSpPr/>
          <p:nvPr/>
        </p:nvCxnSpPr>
        <p:spPr>
          <a:xfrm>
            <a:off x="7544793" y="3995690"/>
            <a:ext cx="1152000" cy="0"/>
          </a:xfrm>
          <a:prstGeom prst="straightConnector1">
            <a:avLst/>
          </a:prstGeom>
          <a:noFill/>
          <a:ln w="9525" cap="flat" cmpd="sng">
            <a:solidFill>
              <a:srgbClr val="5597D3"/>
            </a:solidFill>
            <a:prstDash val="dash"/>
            <a:round/>
            <a:headEnd type="none" w="sm" len="sm"/>
            <a:tailEnd type="none" w="sm" len="sm"/>
          </a:ln>
        </p:spPr>
      </p:cxnSp>
      <p:cxnSp>
        <p:nvCxnSpPr>
          <p:cNvPr id="770" name="Google Shape;770;p40"/>
          <p:cNvCxnSpPr/>
          <p:nvPr/>
        </p:nvCxnSpPr>
        <p:spPr>
          <a:xfrm>
            <a:off x="7544793" y="5413010"/>
            <a:ext cx="1152000" cy="0"/>
          </a:xfrm>
          <a:prstGeom prst="straightConnector1">
            <a:avLst/>
          </a:prstGeom>
          <a:noFill/>
          <a:ln w="9525" cap="flat" cmpd="sng">
            <a:solidFill>
              <a:srgbClr val="5597D3"/>
            </a:solidFill>
            <a:prstDash val="dash"/>
            <a:round/>
            <a:headEnd type="none" w="sm" len="sm"/>
            <a:tailEnd type="none" w="sm" len="sm"/>
          </a:ln>
        </p:spPr>
      </p:cxnSp>
      <p:cxnSp>
        <p:nvCxnSpPr>
          <p:cNvPr id="771" name="Google Shape;771;p40"/>
          <p:cNvCxnSpPr/>
          <p:nvPr/>
        </p:nvCxnSpPr>
        <p:spPr>
          <a:xfrm>
            <a:off x="7565656" y="6784610"/>
            <a:ext cx="1152000" cy="0"/>
          </a:xfrm>
          <a:prstGeom prst="straightConnector1">
            <a:avLst/>
          </a:prstGeom>
          <a:noFill/>
          <a:ln w="9525" cap="flat" cmpd="sng">
            <a:solidFill>
              <a:srgbClr val="5597D3"/>
            </a:solidFill>
            <a:prstDash val="dash"/>
            <a:round/>
            <a:headEnd type="none" w="sm" len="sm"/>
            <a:tailEnd type="none" w="sm" len="sm"/>
          </a:ln>
        </p:spPr>
      </p:cxnSp>
      <p:pic>
        <p:nvPicPr>
          <p:cNvPr id="772" name="Google Shape;772;p40"/>
          <p:cNvPicPr preferRelativeResize="0"/>
          <p:nvPr/>
        </p:nvPicPr>
        <p:blipFill rotWithShape="1">
          <a:blip r:embed="rId3">
            <a:alphaModFix/>
          </a:blip>
          <a:srcRect/>
          <a:stretch/>
        </p:blipFill>
        <p:spPr>
          <a:xfrm>
            <a:off x="4156322" y="603159"/>
            <a:ext cx="7948963" cy="365760"/>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777"/>
        <p:cNvGrpSpPr/>
        <p:nvPr/>
      </p:nvGrpSpPr>
      <p:grpSpPr>
        <a:xfrm>
          <a:off x="0" y="0"/>
          <a:ext cx="0" cy="0"/>
          <a:chOff x="0" y="0"/>
          <a:chExt cx="0" cy="0"/>
        </a:xfrm>
      </p:grpSpPr>
      <p:sp>
        <p:nvSpPr>
          <p:cNvPr id="778" name="Google Shape;778;p41"/>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Hibernate Mapping Using XML</a:t>
            </a:r>
            <a:endParaRPr/>
          </a:p>
        </p:txBody>
      </p:sp>
      <p:grpSp>
        <p:nvGrpSpPr>
          <p:cNvPr id="779" name="Google Shape;779;p41"/>
          <p:cNvGrpSpPr/>
          <p:nvPr/>
        </p:nvGrpSpPr>
        <p:grpSpPr>
          <a:xfrm>
            <a:off x="4276237" y="1877231"/>
            <a:ext cx="7703524" cy="1343990"/>
            <a:chOff x="4667439" y="2131162"/>
            <a:chExt cx="7669521" cy="705394"/>
          </a:xfrm>
        </p:grpSpPr>
        <p:sp>
          <p:nvSpPr>
            <p:cNvPr id="780" name="Google Shape;780;p41"/>
            <p:cNvSpPr/>
            <p:nvPr/>
          </p:nvSpPr>
          <p:spPr>
            <a:xfrm>
              <a:off x="7113822" y="2131162"/>
              <a:ext cx="5223138" cy="705394"/>
            </a:xfrm>
            <a:prstGeom prst="rect">
              <a:avLst/>
            </a:prstGeom>
            <a:solidFill>
              <a:schemeClr val="lt1"/>
            </a:solidFill>
            <a:ln w="25400" cap="flat" cmpd="sng">
              <a:solidFill>
                <a:srgbClr val="C966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Declared using the &lt;one-to-one&gt; element</a:t>
              </a:r>
              <a:endParaRPr sz="1400" b="0" i="0" u="none" strike="noStrike" cap="none">
                <a:solidFill>
                  <a:srgbClr val="000000"/>
                </a:solidFill>
                <a:latin typeface="Arial"/>
                <a:ea typeface="Arial"/>
                <a:cs typeface="Arial"/>
                <a:sym typeface="Arial"/>
              </a:endParaRPr>
            </a:p>
          </p:txBody>
        </p:sp>
        <p:sp>
          <p:nvSpPr>
            <p:cNvPr id="781" name="Google Shape;781;p41"/>
            <p:cNvSpPr/>
            <p:nvPr/>
          </p:nvSpPr>
          <p:spPr>
            <a:xfrm>
              <a:off x="4667439" y="2131162"/>
              <a:ext cx="2446383" cy="705394"/>
            </a:xfrm>
            <a:prstGeom prst="rect">
              <a:avLst/>
            </a:prstGeom>
            <a:solidFill>
              <a:srgbClr val="F4B081"/>
            </a:solidFill>
            <a:ln w="25400" cap="flat" cmpd="sng">
              <a:solidFill>
                <a:srgbClr val="C96623"/>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One-to-one</a:t>
              </a:r>
              <a:endParaRPr sz="1400" b="0" i="0" u="none" strike="noStrike" cap="none">
                <a:solidFill>
                  <a:srgbClr val="000000"/>
                </a:solidFill>
                <a:latin typeface="Arial"/>
                <a:ea typeface="Arial"/>
                <a:cs typeface="Arial"/>
                <a:sym typeface="Arial"/>
              </a:endParaRPr>
            </a:p>
          </p:txBody>
        </p:sp>
      </p:grpSp>
      <p:grpSp>
        <p:nvGrpSpPr>
          <p:cNvPr id="782" name="Google Shape;782;p41"/>
          <p:cNvGrpSpPr/>
          <p:nvPr/>
        </p:nvGrpSpPr>
        <p:grpSpPr>
          <a:xfrm>
            <a:off x="4276237" y="3102554"/>
            <a:ext cx="7703524" cy="1343990"/>
            <a:chOff x="4667439" y="2131162"/>
            <a:chExt cx="7669521" cy="705394"/>
          </a:xfrm>
        </p:grpSpPr>
        <p:sp>
          <p:nvSpPr>
            <p:cNvPr id="783" name="Google Shape;783;p41"/>
            <p:cNvSpPr/>
            <p:nvPr/>
          </p:nvSpPr>
          <p:spPr>
            <a:xfrm>
              <a:off x="7113822" y="2131162"/>
              <a:ext cx="5223138" cy="705394"/>
            </a:xfrm>
            <a:prstGeom prst="rect">
              <a:avLst/>
            </a:prstGeom>
            <a:no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Declared using the &lt;one-to-many&gt; element</a:t>
              </a:r>
              <a:endParaRPr sz="1400" b="0" i="0" u="none" strike="noStrike" cap="none">
                <a:solidFill>
                  <a:srgbClr val="000000"/>
                </a:solidFill>
                <a:latin typeface="Arial"/>
                <a:ea typeface="Arial"/>
                <a:cs typeface="Arial"/>
                <a:sym typeface="Arial"/>
              </a:endParaRPr>
            </a:p>
          </p:txBody>
        </p:sp>
        <p:sp>
          <p:nvSpPr>
            <p:cNvPr id="784" name="Google Shape;784;p41"/>
            <p:cNvSpPr/>
            <p:nvPr/>
          </p:nvSpPr>
          <p:spPr>
            <a:xfrm>
              <a:off x="4667439" y="2131162"/>
              <a:ext cx="2446383" cy="705394"/>
            </a:xfrm>
            <a:prstGeom prst="rect">
              <a:avLst/>
            </a:prstGeom>
            <a:solidFill>
              <a:srgbClr val="B4E3F0"/>
            </a:solid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One-to-many</a:t>
              </a:r>
              <a:endParaRPr sz="1400" b="0" i="0" u="none" strike="noStrike" cap="none">
                <a:solidFill>
                  <a:srgbClr val="000000"/>
                </a:solidFill>
                <a:latin typeface="Arial"/>
                <a:ea typeface="Arial"/>
                <a:cs typeface="Arial"/>
                <a:sym typeface="Arial"/>
              </a:endParaRPr>
            </a:p>
          </p:txBody>
        </p:sp>
      </p:grpSp>
      <p:grpSp>
        <p:nvGrpSpPr>
          <p:cNvPr id="785" name="Google Shape;785;p41"/>
          <p:cNvGrpSpPr/>
          <p:nvPr/>
        </p:nvGrpSpPr>
        <p:grpSpPr>
          <a:xfrm>
            <a:off x="4276237" y="4327877"/>
            <a:ext cx="7703524" cy="1343990"/>
            <a:chOff x="4667439" y="2131162"/>
            <a:chExt cx="7669521" cy="705394"/>
          </a:xfrm>
        </p:grpSpPr>
        <p:sp>
          <p:nvSpPr>
            <p:cNvPr id="786" name="Google Shape;786;p41"/>
            <p:cNvSpPr/>
            <p:nvPr/>
          </p:nvSpPr>
          <p:spPr>
            <a:xfrm>
              <a:off x="7113822" y="2131162"/>
              <a:ext cx="5223138" cy="705394"/>
            </a:xfrm>
            <a:prstGeom prst="rect">
              <a:avLst/>
            </a:prstGeom>
            <a:no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Declared using the &lt;many-to-many&gt; element</a:t>
              </a:r>
              <a:endParaRPr sz="1400" b="0" i="0" u="none" strike="noStrike" cap="none">
                <a:solidFill>
                  <a:srgbClr val="000000"/>
                </a:solidFill>
                <a:latin typeface="Arial"/>
                <a:ea typeface="Arial"/>
                <a:cs typeface="Arial"/>
                <a:sym typeface="Arial"/>
              </a:endParaRPr>
            </a:p>
          </p:txBody>
        </p:sp>
        <p:sp>
          <p:nvSpPr>
            <p:cNvPr id="787" name="Google Shape;787;p41"/>
            <p:cNvSpPr/>
            <p:nvPr/>
          </p:nvSpPr>
          <p:spPr>
            <a:xfrm>
              <a:off x="4667439" y="2131162"/>
              <a:ext cx="2446383" cy="705394"/>
            </a:xfrm>
            <a:prstGeom prst="rect">
              <a:avLst/>
            </a:prstGeom>
            <a:solidFill>
              <a:srgbClr val="A8D08C"/>
            </a:solidFill>
            <a:ln w="25400" cap="flat" cmpd="sng">
              <a:solidFill>
                <a:srgbClr val="2F5496"/>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Many-to-many</a:t>
              </a:r>
              <a:endParaRPr sz="1400" b="0" i="0" u="none" strike="noStrike" cap="none">
                <a:solidFill>
                  <a:srgbClr val="000000"/>
                </a:solidFill>
                <a:latin typeface="Arial"/>
                <a:ea typeface="Arial"/>
                <a:cs typeface="Arial"/>
                <a:sym typeface="Arial"/>
              </a:endParaRPr>
            </a:p>
          </p:txBody>
        </p:sp>
      </p:grpSp>
      <p:grpSp>
        <p:nvGrpSpPr>
          <p:cNvPr id="788" name="Google Shape;788;p41"/>
          <p:cNvGrpSpPr/>
          <p:nvPr/>
        </p:nvGrpSpPr>
        <p:grpSpPr>
          <a:xfrm>
            <a:off x="4276237" y="5553199"/>
            <a:ext cx="7703524" cy="1343990"/>
            <a:chOff x="4667439" y="2131162"/>
            <a:chExt cx="7669521" cy="705394"/>
          </a:xfrm>
        </p:grpSpPr>
        <p:sp>
          <p:nvSpPr>
            <p:cNvPr id="789" name="Google Shape;789;p41"/>
            <p:cNvSpPr/>
            <p:nvPr/>
          </p:nvSpPr>
          <p:spPr>
            <a:xfrm>
              <a:off x="7113822" y="2131162"/>
              <a:ext cx="5223138" cy="705394"/>
            </a:xfrm>
            <a:prstGeom prst="rect">
              <a:avLst/>
            </a:prstGeom>
            <a:noFill/>
            <a:ln w="25400"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Declared using the &lt;many-to-one&gt; element</a:t>
              </a:r>
              <a:endParaRPr sz="1400" b="0" i="0" u="none" strike="noStrike" cap="none">
                <a:solidFill>
                  <a:srgbClr val="000000"/>
                </a:solidFill>
                <a:latin typeface="Arial"/>
                <a:ea typeface="Arial"/>
                <a:cs typeface="Arial"/>
                <a:sym typeface="Arial"/>
              </a:endParaRPr>
            </a:p>
          </p:txBody>
        </p:sp>
        <p:sp>
          <p:nvSpPr>
            <p:cNvPr id="790" name="Google Shape;790;p41"/>
            <p:cNvSpPr/>
            <p:nvPr/>
          </p:nvSpPr>
          <p:spPr>
            <a:xfrm>
              <a:off x="4667439" y="2131162"/>
              <a:ext cx="2446383" cy="705394"/>
            </a:xfrm>
            <a:prstGeom prst="rect">
              <a:avLst/>
            </a:prstGeom>
            <a:solidFill>
              <a:srgbClr val="FFD966"/>
            </a:solidFill>
            <a:ln w="25400" cap="flat" cmpd="sng">
              <a:solidFill>
                <a:srgbClr val="BF9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Many-to-one</a:t>
              </a:r>
              <a:endParaRPr sz="1400" b="0" i="0" u="none" strike="noStrike" cap="none">
                <a:solidFill>
                  <a:srgbClr val="000000"/>
                </a:solidFill>
                <a:latin typeface="Arial"/>
                <a:ea typeface="Arial"/>
                <a:cs typeface="Arial"/>
                <a:sym typeface="Arial"/>
              </a:endParaRPr>
            </a:p>
          </p:txBody>
        </p:sp>
      </p:grpSp>
      <p:pic>
        <p:nvPicPr>
          <p:cNvPr id="791" name="Google Shape;791;p41"/>
          <p:cNvPicPr preferRelativeResize="0"/>
          <p:nvPr/>
        </p:nvPicPr>
        <p:blipFill rotWithShape="1">
          <a:blip r:embed="rId3">
            <a:alphaModFix/>
          </a:blip>
          <a:srcRect/>
          <a:stretch/>
        </p:blipFill>
        <p:spPr>
          <a:xfrm>
            <a:off x="4276075" y="603150"/>
            <a:ext cx="7609449" cy="3657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42"/>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Hibernate Mapping Using Annotations</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43"/>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Hibernate Mapping Using Annotations</a:t>
            </a:r>
            <a:endParaRPr/>
          </a:p>
        </p:txBody>
      </p:sp>
      <p:sp>
        <p:nvSpPr>
          <p:cNvPr id="803" name="Google Shape;803;p43"/>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Annotations are used to define mapping. They are used in place of the XML file.</a:t>
            </a:r>
            <a:endParaRPr sz="2200" b="0" i="0" u="none" strike="noStrike" cap="none">
              <a:solidFill>
                <a:srgbClr val="3F3F3F"/>
              </a:solidFill>
              <a:latin typeface="Open Sans"/>
              <a:ea typeface="Open Sans"/>
              <a:cs typeface="Open Sans"/>
              <a:sym typeface="Open Sans"/>
            </a:endParaRPr>
          </a:p>
        </p:txBody>
      </p:sp>
      <p:grpSp>
        <p:nvGrpSpPr>
          <p:cNvPr id="804" name="Google Shape;804;p43"/>
          <p:cNvGrpSpPr/>
          <p:nvPr/>
        </p:nvGrpSpPr>
        <p:grpSpPr>
          <a:xfrm>
            <a:off x="6017436" y="2580019"/>
            <a:ext cx="4221128" cy="3615041"/>
            <a:chOff x="7550332" y="2932117"/>
            <a:chExt cx="4221128" cy="3615041"/>
          </a:xfrm>
        </p:grpSpPr>
        <p:pic>
          <p:nvPicPr>
            <p:cNvPr id="805" name="Google Shape;805;p43"/>
            <p:cNvPicPr preferRelativeResize="0"/>
            <p:nvPr/>
          </p:nvPicPr>
          <p:blipFill rotWithShape="1">
            <a:blip r:embed="rId3">
              <a:alphaModFix/>
            </a:blip>
            <a:srcRect/>
            <a:stretch/>
          </p:blipFill>
          <p:spPr>
            <a:xfrm>
              <a:off x="7550332" y="2932117"/>
              <a:ext cx="4221128" cy="3615041"/>
            </a:xfrm>
            <a:prstGeom prst="rect">
              <a:avLst/>
            </a:prstGeom>
            <a:noFill/>
            <a:ln>
              <a:noFill/>
            </a:ln>
          </p:spPr>
        </p:pic>
        <p:sp>
          <p:nvSpPr>
            <p:cNvPr id="806" name="Google Shape;806;p43"/>
            <p:cNvSpPr txBox="1"/>
            <p:nvPr/>
          </p:nvSpPr>
          <p:spPr>
            <a:xfrm>
              <a:off x="7852602" y="3536396"/>
              <a:ext cx="3527687" cy="2071208"/>
            </a:xfrm>
            <a:prstGeom prst="rect">
              <a:avLst/>
            </a:prstGeom>
            <a:noFill/>
            <a:ln>
              <a:noFill/>
            </a:ln>
          </p:spPr>
          <p:txBody>
            <a:bodyPr spcFirstLastPara="1" wrap="square" lIns="91425" tIns="45700" rIns="91425" bIns="45700" anchor="t" anchorCtr="0">
              <a:spAutoFit/>
            </a:bodyPr>
            <a:lstStyle/>
            <a:p>
              <a:pPr marL="0" marR="0" lvl="0" indent="0" algn="ctr" rtl="0">
                <a:lnSpc>
                  <a:spcPct val="15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All EJB 3-compliant ORM applications must use annotations for mapping</a:t>
              </a:r>
              <a:endParaRPr sz="1400" b="0" i="0" u="none" strike="noStrike" cap="none">
                <a:solidFill>
                  <a:srgbClr val="000000"/>
                </a:solidFill>
                <a:latin typeface="Arial"/>
                <a:ea typeface="Arial"/>
                <a:cs typeface="Arial"/>
                <a:sym typeface="Arial"/>
              </a:endParaRPr>
            </a:p>
            <a:p>
              <a:pPr marL="0" marR="0" lvl="0" indent="0" algn="ctr" rtl="0">
                <a:lnSpc>
                  <a:spcPct val="150000"/>
                </a:lnSpc>
                <a:spcBef>
                  <a:spcPts val="0"/>
                </a:spcBef>
                <a:spcAft>
                  <a:spcPts val="0"/>
                </a:spcAft>
                <a:buClr>
                  <a:srgbClr val="000000"/>
                </a:buClr>
                <a:buSzPts val="2200"/>
                <a:buFont typeface="Arial"/>
                <a:buNone/>
              </a:pPr>
              <a:endParaRPr sz="2200" b="0" i="0" u="none" strike="noStrike" cap="none">
                <a:solidFill>
                  <a:schemeClr val="dk1"/>
                </a:solidFill>
                <a:latin typeface="Arial"/>
                <a:ea typeface="Arial"/>
                <a:cs typeface="Arial"/>
                <a:sym typeface="Arial"/>
              </a:endParaRPr>
            </a:p>
          </p:txBody>
        </p:sp>
      </p:grpSp>
      <p:pic>
        <p:nvPicPr>
          <p:cNvPr id="807" name="Google Shape;807;p43"/>
          <p:cNvPicPr preferRelativeResize="0"/>
          <p:nvPr/>
        </p:nvPicPr>
        <p:blipFill rotWithShape="1">
          <a:blip r:embed="rId4">
            <a:alphaModFix/>
          </a:blip>
          <a:srcRect/>
          <a:stretch/>
        </p:blipFill>
        <p:spPr>
          <a:xfrm>
            <a:off x="3321681" y="603159"/>
            <a:ext cx="9618245" cy="36576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812"/>
        <p:cNvGrpSpPr/>
        <p:nvPr/>
      </p:nvGrpSpPr>
      <p:grpSpPr>
        <a:xfrm>
          <a:off x="0" y="0"/>
          <a:ext cx="0" cy="0"/>
          <a:chOff x="0" y="0"/>
          <a:chExt cx="0" cy="0"/>
        </a:xfrm>
      </p:grpSpPr>
      <p:sp>
        <p:nvSpPr>
          <p:cNvPr id="813" name="Google Shape;813;p44"/>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Hibernate Mapping Using Annotations</a:t>
            </a:r>
            <a:endParaRPr/>
          </a:p>
        </p:txBody>
      </p:sp>
      <p:grpSp>
        <p:nvGrpSpPr>
          <p:cNvPr id="814" name="Google Shape;814;p44"/>
          <p:cNvGrpSpPr/>
          <p:nvPr/>
        </p:nvGrpSpPr>
        <p:grpSpPr>
          <a:xfrm>
            <a:off x="1932905" y="2135360"/>
            <a:ext cx="12390190" cy="4873279"/>
            <a:chOff x="2285931" y="2617530"/>
            <a:chExt cx="12390190" cy="4873279"/>
          </a:xfrm>
        </p:grpSpPr>
        <p:sp>
          <p:nvSpPr>
            <p:cNvPr id="815" name="Google Shape;815;p44"/>
            <p:cNvSpPr/>
            <p:nvPr/>
          </p:nvSpPr>
          <p:spPr>
            <a:xfrm>
              <a:off x="5211761" y="2617530"/>
              <a:ext cx="1281387" cy="70539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Syntax</a:t>
              </a:r>
              <a:endParaRPr sz="1400" b="0" i="0" u="none" strike="noStrike" cap="none">
                <a:solidFill>
                  <a:srgbClr val="000000"/>
                </a:solidFill>
                <a:latin typeface="Arial"/>
                <a:ea typeface="Arial"/>
                <a:cs typeface="Arial"/>
                <a:sym typeface="Arial"/>
              </a:endParaRPr>
            </a:p>
          </p:txBody>
        </p:sp>
        <p:sp>
          <p:nvSpPr>
            <p:cNvPr id="816" name="Google Shape;816;p44"/>
            <p:cNvSpPr/>
            <p:nvPr/>
          </p:nvSpPr>
          <p:spPr>
            <a:xfrm>
              <a:off x="6972595" y="2617530"/>
              <a:ext cx="7703525" cy="705394"/>
            </a:xfrm>
            <a:prstGeom prst="rect">
              <a:avLst/>
            </a:prstGeom>
            <a:solidFill>
              <a:srgbClr val="BBD6E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@OneToOne(targetEntity=&lt;ClassName.class&gt;&gt;, cascade=CascadeTypeALL</a:t>
              </a:r>
              <a:endParaRPr sz="1400" b="0" i="0" u="none" strike="noStrike" cap="none">
                <a:solidFill>
                  <a:srgbClr val="000000"/>
                </a:solidFill>
                <a:latin typeface="Arial"/>
                <a:ea typeface="Arial"/>
                <a:cs typeface="Arial"/>
                <a:sym typeface="Arial"/>
              </a:endParaRPr>
            </a:p>
          </p:txBody>
        </p:sp>
        <p:sp>
          <p:nvSpPr>
            <p:cNvPr id="817" name="Google Shape;817;p44"/>
            <p:cNvSpPr/>
            <p:nvPr/>
          </p:nvSpPr>
          <p:spPr>
            <a:xfrm>
              <a:off x="2285931" y="2617530"/>
              <a:ext cx="2446383" cy="705394"/>
            </a:xfrm>
            <a:prstGeom prst="rect">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One-to-one</a:t>
              </a:r>
              <a:endParaRPr sz="1400" b="0" i="0" u="none" strike="noStrike" cap="none">
                <a:solidFill>
                  <a:srgbClr val="000000"/>
                </a:solidFill>
                <a:latin typeface="Arial"/>
                <a:ea typeface="Arial"/>
                <a:cs typeface="Arial"/>
                <a:sym typeface="Arial"/>
              </a:endParaRPr>
            </a:p>
          </p:txBody>
        </p:sp>
        <p:sp>
          <p:nvSpPr>
            <p:cNvPr id="818" name="Google Shape;818;p44"/>
            <p:cNvSpPr/>
            <p:nvPr/>
          </p:nvSpPr>
          <p:spPr>
            <a:xfrm>
              <a:off x="6972595" y="4006825"/>
              <a:ext cx="7703525" cy="705394"/>
            </a:xfrm>
            <a:prstGeom prst="rect">
              <a:avLst/>
            </a:prstGeom>
            <a:solidFill>
              <a:srgbClr val="BBD6E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@ManyToMany(fetch = FetchType.LAZY, cascade = CascadeType.ALL)</a:t>
              </a:r>
              <a:endParaRPr sz="1400" b="0" i="0" u="none" strike="noStrike" cap="none">
                <a:solidFill>
                  <a:srgbClr val="000000"/>
                </a:solidFill>
                <a:latin typeface="Arial"/>
                <a:ea typeface="Arial"/>
                <a:cs typeface="Arial"/>
                <a:sym typeface="Arial"/>
              </a:endParaRPr>
            </a:p>
          </p:txBody>
        </p:sp>
        <p:sp>
          <p:nvSpPr>
            <p:cNvPr id="819" name="Google Shape;819;p44"/>
            <p:cNvSpPr/>
            <p:nvPr/>
          </p:nvSpPr>
          <p:spPr>
            <a:xfrm>
              <a:off x="5211761" y="4006825"/>
              <a:ext cx="1281387" cy="70539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Syntax</a:t>
              </a:r>
              <a:endParaRPr sz="1400" b="0" i="0" u="none" strike="noStrike" cap="none">
                <a:solidFill>
                  <a:srgbClr val="000000"/>
                </a:solidFill>
                <a:latin typeface="Arial"/>
                <a:ea typeface="Arial"/>
                <a:cs typeface="Arial"/>
                <a:sym typeface="Arial"/>
              </a:endParaRPr>
            </a:p>
          </p:txBody>
        </p:sp>
        <p:sp>
          <p:nvSpPr>
            <p:cNvPr id="820" name="Google Shape;820;p44"/>
            <p:cNvSpPr/>
            <p:nvPr/>
          </p:nvSpPr>
          <p:spPr>
            <a:xfrm>
              <a:off x="2285931" y="4006825"/>
              <a:ext cx="2446383" cy="705394"/>
            </a:xfrm>
            <a:prstGeom prst="rect">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Many-to-many</a:t>
              </a:r>
              <a:endParaRPr sz="1400" b="0" i="0" u="none" strike="noStrike" cap="none">
                <a:solidFill>
                  <a:srgbClr val="000000"/>
                </a:solidFill>
                <a:latin typeface="Arial"/>
                <a:ea typeface="Arial"/>
                <a:cs typeface="Arial"/>
                <a:sym typeface="Arial"/>
              </a:endParaRPr>
            </a:p>
          </p:txBody>
        </p:sp>
        <p:sp>
          <p:nvSpPr>
            <p:cNvPr id="821" name="Google Shape;821;p44"/>
            <p:cNvSpPr/>
            <p:nvPr/>
          </p:nvSpPr>
          <p:spPr>
            <a:xfrm>
              <a:off x="5211761" y="5396120"/>
              <a:ext cx="1281387" cy="70539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Syntax</a:t>
              </a:r>
              <a:endParaRPr sz="1400" b="0" i="0" u="none" strike="noStrike" cap="none">
                <a:solidFill>
                  <a:srgbClr val="000000"/>
                </a:solidFill>
                <a:latin typeface="Arial"/>
                <a:ea typeface="Arial"/>
                <a:cs typeface="Arial"/>
                <a:sym typeface="Arial"/>
              </a:endParaRPr>
            </a:p>
          </p:txBody>
        </p:sp>
        <p:sp>
          <p:nvSpPr>
            <p:cNvPr id="822" name="Google Shape;822;p44"/>
            <p:cNvSpPr/>
            <p:nvPr/>
          </p:nvSpPr>
          <p:spPr>
            <a:xfrm>
              <a:off x="2285931" y="5396120"/>
              <a:ext cx="2446383" cy="705394"/>
            </a:xfrm>
            <a:prstGeom prst="rect">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One-to-many</a:t>
              </a:r>
              <a:endParaRPr sz="1400" b="0" i="0" u="none" strike="noStrike" cap="none">
                <a:solidFill>
                  <a:srgbClr val="000000"/>
                </a:solidFill>
                <a:latin typeface="Arial"/>
                <a:ea typeface="Arial"/>
                <a:cs typeface="Arial"/>
                <a:sym typeface="Arial"/>
              </a:endParaRPr>
            </a:p>
          </p:txBody>
        </p:sp>
        <p:sp>
          <p:nvSpPr>
            <p:cNvPr id="823" name="Google Shape;823;p44"/>
            <p:cNvSpPr/>
            <p:nvPr/>
          </p:nvSpPr>
          <p:spPr>
            <a:xfrm>
              <a:off x="5211761" y="6785415"/>
              <a:ext cx="1281387" cy="705394"/>
            </a:xfrm>
            <a:prstGeom prst="rect">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Syntax</a:t>
              </a:r>
              <a:endParaRPr sz="1400" b="0" i="0" u="none" strike="noStrike" cap="none">
                <a:solidFill>
                  <a:srgbClr val="000000"/>
                </a:solidFill>
                <a:latin typeface="Arial"/>
                <a:ea typeface="Arial"/>
                <a:cs typeface="Arial"/>
                <a:sym typeface="Arial"/>
              </a:endParaRPr>
            </a:p>
          </p:txBody>
        </p:sp>
        <p:sp>
          <p:nvSpPr>
            <p:cNvPr id="824" name="Google Shape;824;p44"/>
            <p:cNvSpPr/>
            <p:nvPr/>
          </p:nvSpPr>
          <p:spPr>
            <a:xfrm>
              <a:off x="2285931" y="6785415"/>
              <a:ext cx="2446383" cy="705394"/>
            </a:xfrm>
            <a:prstGeom prst="rect">
              <a:avLst/>
            </a:prstGeom>
            <a:solidFill>
              <a:srgbClr val="1E4E7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Many-to-one</a:t>
              </a:r>
              <a:endParaRPr sz="1400" b="0" i="0" u="none" strike="noStrike" cap="none">
                <a:solidFill>
                  <a:srgbClr val="000000"/>
                </a:solidFill>
                <a:latin typeface="Arial"/>
                <a:ea typeface="Arial"/>
                <a:cs typeface="Arial"/>
                <a:sym typeface="Arial"/>
              </a:endParaRPr>
            </a:p>
          </p:txBody>
        </p:sp>
        <p:sp>
          <p:nvSpPr>
            <p:cNvPr id="825" name="Google Shape;825;p44"/>
            <p:cNvSpPr/>
            <p:nvPr/>
          </p:nvSpPr>
          <p:spPr>
            <a:xfrm>
              <a:off x="6972595" y="6785415"/>
              <a:ext cx="7703525" cy="705394"/>
            </a:xfrm>
            <a:prstGeom prst="rect">
              <a:avLst/>
            </a:prstGeom>
            <a:solidFill>
              <a:srgbClr val="BBD6E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@ManyToOne(cascade = CascadeType.ALL)</a:t>
              </a:r>
              <a:endParaRPr sz="1400" b="0" i="0" u="none" strike="noStrike" cap="none">
                <a:solidFill>
                  <a:srgbClr val="000000"/>
                </a:solidFill>
                <a:latin typeface="Arial"/>
                <a:ea typeface="Arial"/>
                <a:cs typeface="Arial"/>
                <a:sym typeface="Arial"/>
              </a:endParaRPr>
            </a:p>
          </p:txBody>
        </p:sp>
        <p:sp>
          <p:nvSpPr>
            <p:cNvPr id="826" name="Google Shape;826;p44"/>
            <p:cNvSpPr/>
            <p:nvPr/>
          </p:nvSpPr>
          <p:spPr>
            <a:xfrm>
              <a:off x="6972595" y="5396120"/>
              <a:ext cx="7703525" cy="705394"/>
            </a:xfrm>
            <a:prstGeom prst="rect">
              <a:avLst/>
            </a:prstGeom>
            <a:solidFill>
              <a:srgbClr val="BBD6EE"/>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@OneToMany(fetch = FetchType.LAZY, mappedBy = “&lt;&lt;className&gt;&gt;")</a:t>
              </a:r>
              <a:endParaRPr sz="2200" b="0" i="0" u="none" strike="noStrike" cap="none">
                <a:solidFill>
                  <a:schemeClr val="dk1"/>
                </a:solidFill>
                <a:latin typeface="Courier New"/>
                <a:ea typeface="Courier New"/>
                <a:cs typeface="Courier New"/>
                <a:sym typeface="Courier New"/>
              </a:endParaRPr>
            </a:p>
          </p:txBody>
        </p:sp>
        <p:cxnSp>
          <p:nvCxnSpPr>
            <p:cNvPr id="827" name="Google Shape;827;p44"/>
            <p:cNvCxnSpPr>
              <a:stCxn id="817" idx="3"/>
              <a:endCxn id="815" idx="1"/>
            </p:cNvCxnSpPr>
            <p:nvPr/>
          </p:nvCxnSpPr>
          <p:spPr>
            <a:xfrm>
              <a:off x="4732314" y="2970227"/>
              <a:ext cx="479400" cy="0"/>
            </a:xfrm>
            <a:prstGeom prst="straightConnector1">
              <a:avLst/>
            </a:prstGeom>
            <a:noFill/>
            <a:ln w="9525" cap="flat" cmpd="sng">
              <a:solidFill>
                <a:srgbClr val="5597D3"/>
              </a:solidFill>
              <a:prstDash val="solid"/>
              <a:round/>
              <a:headEnd type="none" w="sm" len="sm"/>
              <a:tailEnd type="none" w="sm" len="sm"/>
            </a:ln>
          </p:spPr>
        </p:cxnSp>
        <p:cxnSp>
          <p:nvCxnSpPr>
            <p:cNvPr id="828" name="Google Shape;828;p44"/>
            <p:cNvCxnSpPr>
              <a:stCxn id="815" idx="3"/>
              <a:endCxn id="816" idx="1"/>
            </p:cNvCxnSpPr>
            <p:nvPr/>
          </p:nvCxnSpPr>
          <p:spPr>
            <a:xfrm>
              <a:off x="6493148" y="2970227"/>
              <a:ext cx="479400" cy="0"/>
            </a:xfrm>
            <a:prstGeom prst="straightConnector1">
              <a:avLst/>
            </a:prstGeom>
            <a:noFill/>
            <a:ln w="9525" cap="flat" cmpd="sng">
              <a:solidFill>
                <a:srgbClr val="5597D3"/>
              </a:solidFill>
              <a:prstDash val="solid"/>
              <a:round/>
              <a:headEnd type="none" w="sm" len="sm"/>
              <a:tailEnd type="none" w="sm" len="sm"/>
            </a:ln>
          </p:spPr>
        </p:cxnSp>
        <p:cxnSp>
          <p:nvCxnSpPr>
            <p:cNvPr id="829" name="Google Shape;829;p44"/>
            <p:cNvCxnSpPr>
              <a:stCxn id="820" idx="3"/>
              <a:endCxn id="819" idx="1"/>
            </p:cNvCxnSpPr>
            <p:nvPr/>
          </p:nvCxnSpPr>
          <p:spPr>
            <a:xfrm>
              <a:off x="4732314" y="4359522"/>
              <a:ext cx="479400" cy="0"/>
            </a:xfrm>
            <a:prstGeom prst="straightConnector1">
              <a:avLst/>
            </a:prstGeom>
            <a:noFill/>
            <a:ln w="9525" cap="flat" cmpd="sng">
              <a:solidFill>
                <a:srgbClr val="5597D3"/>
              </a:solidFill>
              <a:prstDash val="solid"/>
              <a:round/>
              <a:headEnd type="none" w="sm" len="sm"/>
              <a:tailEnd type="none" w="sm" len="sm"/>
            </a:ln>
          </p:spPr>
        </p:cxnSp>
        <p:cxnSp>
          <p:nvCxnSpPr>
            <p:cNvPr id="830" name="Google Shape;830;p44"/>
            <p:cNvCxnSpPr>
              <a:stCxn id="819" idx="3"/>
              <a:endCxn id="818" idx="1"/>
            </p:cNvCxnSpPr>
            <p:nvPr/>
          </p:nvCxnSpPr>
          <p:spPr>
            <a:xfrm>
              <a:off x="6493148" y="4359522"/>
              <a:ext cx="479400" cy="0"/>
            </a:xfrm>
            <a:prstGeom prst="straightConnector1">
              <a:avLst/>
            </a:prstGeom>
            <a:noFill/>
            <a:ln w="9525" cap="flat" cmpd="sng">
              <a:solidFill>
                <a:srgbClr val="5597D3"/>
              </a:solidFill>
              <a:prstDash val="solid"/>
              <a:round/>
              <a:headEnd type="none" w="sm" len="sm"/>
              <a:tailEnd type="none" w="sm" len="sm"/>
            </a:ln>
          </p:spPr>
        </p:cxnSp>
        <p:cxnSp>
          <p:nvCxnSpPr>
            <p:cNvPr id="831" name="Google Shape;831;p44"/>
            <p:cNvCxnSpPr>
              <a:stCxn id="822" idx="3"/>
              <a:endCxn id="821" idx="1"/>
            </p:cNvCxnSpPr>
            <p:nvPr/>
          </p:nvCxnSpPr>
          <p:spPr>
            <a:xfrm>
              <a:off x="4732314" y="5748817"/>
              <a:ext cx="479400" cy="0"/>
            </a:xfrm>
            <a:prstGeom prst="straightConnector1">
              <a:avLst/>
            </a:prstGeom>
            <a:noFill/>
            <a:ln w="9525" cap="flat" cmpd="sng">
              <a:solidFill>
                <a:srgbClr val="5597D3"/>
              </a:solidFill>
              <a:prstDash val="solid"/>
              <a:round/>
              <a:headEnd type="none" w="sm" len="sm"/>
              <a:tailEnd type="none" w="sm" len="sm"/>
            </a:ln>
          </p:spPr>
        </p:cxnSp>
        <p:cxnSp>
          <p:nvCxnSpPr>
            <p:cNvPr id="832" name="Google Shape;832;p44"/>
            <p:cNvCxnSpPr>
              <a:stCxn id="821" idx="3"/>
              <a:endCxn id="826" idx="1"/>
            </p:cNvCxnSpPr>
            <p:nvPr/>
          </p:nvCxnSpPr>
          <p:spPr>
            <a:xfrm>
              <a:off x="6493148" y="5748817"/>
              <a:ext cx="479400" cy="0"/>
            </a:xfrm>
            <a:prstGeom prst="straightConnector1">
              <a:avLst/>
            </a:prstGeom>
            <a:noFill/>
            <a:ln w="9525" cap="flat" cmpd="sng">
              <a:solidFill>
                <a:srgbClr val="5597D3"/>
              </a:solidFill>
              <a:prstDash val="solid"/>
              <a:round/>
              <a:headEnd type="none" w="sm" len="sm"/>
              <a:tailEnd type="none" w="sm" len="sm"/>
            </a:ln>
          </p:spPr>
        </p:cxnSp>
        <p:cxnSp>
          <p:nvCxnSpPr>
            <p:cNvPr id="833" name="Google Shape;833;p44"/>
            <p:cNvCxnSpPr>
              <a:stCxn id="824" idx="3"/>
              <a:endCxn id="823" idx="1"/>
            </p:cNvCxnSpPr>
            <p:nvPr/>
          </p:nvCxnSpPr>
          <p:spPr>
            <a:xfrm>
              <a:off x="4732314" y="7138112"/>
              <a:ext cx="479400" cy="0"/>
            </a:xfrm>
            <a:prstGeom prst="straightConnector1">
              <a:avLst/>
            </a:prstGeom>
            <a:noFill/>
            <a:ln w="9525" cap="flat" cmpd="sng">
              <a:solidFill>
                <a:srgbClr val="5597D3"/>
              </a:solidFill>
              <a:prstDash val="solid"/>
              <a:round/>
              <a:headEnd type="none" w="sm" len="sm"/>
              <a:tailEnd type="none" w="sm" len="sm"/>
            </a:ln>
          </p:spPr>
        </p:cxnSp>
        <p:cxnSp>
          <p:nvCxnSpPr>
            <p:cNvPr id="834" name="Google Shape;834;p44"/>
            <p:cNvCxnSpPr>
              <a:stCxn id="823" idx="3"/>
              <a:endCxn id="825" idx="1"/>
            </p:cNvCxnSpPr>
            <p:nvPr/>
          </p:nvCxnSpPr>
          <p:spPr>
            <a:xfrm>
              <a:off x="6493148" y="7138112"/>
              <a:ext cx="479400" cy="0"/>
            </a:xfrm>
            <a:prstGeom prst="straightConnector1">
              <a:avLst/>
            </a:prstGeom>
            <a:noFill/>
            <a:ln w="9525" cap="flat" cmpd="sng">
              <a:solidFill>
                <a:srgbClr val="5597D3"/>
              </a:solidFill>
              <a:prstDash val="solid"/>
              <a:round/>
              <a:headEnd type="none" w="sm" len="sm"/>
              <a:tailEnd type="none" w="sm" len="sm"/>
            </a:ln>
          </p:spPr>
        </p:cxnSp>
      </p:grpSp>
      <p:pic>
        <p:nvPicPr>
          <p:cNvPr id="835" name="Google Shape;835;p44"/>
          <p:cNvPicPr preferRelativeResize="0"/>
          <p:nvPr/>
        </p:nvPicPr>
        <p:blipFill rotWithShape="1">
          <a:blip r:embed="rId3">
            <a:alphaModFix/>
          </a:blip>
          <a:srcRect/>
          <a:stretch/>
        </p:blipFill>
        <p:spPr>
          <a:xfrm>
            <a:off x="3321681" y="603159"/>
            <a:ext cx="9618245" cy="365760"/>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839"/>
        <p:cNvGrpSpPr/>
        <p:nvPr/>
      </p:nvGrpSpPr>
      <p:grpSpPr>
        <a:xfrm>
          <a:off x="0" y="0"/>
          <a:ext cx="0" cy="0"/>
          <a:chOff x="0" y="0"/>
          <a:chExt cx="0" cy="0"/>
        </a:xfrm>
      </p:grpSpPr>
      <p:sp>
        <p:nvSpPr>
          <p:cNvPr id="840" name="Google Shape;840;p45"/>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Bidirectional Mapping</a:t>
            </a: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845"/>
        <p:cNvGrpSpPr/>
        <p:nvPr/>
      </p:nvGrpSpPr>
      <p:grpSpPr>
        <a:xfrm>
          <a:off x="0" y="0"/>
          <a:ext cx="0" cy="0"/>
          <a:chOff x="0" y="0"/>
          <a:chExt cx="0" cy="0"/>
        </a:xfrm>
      </p:grpSpPr>
      <p:sp>
        <p:nvSpPr>
          <p:cNvPr id="846" name="Google Shape;846;p46"/>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Bidirectional Mapping</a:t>
            </a:r>
            <a:endParaRPr/>
          </a:p>
        </p:txBody>
      </p:sp>
      <p:sp>
        <p:nvSpPr>
          <p:cNvPr id="847" name="Google Shape;847;p46"/>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In bidirectional mapping, each entity has a property or relationship field that refers to th</a:t>
            </a:r>
            <a:r>
              <a:rPr lang="en-US" sz="2200">
                <a:solidFill>
                  <a:srgbClr val="3F3F3F"/>
                </a:solidFill>
                <a:latin typeface="Open Sans"/>
                <a:ea typeface="Open Sans"/>
                <a:cs typeface="Open Sans"/>
                <a:sym typeface="Open Sans"/>
              </a:rPr>
              <a:t>e </a:t>
            </a:r>
            <a:r>
              <a:rPr lang="en-US" sz="2200" b="0" i="0" u="none" strike="noStrike" cap="none">
                <a:solidFill>
                  <a:srgbClr val="3F3F3F"/>
                </a:solidFill>
                <a:latin typeface="Open Sans"/>
                <a:ea typeface="Open Sans"/>
                <a:cs typeface="Open Sans"/>
                <a:sym typeface="Open Sans"/>
              </a:rPr>
              <a:t>other entity. The entity class accesses the related object through the relationship field.</a:t>
            </a:r>
            <a:endParaRPr sz="2200" b="0" i="0" u="none" strike="noStrike" cap="none">
              <a:solidFill>
                <a:srgbClr val="3F3F3F"/>
              </a:solidFill>
              <a:latin typeface="Open Sans"/>
              <a:ea typeface="Open Sans"/>
              <a:cs typeface="Open Sans"/>
              <a:sym typeface="Open Sans"/>
            </a:endParaRPr>
          </a:p>
        </p:txBody>
      </p:sp>
      <p:sp>
        <p:nvSpPr>
          <p:cNvPr id="848" name="Google Shape;848;p46"/>
          <p:cNvSpPr/>
          <p:nvPr/>
        </p:nvSpPr>
        <p:spPr>
          <a:xfrm>
            <a:off x="3986767" y="4626825"/>
            <a:ext cx="8477446" cy="1918800"/>
          </a:xfrm>
          <a:custGeom>
            <a:avLst/>
            <a:gdLst/>
            <a:ahLst/>
            <a:cxnLst/>
            <a:rect l="l" t="t" r="r" b="b"/>
            <a:pathLst>
              <a:path w="7667015" h="1918800" extrusionOk="0">
                <a:moveTo>
                  <a:pt x="0" y="319806"/>
                </a:moveTo>
                <a:cubicBezTo>
                  <a:pt x="0" y="143182"/>
                  <a:pt x="143182" y="0"/>
                  <a:pt x="319806" y="0"/>
                </a:cubicBezTo>
                <a:lnTo>
                  <a:pt x="7347209" y="0"/>
                </a:lnTo>
                <a:cubicBezTo>
                  <a:pt x="7523833" y="0"/>
                  <a:pt x="7667015" y="143182"/>
                  <a:pt x="7667015" y="319806"/>
                </a:cubicBezTo>
                <a:lnTo>
                  <a:pt x="7667015" y="1598994"/>
                </a:lnTo>
                <a:cubicBezTo>
                  <a:pt x="7667015" y="1775618"/>
                  <a:pt x="7523833" y="1918800"/>
                  <a:pt x="7347209" y="1918800"/>
                </a:cubicBezTo>
                <a:lnTo>
                  <a:pt x="319806" y="1918800"/>
                </a:lnTo>
                <a:cubicBezTo>
                  <a:pt x="143182" y="1918800"/>
                  <a:pt x="0" y="1775618"/>
                  <a:pt x="0" y="1598994"/>
                </a:cubicBezTo>
                <a:lnTo>
                  <a:pt x="0" y="319806"/>
                </a:lnTo>
                <a:close/>
              </a:path>
            </a:pathLst>
          </a:custGeom>
          <a:solidFill>
            <a:srgbClr val="B4E3F0"/>
          </a:solidFill>
          <a:ln w="25400" cap="flat" cmpd="sng">
            <a:solidFill>
              <a:srgbClr val="385623"/>
            </a:solidFill>
            <a:prstDash val="solid"/>
            <a:round/>
            <a:headEnd type="none" w="sm" len="sm"/>
            <a:tailEnd type="none" w="sm" len="sm"/>
          </a:ln>
        </p:spPr>
        <p:txBody>
          <a:bodyPr spcFirstLastPara="1" wrap="square" lIns="383450" tIns="93650" rIns="383450" bIns="93650" anchor="ctr" anchorCtr="0">
            <a:noAutofit/>
          </a:bodyPr>
          <a:lstStyle/>
          <a:p>
            <a:pPr marL="0" marR="0" lvl="0" indent="0" algn="l"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Bidirectional association allows us to fetch details of dependent objects from both sides. </a:t>
            </a:r>
            <a:endParaRPr sz="2200" b="0" i="0" u="none" strike="noStrike" cap="none">
              <a:solidFill>
                <a:schemeClr val="dk1"/>
              </a:solidFill>
              <a:latin typeface="Open Sans"/>
              <a:ea typeface="Open Sans"/>
              <a:cs typeface="Open Sans"/>
              <a:sym typeface="Open Sans"/>
            </a:endParaRPr>
          </a:p>
        </p:txBody>
      </p:sp>
      <p:sp>
        <p:nvSpPr>
          <p:cNvPr id="849" name="Google Shape;849;p46"/>
          <p:cNvSpPr/>
          <p:nvPr/>
        </p:nvSpPr>
        <p:spPr>
          <a:xfrm>
            <a:off x="2235835" y="2875601"/>
            <a:ext cx="1569085" cy="665045"/>
          </a:xfrm>
          <a:prstGeom prst="rect">
            <a:avLst/>
          </a:prstGeom>
          <a:solidFill>
            <a:schemeClr val="lt2"/>
          </a:solidFill>
          <a:ln w="25400" cap="flat" cmpd="sng">
            <a:solidFill>
              <a:srgbClr val="54813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lt1"/>
                </a:solidFill>
                <a:latin typeface="Open Sans"/>
                <a:ea typeface="Open Sans"/>
                <a:cs typeface="Open Sans"/>
                <a:sym typeface="Open Sans"/>
              </a:rPr>
              <a:t>Example</a:t>
            </a:r>
            <a:endParaRPr sz="1400" b="0" i="0" u="none" strike="noStrike" cap="none">
              <a:solidFill>
                <a:srgbClr val="000000"/>
              </a:solidFill>
              <a:latin typeface="Arial"/>
              <a:ea typeface="Arial"/>
              <a:cs typeface="Arial"/>
              <a:sym typeface="Arial"/>
            </a:endParaRPr>
          </a:p>
        </p:txBody>
      </p:sp>
      <p:sp>
        <p:nvSpPr>
          <p:cNvPr id="850" name="Google Shape;850;p46"/>
          <p:cNvSpPr/>
          <p:nvPr/>
        </p:nvSpPr>
        <p:spPr>
          <a:xfrm>
            <a:off x="4133850" y="2522848"/>
            <a:ext cx="9544050" cy="1370552"/>
          </a:xfrm>
          <a:prstGeom prst="frame">
            <a:avLst>
              <a:gd name="adj1" fmla="val 12500"/>
            </a:avLst>
          </a:prstGeom>
          <a:solidFill>
            <a:srgbClr val="B4E3F0"/>
          </a:solidFill>
          <a:ln w="25400" cap="flat" cmpd="sng">
            <a:solidFill>
              <a:schemeClr val="lt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111111"/>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rgbClr val="111111"/>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111111"/>
                </a:solidFill>
                <a:latin typeface="Open Sans"/>
                <a:ea typeface="Open Sans"/>
                <a:cs typeface="Open Sans"/>
                <a:sym typeface="Open Sans"/>
              </a:rPr>
              <a:t>Object A and Object B have a bidirectional mapping that means that Object A can be accessed from Object B and Object B from Object A.</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lt1"/>
              </a:solidFill>
              <a:latin typeface="Open Sans"/>
              <a:ea typeface="Open Sans"/>
              <a:cs typeface="Open Sans"/>
              <a:sym typeface="Open Sans"/>
            </a:endParaRPr>
          </a:p>
          <a:p>
            <a:pPr marL="0" marR="0" lvl="0" indent="0" algn="ctr"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Arial"/>
              <a:ea typeface="Arial"/>
              <a:cs typeface="Arial"/>
              <a:sym typeface="Arial"/>
            </a:endParaRPr>
          </a:p>
        </p:txBody>
      </p:sp>
      <p:pic>
        <p:nvPicPr>
          <p:cNvPr id="851" name="Google Shape;851;p46"/>
          <p:cNvPicPr preferRelativeResize="0"/>
          <p:nvPr/>
        </p:nvPicPr>
        <p:blipFill rotWithShape="1">
          <a:blip r:embed="rId3">
            <a:alphaModFix/>
          </a:blip>
          <a:srcRect/>
          <a:stretch/>
        </p:blipFill>
        <p:spPr>
          <a:xfrm>
            <a:off x="5144716" y="603159"/>
            <a:ext cx="5972174" cy="365760"/>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856"/>
        <p:cNvGrpSpPr/>
        <p:nvPr/>
      </p:nvGrpSpPr>
      <p:grpSpPr>
        <a:xfrm>
          <a:off x="0" y="0"/>
          <a:ext cx="0" cy="0"/>
          <a:chOff x="0" y="0"/>
          <a:chExt cx="0" cy="0"/>
        </a:xfrm>
      </p:grpSpPr>
      <p:sp>
        <p:nvSpPr>
          <p:cNvPr id="857" name="Google Shape;857;p47"/>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Bidirectional Mapping: Rules</a:t>
            </a:r>
            <a:endParaRPr/>
          </a:p>
        </p:txBody>
      </p:sp>
      <p:sp>
        <p:nvSpPr>
          <p:cNvPr id="858" name="Google Shape;858;p47"/>
          <p:cNvSpPr/>
          <p:nvPr/>
        </p:nvSpPr>
        <p:spPr>
          <a:xfrm>
            <a:off x="4515250" y="1526062"/>
            <a:ext cx="7225499" cy="1476085"/>
          </a:xfrm>
          <a:custGeom>
            <a:avLst/>
            <a:gdLst/>
            <a:ahLst/>
            <a:cxnLst/>
            <a:rect l="l" t="t" r="r" b="b"/>
            <a:pathLst>
              <a:path w="10837333" h="1216800" extrusionOk="0">
                <a:moveTo>
                  <a:pt x="0" y="202804"/>
                </a:moveTo>
                <a:cubicBezTo>
                  <a:pt x="0" y="90798"/>
                  <a:pt x="90798" y="0"/>
                  <a:pt x="202804" y="0"/>
                </a:cubicBezTo>
                <a:lnTo>
                  <a:pt x="10634529" y="0"/>
                </a:lnTo>
                <a:cubicBezTo>
                  <a:pt x="10746535" y="0"/>
                  <a:pt x="10837333" y="90798"/>
                  <a:pt x="10837333" y="202804"/>
                </a:cubicBezTo>
                <a:lnTo>
                  <a:pt x="10837333" y="1013996"/>
                </a:lnTo>
                <a:cubicBezTo>
                  <a:pt x="10837333" y="1126002"/>
                  <a:pt x="10746535" y="1216800"/>
                  <a:pt x="10634529" y="1216800"/>
                </a:cubicBezTo>
                <a:lnTo>
                  <a:pt x="202804" y="1216800"/>
                </a:lnTo>
                <a:cubicBezTo>
                  <a:pt x="90798" y="1216800"/>
                  <a:pt x="0" y="1126002"/>
                  <a:pt x="0" y="1013996"/>
                </a:cubicBezTo>
                <a:lnTo>
                  <a:pt x="0" y="202804"/>
                </a:lnTo>
                <a:close/>
              </a:path>
            </a:pathLst>
          </a:custGeom>
          <a:solidFill>
            <a:srgbClr val="FFF2CC"/>
          </a:solidFill>
          <a:ln w="25400" cap="flat" cmpd="sng">
            <a:solidFill>
              <a:schemeClr val="dk1"/>
            </a:solidFill>
            <a:prstDash val="solid"/>
            <a:round/>
            <a:headEnd type="none" w="sm" len="sm"/>
            <a:tailEnd type="none" w="sm" len="sm"/>
          </a:ln>
        </p:spPr>
        <p:txBody>
          <a:bodyPr spcFirstLastPara="1" wrap="square" lIns="143200" tIns="143200" rIns="143200" bIns="14320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In many-to-many relationship, either side can be the owning side</a:t>
            </a:r>
            <a:endParaRPr sz="1400" b="0" i="0" u="none" strike="noStrike" cap="none">
              <a:solidFill>
                <a:srgbClr val="000000"/>
              </a:solidFill>
              <a:latin typeface="Arial"/>
              <a:ea typeface="Arial"/>
              <a:cs typeface="Arial"/>
              <a:sym typeface="Arial"/>
            </a:endParaRPr>
          </a:p>
        </p:txBody>
      </p:sp>
      <p:sp>
        <p:nvSpPr>
          <p:cNvPr id="859" name="Google Shape;859;p47"/>
          <p:cNvSpPr/>
          <p:nvPr/>
        </p:nvSpPr>
        <p:spPr>
          <a:xfrm>
            <a:off x="4515250" y="3254123"/>
            <a:ext cx="7225499" cy="1476085"/>
          </a:xfrm>
          <a:custGeom>
            <a:avLst/>
            <a:gdLst/>
            <a:ahLst/>
            <a:cxnLst/>
            <a:rect l="l" t="t" r="r" b="b"/>
            <a:pathLst>
              <a:path w="10837333" h="1216800" extrusionOk="0">
                <a:moveTo>
                  <a:pt x="0" y="202804"/>
                </a:moveTo>
                <a:cubicBezTo>
                  <a:pt x="0" y="90798"/>
                  <a:pt x="90798" y="0"/>
                  <a:pt x="202804" y="0"/>
                </a:cubicBezTo>
                <a:lnTo>
                  <a:pt x="10634529" y="0"/>
                </a:lnTo>
                <a:cubicBezTo>
                  <a:pt x="10746535" y="0"/>
                  <a:pt x="10837333" y="90798"/>
                  <a:pt x="10837333" y="202804"/>
                </a:cubicBezTo>
                <a:lnTo>
                  <a:pt x="10837333" y="1013996"/>
                </a:lnTo>
                <a:cubicBezTo>
                  <a:pt x="10837333" y="1126002"/>
                  <a:pt x="10746535" y="1216800"/>
                  <a:pt x="10634529" y="1216800"/>
                </a:cubicBezTo>
                <a:lnTo>
                  <a:pt x="202804" y="1216800"/>
                </a:lnTo>
                <a:cubicBezTo>
                  <a:pt x="90798" y="1216800"/>
                  <a:pt x="0" y="1126002"/>
                  <a:pt x="0" y="1013996"/>
                </a:cubicBezTo>
                <a:lnTo>
                  <a:pt x="0" y="202804"/>
                </a:lnTo>
                <a:close/>
              </a:path>
            </a:pathLst>
          </a:custGeom>
          <a:solidFill>
            <a:srgbClr val="ABB7C9"/>
          </a:solidFill>
          <a:ln w="25400" cap="flat" cmpd="sng">
            <a:solidFill>
              <a:schemeClr val="dk1"/>
            </a:solidFill>
            <a:prstDash val="solid"/>
            <a:round/>
            <a:headEnd type="none" w="sm" len="sm"/>
            <a:tailEnd type="none" w="sm" len="sm"/>
          </a:ln>
        </p:spPr>
        <p:txBody>
          <a:bodyPr spcFirstLastPara="1" wrap="square" lIns="143200" tIns="143200" rIns="143200" bIns="14320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In one-to-one relationship, the side that contains the corresponding foreign key is the owning side</a:t>
            </a:r>
            <a:endParaRPr sz="1400" b="0" i="0" u="none" strike="noStrike" cap="none">
              <a:solidFill>
                <a:srgbClr val="000000"/>
              </a:solidFill>
              <a:latin typeface="Arial"/>
              <a:ea typeface="Arial"/>
              <a:cs typeface="Arial"/>
              <a:sym typeface="Arial"/>
            </a:endParaRPr>
          </a:p>
        </p:txBody>
      </p:sp>
      <p:sp>
        <p:nvSpPr>
          <p:cNvPr id="860" name="Google Shape;860;p47"/>
          <p:cNvSpPr/>
          <p:nvPr/>
        </p:nvSpPr>
        <p:spPr>
          <a:xfrm>
            <a:off x="4515250" y="4982184"/>
            <a:ext cx="7225499" cy="1476085"/>
          </a:xfrm>
          <a:custGeom>
            <a:avLst/>
            <a:gdLst/>
            <a:ahLst/>
            <a:cxnLst/>
            <a:rect l="l" t="t" r="r" b="b"/>
            <a:pathLst>
              <a:path w="10837333" h="1216800" extrusionOk="0">
                <a:moveTo>
                  <a:pt x="0" y="202804"/>
                </a:moveTo>
                <a:cubicBezTo>
                  <a:pt x="0" y="90798"/>
                  <a:pt x="90798" y="0"/>
                  <a:pt x="202804" y="0"/>
                </a:cubicBezTo>
                <a:lnTo>
                  <a:pt x="10634529" y="0"/>
                </a:lnTo>
                <a:cubicBezTo>
                  <a:pt x="10746535" y="0"/>
                  <a:pt x="10837333" y="90798"/>
                  <a:pt x="10837333" y="202804"/>
                </a:cubicBezTo>
                <a:lnTo>
                  <a:pt x="10837333" y="1013996"/>
                </a:lnTo>
                <a:cubicBezTo>
                  <a:pt x="10837333" y="1126002"/>
                  <a:pt x="10746535" y="1216800"/>
                  <a:pt x="10634529" y="1216800"/>
                </a:cubicBezTo>
                <a:lnTo>
                  <a:pt x="202804" y="1216800"/>
                </a:lnTo>
                <a:cubicBezTo>
                  <a:pt x="90798" y="1216800"/>
                  <a:pt x="0" y="1126002"/>
                  <a:pt x="0" y="1013996"/>
                </a:cubicBezTo>
                <a:lnTo>
                  <a:pt x="0" y="202804"/>
                </a:lnTo>
                <a:close/>
              </a:path>
            </a:pathLst>
          </a:custGeom>
          <a:solidFill>
            <a:srgbClr val="A8D08C"/>
          </a:solidFill>
          <a:ln w="25400" cap="flat" cmpd="sng">
            <a:solidFill>
              <a:schemeClr val="dk1"/>
            </a:solidFill>
            <a:prstDash val="solid"/>
            <a:round/>
            <a:headEnd type="none" w="sm" len="sm"/>
            <a:tailEnd type="none" w="sm" len="sm"/>
          </a:ln>
        </p:spPr>
        <p:txBody>
          <a:bodyPr spcFirstLastPara="1" wrap="square" lIns="143200" tIns="143200" rIns="143200" bIns="14320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In many-to-one relationship, the many side is the owning side. Many side must not define ‘mappedBy’ element</a:t>
            </a:r>
            <a:endParaRPr sz="1400" b="0" i="0" u="none" strike="noStrike" cap="none">
              <a:solidFill>
                <a:srgbClr val="000000"/>
              </a:solidFill>
              <a:latin typeface="Arial"/>
              <a:ea typeface="Arial"/>
              <a:cs typeface="Arial"/>
              <a:sym typeface="Arial"/>
            </a:endParaRPr>
          </a:p>
        </p:txBody>
      </p:sp>
      <p:sp>
        <p:nvSpPr>
          <p:cNvPr id="861" name="Google Shape;861;p47"/>
          <p:cNvSpPr/>
          <p:nvPr/>
        </p:nvSpPr>
        <p:spPr>
          <a:xfrm>
            <a:off x="4515250" y="6710244"/>
            <a:ext cx="7225499" cy="1476085"/>
          </a:xfrm>
          <a:custGeom>
            <a:avLst/>
            <a:gdLst/>
            <a:ahLst/>
            <a:cxnLst/>
            <a:rect l="l" t="t" r="r" b="b"/>
            <a:pathLst>
              <a:path w="10837333" h="1216800" extrusionOk="0">
                <a:moveTo>
                  <a:pt x="0" y="202804"/>
                </a:moveTo>
                <a:cubicBezTo>
                  <a:pt x="0" y="90798"/>
                  <a:pt x="90798" y="0"/>
                  <a:pt x="202804" y="0"/>
                </a:cubicBezTo>
                <a:lnTo>
                  <a:pt x="10634529" y="0"/>
                </a:lnTo>
                <a:cubicBezTo>
                  <a:pt x="10746535" y="0"/>
                  <a:pt x="10837333" y="90798"/>
                  <a:pt x="10837333" y="202804"/>
                </a:cubicBezTo>
                <a:lnTo>
                  <a:pt x="10837333" y="1013996"/>
                </a:lnTo>
                <a:cubicBezTo>
                  <a:pt x="10837333" y="1126002"/>
                  <a:pt x="10746535" y="1216800"/>
                  <a:pt x="10634529" y="1216800"/>
                </a:cubicBezTo>
                <a:lnTo>
                  <a:pt x="202804" y="1216800"/>
                </a:lnTo>
                <a:cubicBezTo>
                  <a:pt x="90798" y="1216800"/>
                  <a:pt x="0" y="1126002"/>
                  <a:pt x="0" y="1013996"/>
                </a:cubicBezTo>
                <a:lnTo>
                  <a:pt x="0" y="202804"/>
                </a:lnTo>
                <a:close/>
              </a:path>
            </a:pathLst>
          </a:custGeom>
          <a:solidFill>
            <a:srgbClr val="F6B286"/>
          </a:solidFill>
          <a:ln w="25400" cap="flat" cmpd="sng">
            <a:solidFill>
              <a:schemeClr val="dk1"/>
            </a:solidFill>
            <a:prstDash val="solid"/>
            <a:round/>
            <a:headEnd type="none" w="sm" len="sm"/>
            <a:tailEnd type="none" w="sm" len="sm"/>
          </a:ln>
        </p:spPr>
        <p:txBody>
          <a:bodyPr spcFirstLastPara="1" wrap="square" lIns="143200" tIns="143200" rIns="143200" bIns="14320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1" i="0" u="none" strike="noStrike" cap="none">
                <a:solidFill>
                  <a:schemeClr val="dk1"/>
                </a:solidFill>
                <a:latin typeface="Open Sans"/>
                <a:ea typeface="Open Sans"/>
                <a:cs typeface="Open Sans"/>
                <a:sym typeface="Open Sans"/>
              </a:rPr>
              <a:t> </a:t>
            </a:r>
            <a:r>
              <a:rPr lang="en-US" sz="2200" b="0" i="0" u="none" strike="noStrike" cap="none">
                <a:solidFill>
                  <a:schemeClr val="dk1"/>
                </a:solidFill>
                <a:latin typeface="Open Sans"/>
                <a:ea typeface="Open Sans"/>
                <a:cs typeface="Open Sans"/>
                <a:sym typeface="Open Sans"/>
              </a:rPr>
              <a:t>In</a:t>
            </a:r>
            <a:r>
              <a:rPr lang="en-US" sz="2200" b="1" i="0" u="none" strike="noStrike" cap="none">
                <a:solidFill>
                  <a:schemeClr val="dk1"/>
                </a:solidFill>
                <a:latin typeface="Open Sans"/>
                <a:ea typeface="Open Sans"/>
                <a:cs typeface="Open Sans"/>
                <a:sym typeface="Open Sans"/>
              </a:rPr>
              <a:t> </a:t>
            </a:r>
            <a:r>
              <a:rPr lang="en-US" sz="2200" b="0" i="0" u="none" strike="noStrike" cap="none">
                <a:solidFill>
                  <a:schemeClr val="dk1"/>
                </a:solidFill>
                <a:latin typeface="Open Sans"/>
                <a:ea typeface="Open Sans"/>
                <a:cs typeface="Open Sans"/>
                <a:sym typeface="Open Sans"/>
              </a:rPr>
              <a:t>@OneToOne, @OneToMany, or @ManyToMany annotation, the owning side is referred by the inverse using ‘mappedBy’ element</a:t>
            </a:r>
            <a:endParaRPr sz="2200" b="1" i="0" u="none" strike="noStrike" cap="none">
              <a:solidFill>
                <a:schemeClr val="dk1"/>
              </a:solidFill>
              <a:latin typeface="Open Sans"/>
              <a:ea typeface="Open Sans"/>
              <a:cs typeface="Open Sans"/>
              <a:sym typeface="Open Sans"/>
            </a:endParaRPr>
          </a:p>
        </p:txBody>
      </p:sp>
      <p:pic>
        <p:nvPicPr>
          <p:cNvPr id="862" name="Google Shape;862;p47"/>
          <p:cNvPicPr preferRelativeResize="0"/>
          <p:nvPr/>
        </p:nvPicPr>
        <p:blipFill rotWithShape="1">
          <a:blip r:embed="rId3">
            <a:alphaModFix/>
          </a:blip>
          <a:srcRect/>
          <a:stretch/>
        </p:blipFill>
        <p:spPr>
          <a:xfrm>
            <a:off x="4156322" y="603159"/>
            <a:ext cx="7948963" cy="36576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866"/>
        <p:cNvGrpSpPr/>
        <p:nvPr/>
      </p:nvGrpSpPr>
      <p:grpSpPr>
        <a:xfrm>
          <a:off x="0" y="0"/>
          <a:ext cx="0" cy="0"/>
          <a:chOff x="0" y="0"/>
          <a:chExt cx="0" cy="0"/>
        </a:xfrm>
      </p:grpSpPr>
      <p:sp>
        <p:nvSpPr>
          <p:cNvPr id="867" name="Google Shape;867;p48"/>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Hibernate Lazy Collection</a:t>
            </a:r>
            <a:endParaRPr/>
          </a:p>
          <a:p>
            <a:pPr marL="50800" lvl="0" indent="0" algn="ctr" rtl="0">
              <a:lnSpc>
                <a:spcPct val="90000"/>
              </a:lnSpc>
              <a:spcBef>
                <a:spcPts val="1000"/>
              </a:spcBef>
              <a:spcAft>
                <a:spcPts val="0"/>
              </a:spcAft>
              <a:buSzPts val="2800"/>
              <a:buNone/>
            </a:pPr>
            <a:endParaRPr>
              <a:solidFill>
                <a:schemeClr val="lt1"/>
              </a:solidFill>
              <a:latin typeface="Open Sans"/>
              <a:ea typeface="Open Sans"/>
              <a:cs typeface="Open Sans"/>
              <a:sym typeface="Open Sans"/>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872"/>
        <p:cNvGrpSpPr/>
        <p:nvPr/>
      </p:nvGrpSpPr>
      <p:grpSpPr>
        <a:xfrm>
          <a:off x="0" y="0"/>
          <a:ext cx="0" cy="0"/>
          <a:chOff x="0" y="0"/>
          <a:chExt cx="0" cy="0"/>
        </a:xfrm>
      </p:grpSpPr>
      <p:sp>
        <p:nvSpPr>
          <p:cNvPr id="873" name="Google Shape;873;p49"/>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Lazy Collection</a:t>
            </a:r>
            <a:endParaRPr/>
          </a:p>
        </p:txBody>
      </p:sp>
      <p:sp>
        <p:nvSpPr>
          <p:cNvPr id="874" name="Google Shape;874;p49"/>
          <p:cNvSpPr/>
          <p:nvPr/>
        </p:nvSpPr>
        <p:spPr>
          <a:xfrm>
            <a:off x="2235835" y="1136177"/>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Lazy collection enables child objects to be loaded on demand. It is used to improve performance.</a:t>
            </a:r>
            <a:endParaRPr sz="2200" b="0" i="0" u="none" strike="noStrike" cap="none">
              <a:solidFill>
                <a:srgbClr val="3F3F3F"/>
              </a:solidFill>
              <a:latin typeface="Open Sans"/>
              <a:ea typeface="Open Sans"/>
              <a:cs typeface="Open Sans"/>
              <a:sym typeface="Open Sans"/>
            </a:endParaRPr>
          </a:p>
        </p:txBody>
      </p:sp>
      <p:sp>
        <p:nvSpPr>
          <p:cNvPr id="875" name="Google Shape;875;p49"/>
          <p:cNvSpPr/>
          <p:nvPr/>
        </p:nvSpPr>
        <p:spPr>
          <a:xfrm>
            <a:off x="4441529" y="2687515"/>
            <a:ext cx="7372941" cy="3311506"/>
          </a:xfrm>
          <a:prstGeom prst="rect">
            <a:avLst/>
          </a:prstGeom>
          <a:solidFill>
            <a:srgbClr val="BBD6EE"/>
          </a:solid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0" i="0" u="none" strike="noStrike" cap="none">
              <a:solidFill>
                <a:schemeClr val="dk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&lt;list name=“sampleList" lazy="true"&gt;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&lt;key column=“sampleName"&gt;&lt;/key&gt;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&lt;index column="type"&gt;&lt;/index&gt;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&lt;one-to-many class=“sampleClass"/&gt;</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&lt;/list&gt; </a:t>
            </a:r>
            <a:endParaRPr sz="2200" b="0" i="0" u="none" strike="noStrike" cap="none">
              <a:solidFill>
                <a:schemeClr val="lt1"/>
              </a:solidFill>
              <a:latin typeface="Courier New"/>
              <a:ea typeface="Courier New"/>
              <a:cs typeface="Courier New"/>
              <a:sym typeface="Courier New"/>
            </a:endParaRPr>
          </a:p>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Courier New"/>
                <a:ea typeface="Courier New"/>
                <a:cs typeface="Courier New"/>
                <a:sym typeface="Courier New"/>
              </a:rPr>
              <a:t>  </a:t>
            </a:r>
            <a:endParaRPr sz="1400" b="0" i="0" u="none" strike="noStrike" cap="none">
              <a:solidFill>
                <a:srgbClr val="000000"/>
              </a:solidFill>
              <a:latin typeface="Arial"/>
              <a:ea typeface="Arial"/>
              <a:cs typeface="Arial"/>
              <a:sym typeface="Arial"/>
            </a:endParaRPr>
          </a:p>
        </p:txBody>
      </p:sp>
      <p:sp>
        <p:nvSpPr>
          <p:cNvPr id="876" name="Google Shape;876;p49"/>
          <p:cNvSpPr/>
          <p:nvPr/>
        </p:nvSpPr>
        <p:spPr>
          <a:xfrm>
            <a:off x="4757779" y="2971683"/>
            <a:ext cx="6479177" cy="618042"/>
          </a:xfrm>
          <a:prstGeom prst="rect">
            <a:avLst/>
          </a:prstGeom>
          <a:noFill/>
          <a:ln w="38100" cap="flat" cmpd="sng">
            <a:solidFill>
              <a:srgbClr val="C00000"/>
            </a:solidFill>
            <a:prstDash val="dash"/>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Arial"/>
              <a:ea typeface="Arial"/>
              <a:cs typeface="Arial"/>
              <a:sym typeface="Arial"/>
            </a:endParaRPr>
          </a:p>
        </p:txBody>
      </p:sp>
      <p:sp>
        <p:nvSpPr>
          <p:cNvPr id="877" name="Google Shape;877;p49"/>
          <p:cNvSpPr/>
          <p:nvPr/>
        </p:nvSpPr>
        <p:spPr>
          <a:xfrm>
            <a:off x="4441528" y="6491341"/>
            <a:ext cx="7372941" cy="1595213"/>
          </a:xfrm>
          <a:prstGeom prst="frame">
            <a:avLst>
              <a:gd name="adj1" fmla="val 12500"/>
            </a:avLst>
          </a:prstGeom>
          <a:noFill/>
          <a:ln w="25400" cap="flat" cmpd="sng">
            <a:solidFill>
              <a:srgbClr val="42719B"/>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In Hibernate 3.0 and above, lazy collection is enabled by </a:t>
            </a:r>
            <a:r>
              <a:rPr lang="en-US" sz="2200" b="1" i="0" u="none" strike="noStrike" cap="none">
                <a:solidFill>
                  <a:schemeClr val="dk1"/>
                </a:solidFill>
                <a:latin typeface="Open Sans"/>
                <a:ea typeface="Open Sans"/>
                <a:cs typeface="Open Sans"/>
                <a:sym typeface="Open Sans"/>
              </a:rPr>
              <a:t>default.</a:t>
            </a:r>
            <a:endParaRPr sz="1400" b="0" i="0" u="none" strike="noStrike" cap="none">
              <a:solidFill>
                <a:srgbClr val="000000"/>
              </a:solidFill>
              <a:latin typeface="Arial"/>
              <a:ea typeface="Arial"/>
              <a:cs typeface="Arial"/>
              <a:sym typeface="Arial"/>
            </a:endParaRPr>
          </a:p>
        </p:txBody>
      </p:sp>
      <p:pic>
        <p:nvPicPr>
          <p:cNvPr id="878" name="Google Shape;878;p49"/>
          <p:cNvPicPr preferRelativeResize="0"/>
          <p:nvPr/>
        </p:nvPicPr>
        <p:blipFill rotWithShape="1">
          <a:blip r:embed="rId3">
            <a:alphaModFix/>
          </a:blip>
          <a:srcRect/>
          <a:stretch/>
        </p:blipFill>
        <p:spPr>
          <a:xfrm>
            <a:off x="6091266" y="603159"/>
            <a:ext cx="4079075" cy="365760"/>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883"/>
        <p:cNvGrpSpPr/>
        <p:nvPr/>
      </p:nvGrpSpPr>
      <p:grpSpPr>
        <a:xfrm>
          <a:off x="0" y="0"/>
          <a:ext cx="0" cy="0"/>
          <a:chOff x="0" y="0"/>
          <a:chExt cx="0" cy="0"/>
        </a:xfrm>
      </p:grpSpPr>
      <p:sp>
        <p:nvSpPr>
          <p:cNvPr id="884" name="Google Shape;884;p50"/>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Hibernate Lazy Collection</a:t>
            </a:r>
            <a:endParaRPr/>
          </a:p>
        </p:txBody>
      </p:sp>
      <p:sp>
        <p:nvSpPr>
          <p:cNvPr id="885" name="Google Shape;885;p50"/>
          <p:cNvSpPr txBox="1">
            <a:spLocks noGrp="1"/>
          </p:cNvSpPr>
          <p:nvPr>
            <p:ph type="body" idx="1"/>
          </p:nvPr>
        </p:nvSpPr>
        <p:spPr>
          <a:xfrm>
            <a:off x="1902091" y="2363465"/>
            <a:ext cx="12451817" cy="5527418"/>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Demonstrate lazy collection in Hibernate.</a:t>
            </a:r>
            <a:endParaRPr/>
          </a:p>
        </p:txBody>
      </p:sp>
      <p:sp>
        <p:nvSpPr>
          <p:cNvPr id="886" name="Google Shape;886;p50"/>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15 min.</a:t>
            </a:r>
            <a:endParaRPr sz="22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891"/>
        <p:cNvGrpSpPr/>
        <p:nvPr/>
      </p:nvGrpSpPr>
      <p:grpSpPr>
        <a:xfrm>
          <a:off x="0" y="0"/>
          <a:ext cx="0" cy="0"/>
          <a:chOff x="0" y="0"/>
          <a:chExt cx="0" cy="0"/>
        </a:xfrm>
      </p:grpSpPr>
      <p:sp>
        <p:nvSpPr>
          <p:cNvPr id="892" name="Google Shape;892;p51"/>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 </a:t>
            </a:r>
            <a:endParaRPr>
              <a:latin typeface="Open Sans"/>
              <a:ea typeface="Open Sans"/>
              <a:cs typeface="Open Sans"/>
              <a:sym typeface="Open Sans"/>
            </a:endParaRPr>
          </a:p>
        </p:txBody>
      </p:sp>
      <p:sp>
        <p:nvSpPr>
          <p:cNvPr id="893" name="Google Shape;893;p51"/>
          <p:cNvSpPr txBox="1"/>
          <p:nvPr/>
        </p:nvSpPr>
        <p:spPr>
          <a:xfrm>
            <a:off x="1167722" y="1319860"/>
            <a:ext cx="14057239" cy="6089872"/>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200">
                <a:solidFill>
                  <a:srgbClr val="3F3F3F"/>
                </a:solidFill>
                <a:latin typeface="Open Sans"/>
                <a:ea typeface="Open Sans"/>
                <a:cs typeface="Open Sans"/>
                <a:sym typeface="Open Sans"/>
              </a:rPr>
              <a:t>Steps to demonstrate hibernate lazy collection:</a:t>
            </a:r>
            <a:endParaRPr sz="2200">
              <a:solidFill>
                <a:srgbClr val="3F3F3F"/>
              </a:solidFill>
              <a:latin typeface="Open Sans"/>
              <a:ea typeface="Open Sans"/>
              <a:cs typeface="Open Sans"/>
              <a:sym typeface="Open Sans"/>
            </a:endParaRPr>
          </a:p>
          <a:p>
            <a:pPr marL="457188" marR="0" lvl="0" indent="-457188"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dynamic web project in Eclipse IDE and add .jar files to load Hibernate and its dependencies. </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database (e-commerce) and a table (e-product) that contains laptops for sale; fill in sample and secondary data (operating system, colour, screen size and finance option).</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 and database table with .hbm.xml files.</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Data access object class for each table.</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servlet that retrieves data using Hibernate Lazy Collections and an HTML file that calls the servlet. Run the HTML code on your browser. </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 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894" name="Google Shape;894;p51"/>
          <p:cNvPicPr preferRelativeResize="0"/>
          <p:nvPr/>
        </p:nvPicPr>
        <p:blipFill rotWithShape="1">
          <a:blip r:embed="rId3">
            <a:alphaModFix/>
          </a:blip>
          <a:srcRect/>
          <a:stretch/>
        </p:blipFill>
        <p:spPr>
          <a:xfrm>
            <a:off x="4493450" y="603150"/>
            <a:ext cx="7274701" cy="3657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898"/>
        <p:cNvGrpSpPr/>
        <p:nvPr/>
      </p:nvGrpSpPr>
      <p:grpSpPr>
        <a:xfrm>
          <a:off x="0" y="0"/>
          <a:ext cx="0" cy="0"/>
          <a:chOff x="0" y="0"/>
          <a:chExt cx="0" cy="0"/>
        </a:xfrm>
      </p:grpSpPr>
      <p:sp>
        <p:nvSpPr>
          <p:cNvPr id="899" name="Google Shape;899;p52"/>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Component Mapping</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904"/>
        <p:cNvGrpSpPr/>
        <p:nvPr/>
      </p:nvGrpSpPr>
      <p:grpSpPr>
        <a:xfrm>
          <a:off x="0" y="0"/>
          <a:ext cx="0" cy="0"/>
          <a:chOff x="0" y="0"/>
          <a:chExt cx="0" cy="0"/>
        </a:xfrm>
      </p:grpSpPr>
      <p:sp>
        <p:nvSpPr>
          <p:cNvPr id="905" name="Google Shape;905;p53"/>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Component Mapping</a:t>
            </a:r>
            <a:endParaRPr/>
          </a:p>
        </p:txBody>
      </p:sp>
      <p:sp>
        <p:nvSpPr>
          <p:cNvPr id="906" name="Google Shape;906;p53"/>
          <p:cNvSpPr/>
          <p:nvPr/>
        </p:nvSpPr>
        <p:spPr>
          <a:xfrm>
            <a:off x="2235835" y="1156959"/>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Component mapping allows a dependent object to be mapped as a component.</a:t>
            </a:r>
            <a:endParaRPr sz="2200" b="0" i="0" u="none" strike="noStrike" cap="none">
              <a:solidFill>
                <a:srgbClr val="3F3F3F"/>
              </a:solidFill>
              <a:latin typeface="Open Sans"/>
              <a:ea typeface="Open Sans"/>
              <a:cs typeface="Open Sans"/>
              <a:sym typeface="Open Sans"/>
            </a:endParaRPr>
          </a:p>
        </p:txBody>
      </p:sp>
      <p:grpSp>
        <p:nvGrpSpPr>
          <p:cNvPr id="907" name="Google Shape;907;p53"/>
          <p:cNvGrpSpPr/>
          <p:nvPr/>
        </p:nvGrpSpPr>
        <p:grpSpPr>
          <a:xfrm>
            <a:off x="7731939" y="2409745"/>
            <a:ext cx="4948220" cy="2146852"/>
            <a:chOff x="2235835" y="3148027"/>
            <a:chExt cx="4948220" cy="2146852"/>
          </a:xfrm>
        </p:grpSpPr>
        <p:sp>
          <p:nvSpPr>
            <p:cNvPr id="908" name="Google Shape;908;p53"/>
            <p:cNvSpPr/>
            <p:nvPr/>
          </p:nvSpPr>
          <p:spPr>
            <a:xfrm>
              <a:off x="2492720" y="3699666"/>
              <a:ext cx="4691335" cy="1595213"/>
            </a:xfrm>
            <a:prstGeom prst="frame">
              <a:avLst>
                <a:gd name="adj1" fmla="val 12500"/>
              </a:avLst>
            </a:prstGeom>
            <a:no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Object-oriented notion of composition</a:t>
              </a:r>
              <a:endParaRPr sz="2200" b="1" i="0" u="none" strike="noStrike" cap="none">
                <a:solidFill>
                  <a:schemeClr val="dk1"/>
                </a:solidFill>
                <a:latin typeface="Open Sans"/>
                <a:ea typeface="Open Sans"/>
                <a:cs typeface="Open Sans"/>
                <a:sym typeface="Open Sans"/>
              </a:endParaRPr>
            </a:p>
          </p:txBody>
        </p:sp>
        <p:sp>
          <p:nvSpPr>
            <p:cNvPr id="909" name="Google Shape;909;p53"/>
            <p:cNvSpPr/>
            <p:nvPr/>
          </p:nvSpPr>
          <p:spPr>
            <a:xfrm>
              <a:off x="2235835" y="3148027"/>
              <a:ext cx="974034" cy="974035"/>
            </a:xfrm>
            <a:prstGeom prst="pie">
              <a:avLst>
                <a:gd name="adj1" fmla="val 0"/>
                <a:gd name="adj2" fmla="val 16200000"/>
              </a:avLst>
            </a:prstGeom>
            <a:solidFill>
              <a:srgbClr val="C9EBF4"/>
            </a:solid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grpSp>
        <p:nvGrpSpPr>
          <p:cNvPr id="910" name="Google Shape;910;p53"/>
          <p:cNvGrpSpPr/>
          <p:nvPr/>
        </p:nvGrpSpPr>
        <p:grpSpPr>
          <a:xfrm>
            <a:off x="7731939" y="5249960"/>
            <a:ext cx="4948220" cy="2146852"/>
            <a:chOff x="2235835" y="5805570"/>
            <a:chExt cx="4948220" cy="2146852"/>
          </a:xfrm>
        </p:grpSpPr>
        <p:sp>
          <p:nvSpPr>
            <p:cNvPr id="911" name="Google Shape;911;p53"/>
            <p:cNvSpPr/>
            <p:nvPr/>
          </p:nvSpPr>
          <p:spPr>
            <a:xfrm>
              <a:off x="2492720" y="6357209"/>
              <a:ext cx="4691335" cy="1595213"/>
            </a:xfrm>
            <a:prstGeom prst="frame">
              <a:avLst>
                <a:gd name="adj1" fmla="val 12500"/>
              </a:avLst>
            </a:prstGeom>
            <a:no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Object stored as a value and not as an entity reference</a:t>
              </a:r>
              <a:endParaRPr sz="2200" b="1" i="0" u="none" strike="noStrike" cap="none">
                <a:solidFill>
                  <a:schemeClr val="dk1"/>
                </a:solidFill>
                <a:latin typeface="Open Sans"/>
                <a:ea typeface="Open Sans"/>
                <a:cs typeface="Open Sans"/>
                <a:sym typeface="Open Sans"/>
              </a:endParaRPr>
            </a:p>
          </p:txBody>
        </p:sp>
        <p:sp>
          <p:nvSpPr>
            <p:cNvPr id="912" name="Google Shape;912;p53"/>
            <p:cNvSpPr/>
            <p:nvPr/>
          </p:nvSpPr>
          <p:spPr>
            <a:xfrm>
              <a:off x="2235835" y="5805570"/>
              <a:ext cx="974034" cy="974035"/>
            </a:xfrm>
            <a:prstGeom prst="pie">
              <a:avLst>
                <a:gd name="adj1" fmla="val 0"/>
                <a:gd name="adj2" fmla="val 16200000"/>
              </a:avLst>
            </a:prstGeom>
            <a:solidFill>
              <a:srgbClr val="C9EBF4"/>
            </a:solidFill>
            <a:ln w="25400" cap="flat" cmpd="sng">
              <a:solidFill>
                <a:srgbClr val="3F97C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913" name="Google Shape;913;p53"/>
          <p:cNvSpPr/>
          <p:nvPr/>
        </p:nvSpPr>
        <p:spPr>
          <a:xfrm>
            <a:off x="2177113" y="2864838"/>
            <a:ext cx="4212000" cy="4212000"/>
          </a:xfrm>
          <a:prstGeom prst="diamond">
            <a:avLst/>
          </a:prstGeom>
          <a:solidFill>
            <a:srgbClr val="C9EBF4"/>
          </a:solidFill>
          <a:ln w="25400" cap="flat" cmpd="sng">
            <a:solidFill>
              <a:srgbClr val="1F38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Component</a:t>
            </a:r>
            <a:endParaRPr sz="1400" b="0" i="0" u="none" strike="noStrike" cap="none">
              <a:solidFill>
                <a:srgbClr val="000000"/>
              </a:solidFill>
              <a:latin typeface="Arial"/>
              <a:ea typeface="Arial"/>
              <a:cs typeface="Arial"/>
              <a:sym typeface="Arial"/>
            </a:endParaRPr>
          </a:p>
        </p:txBody>
      </p:sp>
      <p:sp>
        <p:nvSpPr>
          <p:cNvPr id="914" name="Google Shape;914;p53"/>
          <p:cNvSpPr/>
          <p:nvPr/>
        </p:nvSpPr>
        <p:spPr>
          <a:xfrm>
            <a:off x="7058556" y="2483017"/>
            <a:ext cx="612769" cy="4975641"/>
          </a:xfrm>
          <a:prstGeom prst="leftBrace">
            <a:avLst>
              <a:gd name="adj1" fmla="val 8333"/>
              <a:gd name="adj2" fmla="val 50000"/>
            </a:avLst>
          </a:prstGeom>
          <a:noFill/>
          <a:ln w="38100" cap="flat" cmpd="sng">
            <a:solidFill>
              <a:srgbClr val="1F386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915" name="Google Shape;915;p53"/>
          <p:cNvCxnSpPr/>
          <p:nvPr/>
        </p:nvCxnSpPr>
        <p:spPr>
          <a:xfrm>
            <a:off x="6420590" y="4970838"/>
            <a:ext cx="669300" cy="0"/>
          </a:xfrm>
          <a:prstGeom prst="straightConnector1">
            <a:avLst/>
          </a:prstGeom>
          <a:noFill/>
          <a:ln w="38100" cap="flat" cmpd="sng">
            <a:solidFill>
              <a:srgbClr val="1F3864"/>
            </a:solidFill>
            <a:prstDash val="solid"/>
            <a:round/>
            <a:headEnd type="none" w="sm" len="sm"/>
            <a:tailEnd type="none" w="sm" len="sm"/>
          </a:ln>
        </p:spPr>
      </p:cxnSp>
      <p:sp>
        <p:nvSpPr>
          <p:cNvPr id="916" name="Google Shape;916;p53"/>
          <p:cNvSpPr txBox="1"/>
          <p:nvPr/>
        </p:nvSpPr>
        <p:spPr>
          <a:xfrm>
            <a:off x="6389113" y="4356556"/>
            <a:ext cx="934053"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is an</a:t>
            </a:r>
            <a:endParaRPr sz="1400" b="0" i="0" u="none" strike="noStrike" cap="none">
              <a:solidFill>
                <a:srgbClr val="000000"/>
              </a:solidFill>
              <a:latin typeface="Arial"/>
              <a:ea typeface="Arial"/>
              <a:cs typeface="Arial"/>
              <a:sym typeface="Arial"/>
            </a:endParaRPr>
          </a:p>
        </p:txBody>
      </p:sp>
      <p:pic>
        <p:nvPicPr>
          <p:cNvPr id="917" name="Google Shape;917;p53"/>
          <p:cNvPicPr preferRelativeResize="0"/>
          <p:nvPr/>
        </p:nvPicPr>
        <p:blipFill rotWithShape="1">
          <a:blip r:embed="rId3">
            <a:alphaModFix/>
          </a:blip>
          <a:srcRect/>
          <a:stretch/>
        </p:blipFill>
        <p:spPr>
          <a:xfrm>
            <a:off x="5416179" y="603159"/>
            <a:ext cx="5429249" cy="365760"/>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922"/>
        <p:cNvGrpSpPr/>
        <p:nvPr/>
      </p:nvGrpSpPr>
      <p:grpSpPr>
        <a:xfrm>
          <a:off x="0" y="0"/>
          <a:ext cx="0" cy="0"/>
          <a:chOff x="0" y="0"/>
          <a:chExt cx="0" cy="0"/>
        </a:xfrm>
      </p:grpSpPr>
      <p:sp>
        <p:nvSpPr>
          <p:cNvPr id="923" name="Google Shape;923;p54"/>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Component Mapping</a:t>
            </a:r>
            <a:endParaRPr/>
          </a:p>
        </p:txBody>
      </p:sp>
      <p:grpSp>
        <p:nvGrpSpPr>
          <p:cNvPr id="924" name="Google Shape;924;p54"/>
          <p:cNvGrpSpPr/>
          <p:nvPr/>
        </p:nvGrpSpPr>
        <p:grpSpPr>
          <a:xfrm>
            <a:off x="1914399" y="1249809"/>
            <a:ext cx="11937077" cy="5848884"/>
            <a:chOff x="-4874218" y="-752535"/>
            <a:chExt cx="11937077" cy="5848884"/>
          </a:xfrm>
        </p:grpSpPr>
        <p:sp>
          <p:nvSpPr>
            <p:cNvPr id="925" name="Google Shape;925;p54"/>
            <p:cNvSpPr/>
            <p:nvPr/>
          </p:nvSpPr>
          <p:spPr>
            <a:xfrm>
              <a:off x="-4874218" y="-752535"/>
              <a:ext cx="5848884" cy="5848884"/>
            </a:xfrm>
            <a:prstGeom prst="blockArc">
              <a:avLst>
                <a:gd name="adj1" fmla="val 18900000"/>
                <a:gd name="adj2" fmla="val 2700000"/>
                <a:gd name="adj3" fmla="val 369"/>
              </a:avLst>
            </a:prstGeom>
            <a:noFill/>
            <a:ln w="25400" cap="flat" cmpd="sng">
              <a:solidFill>
                <a:srgbClr val="345A99"/>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6" name="Google Shape;926;p54"/>
            <p:cNvSpPr/>
            <p:nvPr/>
          </p:nvSpPr>
          <p:spPr>
            <a:xfrm>
              <a:off x="798501" y="620557"/>
              <a:ext cx="6264358" cy="1240940"/>
            </a:xfrm>
            <a:prstGeom prst="rect">
              <a:avLst/>
            </a:prstGeom>
            <a:solidFill>
              <a:srgbClr val="C9EBF4"/>
            </a:solidFill>
            <a:ln w="25400" cap="flat" cmpd="sng">
              <a:solidFill>
                <a:srgbClr val="3A66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7" name="Google Shape;927;p54"/>
            <p:cNvSpPr txBox="1"/>
            <p:nvPr/>
          </p:nvSpPr>
          <p:spPr>
            <a:xfrm>
              <a:off x="798501" y="620557"/>
              <a:ext cx="6264358" cy="1240940"/>
            </a:xfrm>
            <a:prstGeom prst="rect">
              <a:avLst/>
            </a:prstGeom>
            <a:noFill/>
            <a:ln>
              <a:noFill/>
            </a:ln>
          </p:spPr>
          <p:txBody>
            <a:bodyPr spcFirstLastPara="1" wrap="square" lIns="984975" tIns="55875" rIns="55875" bIns="55875" anchor="ctr" anchorCtr="0">
              <a:noAutofit/>
            </a:bodyPr>
            <a:lstStyle/>
            <a:p>
              <a:pPr marL="0" marR="0" lvl="0" indent="0" algn="l" rtl="0">
                <a:lnSpc>
                  <a:spcPct val="90000"/>
                </a:lnSpc>
                <a:spcBef>
                  <a:spcPts val="0"/>
                </a:spcBef>
                <a:spcAft>
                  <a:spcPts val="0"/>
                </a:spcAft>
                <a:buClr>
                  <a:schemeClr val="lt1"/>
                </a:buClr>
                <a:buSzPts val="2200"/>
                <a:buFont typeface="Open Sans"/>
                <a:buNone/>
              </a:pPr>
              <a:r>
                <a:rPr lang="en-US" sz="2200" b="0" i="0" u="none" strike="noStrike" cap="none">
                  <a:solidFill>
                    <a:srgbClr val="434343"/>
                  </a:solidFill>
                  <a:latin typeface="Open Sans"/>
                  <a:ea typeface="Open Sans"/>
                  <a:cs typeface="Open Sans"/>
                  <a:sym typeface="Open Sans"/>
                </a:rPr>
                <a:t>When there is a HAS-A relationship (composition)</a:t>
              </a:r>
              <a:endParaRPr sz="1400" b="0" i="0" u="none" strike="noStrike" cap="none">
                <a:solidFill>
                  <a:srgbClr val="434343"/>
                </a:solidFill>
                <a:latin typeface="Arial"/>
                <a:ea typeface="Arial"/>
                <a:cs typeface="Arial"/>
                <a:sym typeface="Arial"/>
              </a:endParaRPr>
            </a:p>
          </p:txBody>
        </p:sp>
        <p:sp>
          <p:nvSpPr>
            <p:cNvPr id="928" name="Google Shape;928;p54"/>
            <p:cNvSpPr/>
            <p:nvPr/>
          </p:nvSpPr>
          <p:spPr>
            <a:xfrm>
              <a:off x="22913" y="465439"/>
              <a:ext cx="1551175" cy="1551175"/>
            </a:xfrm>
            <a:prstGeom prst="ellipse">
              <a:avLst/>
            </a:prstGeom>
            <a:solidFill>
              <a:schemeClr val="lt1"/>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9" name="Google Shape;929;p54"/>
            <p:cNvSpPr/>
            <p:nvPr/>
          </p:nvSpPr>
          <p:spPr>
            <a:xfrm>
              <a:off x="798501" y="2482315"/>
              <a:ext cx="6264358" cy="1240940"/>
            </a:xfrm>
            <a:prstGeom prst="rect">
              <a:avLst/>
            </a:prstGeom>
            <a:solidFill>
              <a:srgbClr val="FEE599"/>
            </a:solidFill>
            <a:ln w="25400" cap="flat" cmpd="sng">
              <a:solidFill>
                <a:srgbClr val="3A66B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0" name="Google Shape;930;p54"/>
            <p:cNvSpPr txBox="1"/>
            <p:nvPr/>
          </p:nvSpPr>
          <p:spPr>
            <a:xfrm>
              <a:off x="798501" y="2482315"/>
              <a:ext cx="6264358" cy="1240940"/>
            </a:xfrm>
            <a:prstGeom prst="rect">
              <a:avLst/>
            </a:prstGeom>
            <a:noFill/>
            <a:ln>
              <a:noFill/>
            </a:ln>
          </p:spPr>
          <p:txBody>
            <a:bodyPr spcFirstLastPara="1" wrap="square" lIns="984975" tIns="55875" rIns="55875" bIns="55875" anchor="ctr" anchorCtr="0">
              <a:noAutofit/>
            </a:bodyPr>
            <a:lstStyle/>
            <a:p>
              <a:pPr marL="0" marR="0" lvl="0" indent="0" algn="l" rtl="0">
                <a:lnSpc>
                  <a:spcPct val="90000"/>
                </a:lnSpc>
                <a:spcBef>
                  <a:spcPts val="0"/>
                </a:spcBef>
                <a:spcAft>
                  <a:spcPts val="0"/>
                </a:spcAft>
                <a:buClr>
                  <a:schemeClr val="lt1"/>
                </a:buClr>
                <a:buSzPts val="2200"/>
                <a:buFont typeface="Open Sans"/>
                <a:buNone/>
              </a:pPr>
              <a:r>
                <a:rPr lang="en-US" sz="2200" b="0" i="0" u="none" strike="noStrike" cap="none">
                  <a:solidFill>
                    <a:srgbClr val="434343"/>
                  </a:solidFill>
                  <a:latin typeface="Open Sans"/>
                  <a:ea typeface="Open Sans"/>
                  <a:cs typeface="Open Sans"/>
                  <a:sym typeface="Open Sans"/>
                </a:rPr>
                <a:t>When the dependent object does not have a primary key</a:t>
              </a:r>
              <a:endParaRPr sz="1400" b="0" i="0" u="none" strike="noStrike" cap="none">
                <a:solidFill>
                  <a:srgbClr val="434343"/>
                </a:solidFill>
                <a:latin typeface="Arial"/>
                <a:ea typeface="Arial"/>
                <a:cs typeface="Arial"/>
                <a:sym typeface="Arial"/>
              </a:endParaRPr>
            </a:p>
          </p:txBody>
        </p:sp>
        <p:sp>
          <p:nvSpPr>
            <p:cNvPr id="931" name="Google Shape;931;p54"/>
            <p:cNvSpPr/>
            <p:nvPr/>
          </p:nvSpPr>
          <p:spPr>
            <a:xfrm>
              <a:off x="22913" y="2327197"/>
              <a:ext cx="1551175" cy="1551175"/>
            </a:xfrm>
            <a:prstGeom prst="ellipse">
              <a:avLst/>
            </a:prstGeom>
            <a:solidFill>
              <a:schemeClr val="lt1"/>
            </a:solidFill>
            <a:ln w="25400" cap="flat" cmpd="sng">
              <a:solidFill>
                <a:srgbClr val="4372C3"/>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
        <p:nvSpPr>
          <p:cNvPr id="932" name="Google Shape;932;p54"/>
          <p:cNvSpPr/>
          <p:nvPr/>
        </p:nvSpPr>
        <p:spPr>
          <a:xfrm>
            <a:off x="2834155" y="3622129"/>
            <a:ext cx="2611637" cy="1104245"/>
          </a:xfrm>
          <a:prstGeom prst="frame">
            <a:avLst>
              <a:gd name="adj1" fmla="val 12500"/>
            </a:avLst>
          </a:prstGeom>
          <a:solidFill>
            <a:schemeClr val="lt1"/>
          </a:solidFill>
          <a:ln w="25400" cap="flat" cmpd="sng">
            <a:solidFill>
              <a:schemeClr val="accent1"/>
            </a:solidFill>
            <a:prstDash val="solid"/>
            <a:round/>
            <a:headEnd type="none" w="sm" len="sm"/>
            <a:tailEnd type="none" w="sm" len="sm"/>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Component Mapping </a:t>
            </a:r>
            <a:endParaRPr sz="1400" b="0" i="0" u="none" strike="noStrike" cap="none">
              <a:solidFill>
                <a:srgbClr val="000000"/>
              </a:solidFill>
              <a:latin typeface="Arial"/>
              <a:ea typeface="Arial"/>
              <a:cs typeface="Arial"/>
              <a:sym typeface="Arial"/>
            </a:endParaRPr>
          </a:p>
        </p:txBody>
      </p:sp>
      <p:sp>
        <p:nvSpPr>
          <p:cNvPr id="933" name="Google Shape;933;p54"/>
          <p:cNvSpPr txBox="1"/>
          <p:nvPr/>
        </p:nvSpPr>
        <p:spPr>
          <a:xfrm>
            <a:off x="5712316" y="3622129"/>
            <a:ext cx="1147451" cy="4308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chemeClr val="dk1"/>
                </a:solidFill>
                <a:latin typeface="Open Sans"/>
                <a:ea typeface="Open Sans"/>
                <a:cs typeface="Open Sans"/>
                <a:sym typeface="Open Sans"/>
              </a:rPr>
              <a:t>is used</a:t>
            </a:r>
            <a:endParaRPr sz="1400" b="0" i="0" u="none" strike="noStrike" cap="none">
              <a:solidFill>
                <a:srgbClr val="000000"/>
              </a:solidFill>
              <a:latin typeface="Arial"/>
              <a:ea typeface="Arial"/>
              <a:cs typeface="Arial"/>
              <a:sym typeface="Arial"/>
            </a:endParaRPr>
          </a:p>
        </p:txBody>
      </p:sp>
      <p:cxnSp>
        <p:nvCxnSpPr>
          <p:cNvPr id="934" name="Google Shape;934;p54"/>
          <p:cNvCxnSpPr>
            <a:stCxn id="932" idx="3"/>
          </p:cNvCxnSpPr>
          <p:nvPr/>
        </p:nvCxnSpPr>
        <p:spPr>
          <a:xfrm>
            <a:off x="5445792" y="4174251"/>
            <a:ext cx="2326500" cy="0"/>
          </a:xfrm>
          <a:prstGeom prst="straightConnector1">
            <a:avLst/>
          </a:prstGeom>
          <a:noFill/>
          <a:ln w="9525" cap="flat" cmpd="sng">
            <a:solidFill>
              <a:srgbClr val="5597D3"/>
            </a:solidFill>
            <a:prstDash val="solid"/>
            <a:round/>
            <a:headEnd type="none" w="sm" len="sm"/>
            <a:tailEnd type="none" w="sm" len="sm"/>
          </a:ln>
        </p:spPr>
      </p:cxnSp>
      <p:pic>
        <p:nvPicPr>
          <p:cNvPr id="935" name="Google Shape;935;p54"/>
          <p:cNvPicPr preferRelativeResize="0"/>
          <p:nvPr/>
        </p:nvPicPr>
        <p:blipFill rotWithShape="1">
          <a:blip r:embed="rId3">
            <a:alphaModFix/>
          </a:blip>
          <a:srcRect/>
          <a:stretch/>
        </p:blipFill>
        <p:spPr>
          <a:xfrm>
            <a:off x="5416179" y="619785"/>
            <a:ext cx="5429249" cy="332509"/>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940"/>
        <p:cNvGrpSpPr/>
        <p:nvPr/>
      </p:nvGrpSpPr>
      <p:grpSpPr>
        <a:xfrm>
          <a:off x="0" y="0"/>
          <a:ext cx="0" cy="0"/>
          <a:chOff x="0" y="0"/>
          <a:chExt cx="0" cy="0"/>
        </a:xfrm>
      </p:grpSpPr>
      <p:sp>
        <p:nvSpPr>
          <p:cNvPr id="941" name="Google Shape;941;p55"/>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Component Mapping</a:t>
            </a:r>
            <a:endParaRPr/>
          </a:p>
        </p:txBody>
      </p:sp>
      <p:sp>
        <p:nvSpPr>
          <p:cNvPr id="942" name="Google Shape;942;p55"/>
          <p:cNvSpPr txBox="1">
            <a:spLocks noGrp="1"/>
          </p:cNvSpPr>
          <p:nvPr>
            <p:ph type="body" idx="1"/>
          </p:nvPr>
        </p:nvSpPr>
        <p:spPr>
          <a:xfrm>
            <a:off x="1902091" y="2363465"/>
            <a:ext cx="12451817" cy="5527418"/>
          </a:xfrm>
          <a:prstGeom prst="rect">
            <a:avLst/>
          </a:prstGeom>
          <a:noFill/>
          <a:ln>
            <a:noFill/>
          </a:ln>
        </p:spPr>
        <p:txBody>
          <a:bodyPr spcFirstLastPara="1" wrap="square" lIns="91425" tIns="45700" rIns="91425" bIns="45700" anchor="t" anchorCtr="0">
            <a:no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Demonstrate component mapping in Hibernate.</a:t>
            </a:r>
            <a:endParaRPr/>
          </a:p>
        </p:txBody>
      </p:sp>
      <p:sp>
        <p:nvSpPr>
          <p:cNvPr id="943" name="Google Shape;943;p55"/>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15 min.</a:t>
            </a:r>
            <a:endParaRPr sz="2200" b="1" i="0" u="none" strike="noStrike" cap="none">
              <a:solidFill>
                <a:srgbClr val="000000"/>
              </a:solidFill>
              <a:latin typeface="Open Sans"/>
              <a:ea typeface="Open Sans"/>
              <a:cs typeface="Open Sans"/>
              <a:sym typeface="Open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948"/>
        <p:cNvGrpSpPr/>
        <p:nvPr/>
      </p:nvGrpSpPr>
      <p:grpSpPr>
        <a:xfrm>
          <a:off x="0" y="0"/>
          <a:ext cx="0" cy="0"/>
          <a:chOff x="0" y="0"/>
          <a:chExt cx="0" cy="0"/>
        </a:xfrm>
      </p:grpSpPr>
      <p:sp>
        <p:nvSpPr>
          <p:cNvPr id="949" name="Google Shape;949;p56"/>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 </a:t>
            </a:r>
            <a:endParaRPr>
              <a:latin typeface="Open Sans"/>
              <a:ea typeface="Open Sans"/>
              <a:cs typeface="Open Sans"/>
              <a:sym typeface="Open Sans"/>
            </a:endParaRPr>
          </a:p>
        </p:txBody>
      </p:sp>
      <p:sp>
        <p:nvSpPr>
          <p:cNvPr id="950" name="Google Shape;950;p56"/>
          <p:cNvSpPr txBox="1"/>
          <p:nvPr/>
        </p:nvSpPr>
        <p:spPr>
          <a:xfrm>
            <a:off x="1167722" y="1174386"/>
            <a:ext cx="14057239" cy="7571047"/>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200">
                <a:solidFill>
                  <a:srgbClr val="3F3F3F"/>
                </a:solidFill>
                <a:latin typeface="Open Sans"/>
                <a:ea typeface="Open Sans"/>
                <a:cs typeface="Open Sans"/>
                <a:sym typeface="Open Sans"/>
              </a:rPr>
              <a:t>Steps to demonstrate component mapping:</a:t>
            </a:r>
            <a:endParaRPr sz="2200">
              <a:solidFill>
                <a:srgbClr val="3F3F3F"/>
              </a:solidFill>
              <a:latin typeface="Open Sans"/>
              <a:ea typeface="Open Sans"/>
              <a:cs typeface="Open Sans"/>
              <a:sym typeface="Open Sans"/>
            </a:endParaRPr>
          </a:p>
          <a:p>
            <a:pPr marL="457188" marR="0" lvl="0" indent="-457188"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dynamic web project in Eclipse IDE and add .jar files to load Hibernate and its dependencies. </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database (e-commerce) and a table (e-product) that contains laptops for sale. Group the columns of parts_* in the table into a separate Hibernate class and link it to the main </a:t>
            </a:r>
            <a:r>
              <a:rPr lang="en-US" sz="2200">
                <a:solidFill>
                  <a:srgbClr val="3F3F3F"/>
                </a:solidFill>
                <a:latin typeface="Open Sans"/>
                <a:ea typeface="Open Sans"/>
                <a:cs typeface="Open Sans"/>
                <a:sym typeface="Open Sans"/>
              </a:rPr>
              <a:t>e-</a:t>
            </a:r>
            <a:r>
              <a:rPr lang="en-US" sz="2200" b="0" i="0" u="none" strike="noStrike" cap="none">
                <a:solidFill>
                  <a:srgbClr val="3F3F3F"/>
                </a:solidFill>
                <a:latin typeface="Open Sans"/>
                <a:ea typeface="Open Sans"/>
                <a:cs typeface="Open Sans"/>
                <a:sym typeface="Open Sans"/>
              </a:rPr>
              <a:t>product class.</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 and database table with .hbm.xml files.</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Data access object class for each table.</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servlet that retrieves data using main and component Hibernate classes and an HTML file that calls the servlet. Run the HTML code on your browser. </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 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951" name="Google Shape;951;p56"/>
          <p:cNvPicPr preferRelativeResize="0"/>
          <p:nvPr/>
        </p:nvPicPr>
        <p:blipFill rotWithShape="1">
          <a:blip r:embed="rId3">
            <a:alphaModFix/>
          </a:blip>
          <a:srcRect/>
          <a:stretch/>
        </p:blipFill>
        <p:spPr>
          <a:xfrm>
            <a:off x="4493450" y="603150"/>
            <a:ext cx="7274701" cy="36577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955"/>
        <p:cNvGrpSpPr/>
        <p:nvPr/>
      </p:nvGrpSpPr>
      <p:grpSpPr>
        <a:xfrm>
          <a:off x="0" y="0"/>
          <a:ext cx="0" cy="0"/>
          <a:chOff x="0" y="0"/>
          <a:chExt cx="0" cy="0"/>
        </a:xfrm>
      </p:grpSpPr>
      <p:sp>
        <p:nvSpPr>
          <p:cNvPr id="956" name="Google Shape;956;p57"/>
          <p:cNvSpPr txBox="1">
            <a:spLocks noGrp="1"/>
          </p:cNvSpPr>
          <p:nvPr>
            <p:ph type="body" idx="1"/>
          </p:nvPr>
        </p:nvSpPr>
        <p:spPr>
          <a:xfrm>
            <a:off x="0" y="4114800"/>
            <a:ext cx="16256001" cy="914400"/>
          </a:xfrm>
          <a:prstGeom prst="rect">
            <a:avLst/>
          </a:prstGeom>
          <a:noFill/>
          <a:ln>
            <a:noFill/>
          </a:ln>
        </p:spPr>
        <p:txBody>
          <a:bodyPr spcFirstLastPara="1" wrap="square" lIns="91425" tIns="91425" rIns="91425" bIns="91425" anchor="t" anchorCtr="0">
            <a:noAutofit/>
          </a:bodyPr>
          <a:lstStyle/>
          <a:p>
            <a:pPr marL="50800" lvl="0" indent="0" algn="ctr" rtl="0">
              <a:lnSpc>
                <a:spcPct val="90000"/>
              </a:lnSpc>
              <a:spcBef>
                <a:spcPts val="1000"/>
              </a:spcBef>
              <a:spcAft>
                <a:spcPts val="0"/>
              </a:spcAft>
              <a:buSzPts val="2800"/>
              <a:buNone/>
            </a:pPr>
            <a:r>
              <a:rPr lang="en-US">
                <a:solidFill>
                  <a:schemeClr val="lt1"/>
                </a:solidFill>
                <a:latin typeface="Open Sans"/>
                <a:ea typeface="Open Sans"/>
                <a:cs typeface="Open Sans"/>
                <a:sym typeface="Open Sans"/>
              </a:rPr>
              <a:t>Integration of Hibernate with Spring</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961"/>
        <p:cNvGrpSpPr/>
        <p:nvPr/>
      </p:nvGrpSpPr>
      <p:grpSpPr>
        <a:xfrm>
          <a:off x="0" y="0"/>
          <a:ext cx="0" cy="0"/>
          <a:chOff x="0" y="0"/>
          <a:chExt cx="0" cy="0"/>
        </a:xfrm>
      </p:grpSpPr>
      <p:sp>
        <p:nvSpPr>
          <p:cNvPr id="962" name="Google Shape;962;p58"/>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Spring</a:t>
            </a:r>
            <a:endParaRPr/>
          </a:p>
        </p:txBody>
      </p:sp>
      <p:sp>
        <p:nvSpPr>
          <p:cNvPr id="963" name="Google Shape;963;p58"/>
          <p:cNvSpPr/>
          <p:nvPr/>
        </p:nvSpPr>
        <p:spPr>
          <a:xfrm>
            <a:off x="2235835" y="1011485"/>
            <a:ext cx="11784331" cy="1130691"/>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Spring framework is a lightweight and comprehensive configuration and programming model designed to develop Java-based applications.</a:t>
            </a:r>
            <a:endParaRPr sz="2200" b="0" i="0" u="none" strike="noStrike" cap="none">
              <a:solidFill>
                <a:srgbClr val="3F3F3F"/>
              </a:solidFill>
              <a:latin typeface="Open Sans"/>
              <a:ea typeface="Open Sans"/>
              <a:cs typeface="Open Sans"/>
              <a:sym typeface="Open Sans"/>
            </a:endParaRPr>
          </a:p>
        </p:txBody>
      </p:sp>
      <p:grpSp>
        <p:nvGrpSpPr>
          <p:cNvPr id="964" name="Google Shape;964;p58"/>
          <p:cNvGrpSpPr/>
          <p:nvPr/>
        </p:nvGrpSpPr>
        <p:grpSpPr>
          <a:xfrm>
            <a:off x="6047661" y="2753141"/>
            <a:ext cx="4160678" cy="4806118"/>
            <a:chOff x="2073771" y="1468871"/>
            <a:chExt cx="5058707" cy="5533592"/>
          </a:xfrm>
        </p:grpSpPr>
        <p:sp>
          <p:nvSpPr>
            <p:cNvPr id="965" name="Google Shape;965;p58"/>
            <p:cNvSpPr/>
            <p:nvPr/>
          </p:nvSpPr>
          <p:spPr>
            <a:xfrm>
              <a:off x="2073771" y="3066203"/>
              <a:ext cx="5058707" cy="3936260"/>
            </a:xfrm>
            <a:prstGeom prst="rect">
              <a:avLst/>
            </a:prstGeom>
            <a:solidFill>
              <a:srgbClr val="D8D8D8"/>
            </a:solidFill>
            <a:ln w="25400" cap="flat" cmpd="sng">
              <a:solidFill>
                <a:srgbClr val="7F7F7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endParaRPr sz="3200" b="0" i="0" u="none" strike="noStrike" cap="none">
                <a:solidFill>
                  <a:schemeClr val="dk1"/>
                </a:solidFill>
                <a:latin typeface="Arial"/>
                <a:ea typeface="Arial"/>
                <a:cs typeface="Arial"/>
                <a:sym typeface="Arial"/>
              </a:endParaRPr>
            </a:p>
          </p:txBody>
        </p:sp>
        <p:sp>
          <p:nvSpPr>
            <p:cNvPr id="966" name="Google Shape;966;p58"/>
            <p:cNvSpPr/>
            <p:nvPr/>
          </p:nvSpPr>
          <p:spPr>
            <a:xfrm>
              <a:off x="2348050" y="3451269"/>
              <a:ext cx="4510033" cy="3439978"/>
            </a:xfrm>
            <a:prstGeom prst="rect">
              <a:avLst/>
            </a:prstGeom>
            <a:noFill/>
            <a:ln>
              <a:noFill/>
            </a:ln>
          </p:spPr>
          <p:txBody>
            <a:bodyPr spcFirstLastPara="1" wrap="square" lIns="91425" tIns="45700" rIns="91425" bIns="45700" anchor="t" anchorCtr="0">
              <a:spAutoFit/>
            </a:bodyPr>
            <a:lstStyle/>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Predefined templates</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Easy to develop and test</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Loosely coupled</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Powerful abstraction</a:t>
              </a:r>
              <a:endParaRPr sz="1400" b="0" i="0" u="none" strike="noStrike" cap="none">
                <a:solidFill>
                  <a:srgbClr val="000000"/>
                </a:solidFill>
                <a:latin typeface="Arial"/>
                <a:ea typeface="Arial"/>
                <a:cs typeface="Arial"/>
                <a:sym typeface="Arial"/>
              </a:endParaRPr>
            </a:p>
            <a:p>
              <a:pPr marL="457200" marR="0" lvl="0" indent="-368300" algn="l" rtl="0">
                <a:lnSpc>
                  <a:spcPct val="150000"/>
                </a:lnSpc>
                <a:spcBef>
                  <a:spcPts val="0"/>
                </a:spcBef>
                <a:spcAft>
                  <a:spcPts val="0"/>
                </a:spcAft>
                <a:buClr>
                  <a:schemeClr val="dk1"/>
                </a:buClr>
                <a:buSzPts val="2200"/>
                <a:buFont typeface="Open Sans"/>
                <a:buChar char="●"/>
              </a:pPr>
              <a:r>
                <a:rPr lang="en-US" sz="2200" b="0" i="0" u="none" strike="noStrike" cap="none">
                  <a:solidFill>
                    <a:schemeClr val="dk1"/>
                  </a:solidFill>
                  <a:latin typeface="Open Sans"/>
                  <a:ea typeface="Open Sans"/>
                  <a:cs typeface="Open Sans"/>
                  <a:sym typeface="Open Sans"/>
                </a:rPr>
                <a:t>Declarative support</a:t>
              </a:r>
              <a:endParaRPr sz="1400" b="0" i="0" u="none" strike="noStrike" cap="none">
                <a:solidFill>
                  <a:srgbClr val="000000"/>
                </a:solidFill>
                <a:latin typeface="Arial"/>
                <a:ea typeface="Arial"/>
                <a:cs typeface="Arial"/>
                <a:sym typeface="Arial"/>
              </a:endParaRPr>
            </a:p>
          </p:txBody>
        </p:sp>
        <p:grpSp>
          <p:nvGrpSpPr>
            <p:cNvPr id="967" name="Google Shape;967;p58"/>
            <p:cNvGrpSpPr/>
            <p:nvPr/>
          </p:nvGrpSpPr>
          <p:grpSpPr>
            <a:xfrm>
              <a:off x="2073771" y="1468871"/>
              <a:ext cx="5058707" cy="2446552"/>
              <a:chOff x="963430" y="1468871"/>
              <a:chExt cx="5058707" cy="2446552"/>
            </a:xfrm>
          </p:grpSpPr>
          <p:grpSp>
            <p:nvGrpSpPr>
              <p:cNvPr id="968" name="Google Shape;968;p58"/>
              <p:cNvGrpSpPr/>
              <p:nvPr/>
            </p:nvGrpSpPr>
            <p:grpSpPr>
              <a:xfrm>
                <a:off x="963430" y="1468871"/>
                <a:ext cx="5058707" cy="2446552"/>
                <a:chOff x="963430" y="2629922"/>
                <a:chExt cx="5058707" cy="2446552"/>
              </a:xfrm>
            </p:grpSpPr>
            <p:grpSp>
              <p:nvGrpSpPr>
                <p:cNvPr id="969" name="Google Shape;969;p58"/>
                <p:cNvGrpSpPr/>
                <p:nvPr/>
              </p:nvGrpSpPr>
              <p:grpSpPr>
                <a:xfrm rot="-5400000">
                  <a:off x="4572421" y="3700954"/>
                  <a:ext cx="1649618" cy="1101423"/>
                  <a:chOff x="8202447" y="2775985"/>
                  <a:chExt cx="1566863" cy="909638"/>
                </a:xfrm>
              </p:grpSpPr>
              <p:sp>
                <p:nvSpPr>
                  <p:cNvPr id="970" name="Google Shape;970;p58"/>
                  <p:cNvSpPr/>
                  <p:nvPr/>
                </p:nvSpPr>
                <p:spPr>
                  <a:xfrm>
                    <a:off x="8202447" y="2775985"/>
                    <a:ext cx="492125" cy="909638"/>
                  </a:xfrm>
                  <a:custGeom>
                    <a:avLst/>
                    <a:gdLst/>
                    <a:ahLst/>
                    <a:cxnLst/>
                    <a:rect l="l" t="t" r="r" b="b"/>
                    <a:pathLst>
                      <a:path w="310" h="573" extrusionOk="0">
                        <a:moveTo>
                          <a:pt x="310" y="0"/>
                        </a:moveTo>
                        <a:lnTo>
                          <a:pt x="0" y="287"/>
                        </a:lnTo>
                        <a:lnTo>
                          <a:pt x="310" y="573"/>
                        </a:lnTo>
                        <a:lnTo>
                          <a:pt x="310" y="434"/>
                        </a:lnTo>
                        <a:lnTo>
                          <a:pt x="310" y="287"/>
                        </a:lnTo>
                        <a:lnTo>
                          <a:pt x="310" y="143"/>
                        </a:lnTo>
                        <a:lnTo>
                          <a:pt x="310" y="0"/>
                        </a:lnTo>
                        <a:close/>
                      </a:path>
                    </a:pathLst>
                  </a:custGeom>
                  <a:solidFill>
                    <a:srgbClr val="A8D08C"/>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971" name="Google Shape;971;p58"/>
                  <p:cNvSpPr/>
                  <p:nvPr/>
                </p:nvSpPr>
                <p:spPr>
                  <a:xfrm>
                    <a:off x="8694572" y="3002998"/>
                    <a:ext cx="1074738" cy="461963"/>
                  </a:xfrm>
                  <a:custGeom>
                    <a:avLst/>
                    <a:gdLst/>
                    <a:ahLst/>
                    <a:cxnLst/>
                    <a:rect l="l" t="t" r="r" b="b"/>
                    <a:pathLst>
                      <a:path w="677" h="291" extrusionOk="0">
                        <a:moveTo>
                          <a:pt x="386" y="0"/>
                        </a:moveTo>
                        <a:lnTo>
                          <a:pt x="0" y="0"/>
                        </a:lnTo>
                        <a:lnTo>
                          <a:pt x="0" y="144"/>
                        </a:lnTo>
                        <a:lnTo>
                          <a:pt x="0" y="291"/>
                        </a:lnTo>
                        <a:lnTo>
                          <a:pt x="677" y="291"/>
                        </a:lnTo>
                        <a:lnTo>
                          <a:pt x="386" y="0"/>
                        </a:lnTo>
                        <a:close/>
                      </a:path>
                    </a:pathLst>
                  </a:custGeom>
                  <a:solidFill>
                    <a:srgbClr val="A8D08C"/>
                  </a:solidFill>
                  <a:ln w="9525" cap="flat" cmpd="sng">
                    <a:solidFill>
                      <a:srgbClr val="0000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sp>
              <p:nvSpPr>
                <p:cNvPr id="972" name="Google Shape;972;p58"/>
                <p:cNvSpPr txBox="1"/>
                <p:nvPr/>
              </p:nvSpPr>
              <p:spPr>
                <a:xfrm>
                  <a:off x="963430" y="2629922"/>
                  <a:ext cx="5058707" cy="1437605"/>
                </a:xfrm>
                <a:prstGeom prst="rect">
                  <a:avLst/>
                </a:prstGeom>
                <a:solidFill>
                  <a:srgbClr val="A8D08C"/>
                </a:solidFill>
                <a:ln w="9525" cap="flat" cmpd="sng">
                  <a:solidFill>
                    <a:schemeClr val="dk1"/>
                  </a:solidFill>
                  <a:prstDash val="solid"/>
                  <a:round/>
                  <a:headEnd type="none" w="sm" len="sm"/>
                  <a:tailEnd type="none" w="sm" len="sm"/>
                </a:ln>
              </p:spPr>
              <p:txBody>
                <a:bodyPr spcFirstLastPara="1" wrap="square" lIns="121900" tIns="60950" rIns="121900" bIns="60950" anchor="t" anchorCtr="0">
                  <a:noAutofit/>
                </a:bodyPr>
                <a:lstStyle/>
                <a:p>
                  <a:pPr marL="0" marR="0" lvl="0" indent="0" algn="ctr" rtl="0">
                    <a:lnSpc>
                      <a:spcPct val="100000"/>
                    </a:lnSpc>
                    <a:spcBef>
                      <a:spcPts val="0"/>
                    </a:spcBef>
                    <a:spcAft>
                      <a:spcPts val="0"/>
                    </a:spcAft>
                    <a:buClr>
                      <a:srgbClr val="A5A5A5"/>
                    </a:buClr>
                    <a:buSzPts val="2400"/>
                    <a:buFont typeface="Arial"/>
                    <a:buNone/>
                  </a:pPr>
                  <a:endParaRPr sz="2400" b="1" i="0" u="none" strike="noStrike" cap="none">
                    <a:solidFill>
                      <a:schemeClr val="dk1"/>
                    </a:solidFill>
                    <a:latin typeface="Arial"/>
                    <a:ea typeface="Arial"/>
                    <a:cs typeface="Arial"/>
                    <a:sym typeface="Arial"/>
                  </a:endParaRPr>
                </a:p>
              </p:txBody>
            </p:sp>
          </p:grpSp>
          <p:sp>
            <p:nvSpPr>
              <p:cNvPr id="973" name="Google Shape;973;p58"/>
              <p:cNvSpPr txBox="1"/>
              <p:nvPr/>
            </p:nvSpPr>
            <p:spPr>
              <a:xfrm>
                <a:off x="1534886" y="2037357"/>
                <a:ext cx="3586507" cy="531545"/>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Open Sans"/>
                    <a:ea typeface="Open Sans"/>
                    <a:cs typeface="Open Sans"/>
                    <a:sym typeface="Open Sans"/>
                  </a:rPr>
                  <a:t>Advantages</a:t>
                </a:r>
                <a:endParaRPr sz="1400" b="0" i="0" u="none" strike="noStrike" cap="none">
                  <a:solidFill>
                    <a:srgbClr val="000000"/>
                  </a:solidFill>
                  <a:latin typeface="Arial"/>
                  <a:ea typeface="Arial"/>
                  <a:cs typeface="Arial"/>
                  <a:sym typeface="Arial"/>
                </a:endParaRPr>
              </a:p>
            </p:txBody>
          </p:sp>
        </p:grpSp>
      </p:grpSp>
      <p:pic>
        <p:nvPicPr>
          <p:cNvPr id="974" name="Google Shape;974;p58"/>
          <p:cNvPicPr preferRelativeResize="0"/>
          <p:nvPr/>
        </p:nvPicPr>
        <p:blipFill rotWithShape="1">
          <a:blip r:embed="rId3">
            <a:alphaModFix/>
          </a:blip>
          <a:srcRect/>
          <a:stretch/>
        </p:blipFill>
        <p:spPr>
          <a:xfrm>
            <a:off x="6979537" y="603159"/>
            <a:ext cx="2302532" cy="36576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979"/>
        <p:cNvGrpSpPr/>
        <p:nvPr/>
      </p:nvGrpSpPr>
      <p:grpSpPr>
        <a:xfrm>
          <a:off x="0" y="0"/>
          <a:ext cx="0" cy="0"/>
          <a:chOff x="0" y="0"/>
          <a:chExt cx="0" cy="0"/>
        </a:xfrm>
      </p:grpSpPr>
      <p:sp>
        <p:nvSpPr>
          <p:cNvPr id="980" name="Google Shape;980;p59"/>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SzPts val="4400"/>
              <a:buNone/>
            </a:pPr>
            <a:r>
              <a:rPr lang="en-US"/>
              <a:t>Steps to Integrate Hibernate with Spring</a:t>
            </a:r>
            <a:endParaRPr/>
          </a:p>
        </p:txBody>
      </p:sp>
      <p:grpSp>
        <p:nvGrpSpPr>
          <p:cNvPr id="981" name="Google Shape;981;p59"/>
          <p:cNvGrpSpPr/>
          <p:nvPr/>
        </p:nvGrpSpPr>
        <p:grpSpPr>
          <a:xfrm>
            <a:off x="5594908" y="1273544"/>
            <a:ext cx="4993217" cy="7347581"/>
            <a:chOff x="5631391" y="1308466"/>
            <a:chExt cx="4993217" cy="7347581"/>
          </a:xfrm>
        </p:grpSpPr>
        <p:sp>
          <p:nvSpPr>
            <p:cNvPr id="982" name="Google Shape;982;p59"/>
            <p:cNvSpPr/>
            <p:nvPr/>
          </p:nvSpPr>
          <p:spPr>
            <a:xfrm>
              <a:off x="5631392" y="7803165"/>
              <a:ext cx="4993216" cy="852882"/>
            </a:xfrm>
            <a:custGeom>
              <a:avLst/>
              <a:gdLst/>
              <a:ahLst/>
              <a:cxnLst/>
              <a:rect l="l" t="t" r="r" b="b"/>
              <a:pathLst>
                <a:path w="7090833" h="852882" extrusionOk="0">
                  <a:moveTo>
                    <a:pt x="0" y="0"/>
                  </a:moveTo>
                  <a:lnTo>
                    <a:pt x="7090833" y="0"/>
                  </a:lnTo>
                  <a:lnTo>
                    <a:pt x="7090833" y="852882"/>
                  </a:lnTo>
                  <a:lnTo>
                    <a:pt x="0" y="852882"/>
                  </a:lnTo>
                  <a:lnTo>
                    <a:pt x="0" y="0"/>
                  </a:lnTo>
                  <a:close/>
                </a:path>
              </a:pathLst>
            </a:custGeom>
            <a:solidFill>
              <a:srgbClr val="F0904E"/>
            </a:solidFill>
            <a:ln w="25400" cap="flat" cmpd="sng">
              <a:solidFill>
                <a:schemeClr val="dk1"/>
              </a:solidFill>
              <a:prstDash val="solid"/>
              <a:round/>
              <a:headEnd type="none" w="sm" len="sm"/>
              <a:tailEnd type="none" w="sm" len="sm"/>
            </a:ln>
          </p:spPr>
          <p:txBody>
            <a:bodyPr spcFirstLastPara="1" wrap="square" lIns="199125" tIns="199125" rIns="199125" bIns="199125"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Create schema in database</a:t>
              </a:r>
              <a:endParaRPr sz="1400" b="0" i="0" u="none" strike="noStrike" cap="none">
                <a:solidFill>
                  <a:srgbClr val="000000"/>
                </a:solidFill>
                <a:latin typeface="Arial"/>
                <a:ea typeface="Arial"/>
                <a:cs typeface="Arial"/>
                <a:sym typeface="Arial"/>
              </a:endParaRPr>
            </a:p>
          </p:txBody>
        </p:sp>
        <p:sp>
          <p:nvSpPr>
            <p:cNvPr id="983" name="Google Shape;983;p59"/>
            <p:cNvSpPr/>
            <p:nvPr/>
          </p:nvSpPr>
          <p:spPr>
            <a:xfrm>
              <a:off x="5631392" y="6504224"/>
              <a:ext cx="4993216" cy="1311733"/>
            </a:xfrm>
            <a:custGeom>
              <a:avLst/>
              <a:gdLst/>
              <a:ahLst/>
              <a:cxnLst/>
              <a:rect l="l" t="t" r="r" b="b"/>
              <a:pathLst>
                <a:path w="7090833" h="1311732" extrusionOk="0">
                  <a:moveTo>
                    <a:pt x="7090833" y="852324"/>
                  </a:moveTo>
                  <a:lnTo>
                    <a:pt x="3709383" y="852324"/>
                  </a:lnTo>
                  <a:lnTo>
                    <a:pt x="3709383" y="983799"/>
                  </a:lnTo>
                  <a:lnTo>
                    <a:pt x="3873349" y="983799"/>
                  </a:lnTo>
                  <a:lnTo>
                    <a:pt x="3545416" y="1311731"/>
                  </a:lnTo>
                  <a:lnTo>
                    <a:pt x="3217483" y="983799"/>
                  </a:lnTo>
                  <a:lnTo>
                    <a:pt x="3381450" y="983799"/>
                  </a:lnTo>
                  <a:lnTo>
                    <a:pt x="3381450" y="852324"/>
                  </a:lnTo>
                  <a:lnTo>
                    <a:pt x="0" y="852324"/>
                  </a:lnTo>
                  <a:lnTo>
                    <a:pt x="0" y="1"/>
                  </a:lnTo>
                  <a:lnTo>
                    <a:pt x="7090833" y="1"/>
                  </a:lnTo>
                  <a:lnTo>
                    <a:pt x="7090833" y="852324"/>
                  </a:lnTo>
                  <a:close/>
                </a:path>
              </a:pathLst>
            </a:custGeom>
            <a:solidFill>
              <a:schemeClr val="accent3"/>
            </a:solidFill>
            <a:ln w="25400" cap="flat" cmpd="sng">
              <a:solidFill>
                <a:schemeClr val="dk1"/>
              </a:solidFill>
              <a:prstDash val="solid"/>
              <a:round/>
              <a:headEnd type="none" w="sm" len="sm"/>
              <a:tailEnd type="none" w="sm" len="sm"/>
            </a:ln>
          </p:spPr>
          <p:txBody>
            <a:bodyPr spcFirstLastPara="1" wrap="square" lIns="156450" tIns="156450" rIns="156450" bIns="61585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Create domain entity class</a:t>
              </a:r>
              <a:endParaRPr sz="1400" b="0" i="0" u="none" strike="noStrike" cap="none">
                <a:solidFill>
                  <a:srgbClr val="000000"/>
                </a:solidFill>
                <a:latin typeface="Arial"/>
                <a:ea typeface="Arial"/>
                <a:cs typeface="Arial"/>
                <a:sym typeface="Arial"/>
              </a:endParaRPr>
            </a:p>
          </p:txBody>
        </p:sp>
        <p:sp>
          <p:nvSpPr>
            <p:cNvPr id="984" name="Google Shape;984;p59"/>
            <p:cNvSpPr/>
            <p:nvPr/>
          </p:nvSpPr>
          <p:spPr>
            <a:xfrm>
              <a:off x="5631391" y="5205285"/>
              <a:ext cx="4993217" cy="1311733"/>
            </a:xfrm>
            <a:custGeom>
              <a:avLst/>
              <a:gdLst/>
              <a:ahLst/>
              <a:cxnLst/>
              <a:rect l="l" t="t" r="r" b="b"/>
              <a:pathLst>
                <a:path w="7090833" h="1311732" extrusionOk="0">
                  <a:moveTo>
                    <a:pt x="7090833" y="852324"/>
                  </a:moveTo>
                  <a:lnTo>
                    <a:pt x="3709383" y="852324"/>
                  </a:lnTo>
                  <a:lnTo>
                    <a:pt x="3709383" y="983799"/>
                  </a:lnTo>
                  <a:lnTo>
                    <a:pt x="3873349" y="983799"/>
                  </a:lnTo>
                  <a:lnTo>
                    <a:pt x="3545416" y="1311731"/>
                  </a:lnTo>
                  <a:lnTo>
                    <a:pt x="3217483" y="983799"/>
                  </a:lnTo>
                  <a:lnTo>
                    <a:pt x="3381450" y="983799"/>
                  </a:lnTo>
                  <a:lnTo>
                    <a:pt x="3381450" y="852324"/>
                  </a:lnTo>
                  <a:lnTo>
                    <a:pt x="0" y="852324"/>
                  </a:lnTo>
                  <a:lnTo>
                    <a:pt x="0" y="1"/>
                  </a:lnTo>
                  <a:lnTo>
                    <a:pt x="7090833" y="1"/>
                  </a:lnTo>
                  <a:lnTo>
                    <a:pt x="7090833" y="852324"/>
                  </a:lnTo>
                  <a:close/>
                </a:path>
              </a:pathLst>
            </a:custGeom>
            <a:solidFill>
              <a:srgbClr val="FFD757"/>
            </a:solidFill>
            <a:ln w="25400" cap="flat" cmpd="sng">
              <a:solidFill>
                <a:schemeClr val="dk1"/>
              </a:solidFill>
              <a:prstDash val="solid"/>
              <a:round/>
              <a:headEnd type="none" w="sm" len="sm"/>
              <a:tailEnd type="none" w="sm" len="sm"/>
            </a:ln>
          </p:spPr>
          <p:txBody>
            <a:bodyPr spcFirstLastPara="1" wrap="square" lIns="156450" tIns="156450" rIns="156450" bIns="61585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Add service layer</a:t>
              </a:r>
              <a:endParaRPr sz="1400" b="0" i="0" u="none" strike="noStrike" cap="none">
                <a:solidFill>
                  <a:srgbClr val="000000"/>
                </a:solidFill>
                <a:latin typeface="Arial"/>
                <a:ea typeface="Arial"/>
                <a:cs typeface="Arial"/>
                <a:sym typeface="Arial"/>
              </a:endParaRPr>
            </a:p>
          </p:txBody>
        </p:sp>
        <p:sp>
          <p:nvSpPr>
            <p:cNvPr id="985" name="Google Shape;985;p59"/>
            <p:cNvSpPr/>
            <p:nvPr/>
          </p:nvSpPr>
          <p:spPr>
            <a:xfrm>
              <a:off x="5631391" y="3906345"/>
              <a:ext cx="4993217" cy="1311733"/>
            </a:xfrm>
            <a:custGeom>
              <a:avLst/>
              <a:gdLst/>
              <a:ahLst/>
              <a:cxnLst/>
              <a:rect l="l" t="t" r="r" b="b"/>
              <a:pathLst>
                <a:path w="7090833" h="1311732" extrusionOk="0">
                  <a:moveTo>
                    <a:pt x="7090833" y="852324"/>
                  </a:moveTo>
                  <a:lnTo>
                    <a:pt x="3709383" y="852324"/>
                  </a:lnTo>
                  <a:lnTo>
                    <a:pt x="3709383" y="983799"/>
                  </a:lnTo>
                  <a:lnTo>
                    <a:pt x="3873349" y="983799"/>
                  </a:lnTo>
                  <a:lnTo>
                    <a:pt x="3545416" y="1311731"/>
                  </a:lnTo>
                  <a:lnTo>
                    <a:pt x="3217483" y="983799"/>
                  </a:lnTo>
                  <a:lnTo>
                    <a:pt x="3381450" y="983799"/>
                  </a:lnTo>
                  <a:lnTo>
                    <a:pt x="3381450" y="852324"/>
                  </a:lnTo>
                  <a:lnTo>
                    <a:pt x="0" y="852324"/>
                  </a:lnTo>
                  <a:lnTo>
                    <a:pt x="0" y="1"/>
                  </a:lnTo>
                  <a:lnTo>
                    <a:pt x="7090833" y="1"/>
                  </a:lnTo>
                  <a:lnTo>
                    <a:pt x="7090833" y="852324"/>
                  </a:lnTo>
                  <a:close/>
                </a:path>
              </a:pathLst>
            </a:custGeom>
            <a:solidFill>
              <a:srgbClr val="7F9ED7"/>
            </a:solidFill>
            <a:ln w="25400" cap="flat" cmpd="sng">
              <a:solidFill>
                <a:schemeClr val="dk1"/>
              </a:solidFill>
              <a:prstDash val="solid"/>
              <a:round/>
              <a:headEnd type="none" w="sm" len="sm"/>
              <a:tailEnd type="none" w="sm" len="sm"/>
            </a:ln>
          </p:spPr>
          <p:txBody>
            <a:bodyPr spcFirstLastPara="1" wrap="square" lIns="156450" tIns="156450" rIns="156450" bIns="61585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Add DAO layer</a:t>
              </a:r>
              <a:endParaRPr sz="1400" b="0" i="0" u="none" strike="noStrike" cap="none">
                <a:solidFill>
                  <a:srgbClr val="000000"/>
                </a:solidFill>
                <a:latin typeface="Arial"/>
                <a:ea typeface="Arial"/>
                <a:cs typeface="Arial"/>
                <a:sym typeface="Arial"/>
              </a:endParaRPr>
            </a:p>
          </p:txBody>
        </p:sp>
        <p:sp>
          <p:nvSpPr>
            <p:cNvPr id="986" name="Google Shape;986;p59"/>
            <p:cNvSpPr/>
            <p:nvPr/>
          </p:nvSpPr>
          <p:spPr>
            <a:xfrm>
              <a:off x="5631392" y="2607406"/>
              <a:ext cx="4993216" cy="1311734"/>
            </a:xfrm>
            <a:custGeom>
              <a:avLst/>
              <a:gdLst/>
              <a:ahLst/>
              <a:cxnLst/>
              <a:rect l="l" t="t" r="r" b="b"/>
              <a:pathLst>
                <a:path w="7090833" h="1311732" extrusionOk="0">
                  <a:moveTo>
                    <a:pt x="7090833" y="852324"/>
                  </a:moveTo>
                  <a:lnTo>
                    <a:pt x="3709383" y="852324"/>
                  </a:lnTo>
                  <a:lnTo>
                    <a:pt x="3709383" y="983799"/>
                  </a:lnTo>
                  <a:lnTo>
                    <a:pt x="3873349" y="983799"/>
                  </a:lnTo>
                  <a:lnTo>
                    <a:pt x="3545416" y="1311731"/>
                  </a:lnTo>
                  <a:lnTo>
                    <a:pt x="3217483" y="983799"/>
                  </a:lnTo>
                  <a:lnTo>
                    <a:pt x="3381450" y="983799"/>
                  </a:lnTo>
                  <a:lnTo>
                    <a:pt x="3381450" y="852324"/>
                  </a:lnTo>
                  <a:lnTo>
                    <a:pt x="0" y="852324"/>
                  </a:lnTo>
                  <a:lnTo>
                    <a:pt x="0" y="1"/>
                  </a:lnTo>
                  <a:lnTo>
                    <a:pt x="7090833" y="1"/>
                  </a:lnTo>
                  <a:lnTo>
                    <a:pt x="7090833" y="852324"/>
                  </a:lnTo>
                  <a:close/>
                </a:path>
              </a:pathLst>
            </a:custGeom>
            <a:solidFill>
              <a:srgbClr val="9AC87A"/>
            </a:solidFill>
            <a:ln w="25400" cap="flat" cmpd="sng">
              <a:solidFill>
                <a:schemeClr val="dk1"/>
              </a:solidFill>
              <a:prstDash val="solid"/>
              <a:round/>
              <a:headEnd type="none" w="sm" len="sm"/>
              <a:tailEnd type="none" w="sm" len="sm"/>
            </a:ln>
          </p:spPr>
          <p:txBody>
            <a:bodyPr spcFirstLastPara="1" wrap="square" lIns="156450" tIns="156450" rIns="156450" bIns="61585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Configure Spring</a:t>
              </a:r>
              <a:endParaRPr sz="1400" b="0" i="0" u="none" strike="noStrike" cap="none">
                <a:solidFill>
                  <a:srgbClr val="000000"/>
                </a:solidFill>
                <a:latin typeface="Arial"/>
                <a:ea typeface="Arial"/>
                <a:cs typeface="Arial"/>
                <a:sym typeface="Arial"/>
              </a:endParaRPr>
            </a:p>
          </p:txBody>
        </p:sp>
        <p:sp>
          <p:nvSpPr>
            <p:cNvPr id="987" name="Google Shape;987;p59"/>
            <p:cNvSpPr/>
            <p:nvPr/>
          </p:nvSpPr>
          <p:spPr>
            <a:xfrm>
              <a:off x="5631392" y="1308466"/>
              <a:ext cx="4993216" cy="1311734"/>
            </a:xfrm>
            <a:custGeom>
              <a:avLst/>
              <a:gdLst/>
              <a:ahLst/>
              <a:cxnLst/>
              <a:rect l="l" t="t" r="r" b="b"/>
              <a:pathLst>
                <a:path w="7090833" h="1311732" extrusionOk="0">
                  <a:moveTo>
                    <a:pt x="7090833" y="852324"/>
                  </a:moveTo>
                  <a:lnTo>
                    <a:pt x="3709383" y="852324"/>
                  </a:lnTo>
                  <a:lnTo>
                    <a:pt x="3709383" y="983799"/>
                  </a:lnTo>
                  <a:lnTo>
                    <a:pt x="3873349" y="983799"/>
                  </a:lnTo>
                  <a:lnTo>
                    <a:pt x="3545416" y="1311731"/>
                  </a:lnTo>
                  <a:lnTo>
                    <a:pt x="3217483" y="983799"/>
                  </a:lnTo>
                  <a:lnTo>
                    <a:pt x="3381450" y="983799"/>
                  </a:lnTo>
                  <a:lnTo>
                    <a:pt x="3381450" y="852324"/>
                  </a:lnTo>
                  <a:lnTo>
                    <a:pt x="0" y="852324"/>
                  </a:lnTo>
                  <a:lnTo>
                    <a:pt x="0" y="1"/>
                  </a:lnTo>
                  <a:lnTo>
                    <a:pt x="7090833" y="1"/>
                  </a:lnTo>
                  <a:lnTo>
                    <a:pt x="7090833" y="852324"/>
                  </a:lnTo>
                  <a:close/>
                </a:path>
              </a:pathLst>
            </a:custGeom>
            <a:solidFill>
              <a:srgbClr val="F0904E"/>
            </a:solidFill>
            <a:ln w="25400" cap="flat" cmpd="sng">
              <a:solidFill>
                <a:schemeClr val="dk1"/>
              </a:solidFill>
              <a:prstDash val="solid"/>
              <a:round/>
              <a:headEnd type="none" w="sm" len="sm"/>
              <a:tailEnd type="none" w="sm" len="sm"/>
            </a:ln>
          </p:spPr>
          <p:txBody>
            <a:bodyPr spcFirstLastPara="1" wrap="square" lIns="156450" tIns="156450" rIns="156450" bIns="615850" anchor="ctr" anchorCtr="0">
              <a:noAutofit/>
            </a:bodyPr>
            <a:lstStyle/>
            <a:p>
              <a:pPr marL="0" marR="0" lvl="0" indent="0" algn="ctr" rtl="0">
                <a:lnSpc>
                  <a:spcPct val="90000"/>
                </a:lnSpc>
                <a:spcBef>
                  <a:spcPts val="0"/>
                </a:spcBef>
                <a:spcAft>
                  <a:spcPts val="0"/>
                </a:spcAft>
                <a:buClr>
                  <a:schemeClr val="dk1"/>
                </a:buClr>
                <a:buSzPts val="2200"/>
                <a:buFont typeface="Open Sans"/>
                <a:buNone/>
              </a:pPr>
              <a:r>
                <a:rPr lang="en-US" sz="2200" b="0" i="0" u="none" strike="noStrike" cap="none">
                  <a:solidFill>
                    <a:schemeClr val="dk1"/>
                  </a:solidFill>
                  <a:latin typeface="Open Sans"/>
                  <a:ea typeface="Open Sans"/>
                  <a:cs typeface="Open Sans"/>
                  <a:sym typeface="Open Sans"/>
                </a:rPr>
                <a:t>Configure Hibernate</a:t>
              </a:r>
              <a:endParaRPr sz="1400" b="0" i="0" u="none" strike="noStrike" cap="none">
                <a:solidFill>
                  <a:srgbClr val="000000"/>
                </a:solidFill>
                <a:latin typeface="Arial"/>
                <a:ea typeface="Arial"/>
                <a:cs typeface="Arial"/>
                <a:sym typeface="Arial"/>
              </a:endParaRPr>
            </a:p>
          </p:txBody>
        </p:sp>
      </p:grpSp>
      <p:pic>
        <p:nvPicPr>
          <p:cNvPr id="988" name="Google Shape;988;p59"/>
          <p:cNvPicPr preferRelativeResize="0"/>
          <p:nvPr/>
        </p:nvPicPr>
        <p:blipFill rotWithShape="1">
          <a:blip r:embed="rId3">
            <a:alphaModFix/>
          </a:blip>
          <a:srcRect/>
          <a:stretch/>
        </p:blipFill>
        <p:spPr>
          <a:xfrm>
            <a:off x="2840768" y="603159"/>
            <a:ext cx="10580070" cy="36576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993"/>
        <p:cNvGrpSpPr/>
        <p:nvPr/>
      </p:nvGrpSpPr>
      <p:grpSpPr>
        <a:xfrm>
          <a:off x="0" y="0"/>
          <a:ext cx="0" cy="0"/>
          <a:chOff x="0" y="0"/>
          <a:chExt cx="0" cy="0"/>
        </a:xfrm>
      </p:grpSpPr>
      <p:sp>
        <p:nvSpPr>
          <p:cNvPr id="994" name="Google Shape;994;p60"/>
          <p:cNvSpPr txBox="1"/>
          <p:nvPr/>
        </p:nvSpPr>
        <p:spPr>
          <a:xfrm>
            <a:off x="12591457" y="1765347"/>
            <a:ext cx="3484800" cy="3582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rgbClr val="0F547B"/>
                </a:solidFill>
                <a:latin typeface="Open Sans"/>
                <a:ea typeface="Open Sans"/>
                <a:cs typeface="Open Sans"/>
                <a:sym typeface="Open Sans"/>
              </a:rPr>
              <a:t>Duration: 15 min.</a:t>
            </a:r>
            <a:endParaRPr sz="2200" b="1" i="0" u="none" strike="noStrike" cap="none">
              <a:solidFill>
                <a:srgbClr val="000000"/>
              </a:solidFill>
              <a:latin typeface="Open Sans"/>
              <a:ea typeface="Open Sans"/>
              <a:cs typeface="Open Sans"/>
              <a:sym typeface="Open Sans"/>
            </a:endParaRPr>
          </a:p>
        </p:txBody>
      </p:sp>
      <p:sp>
        <p:nvSpPr>
          <p:cNvPr id="995" name="Google Shape;995;p60"/>
          <p:cNvSpPr txBox="1">
            <a:spLocks noGrp="1"/>
          </p:cNvSpPr>
          <p:nvPr>
            <p:ph type="title"/>
          </p:nvPr>
        </p:nvSpPr>
        <p:spPr>
          <a:xfrm>
            <a:off x="812800" y="436395"/>
            <a:ext cx="10666185" cy="665045"/>
          </a:xfrm>
          <a:prstGeom prst="rect">
            <a:avLst/>
          </a:prstGeom>
          <a:noFill/>
          <a:ln>
            <a:noFill/>
          </a:ln>
        </p:spPr>
        <p:txBody>
          <a:bodyPr spcFirstLastPara="1" wrap="square" lIns="91425" tIns="45700" rIns="91425" bIns="45700" anchor="ctr" anchorCtr="0">
            <a:noAutofit/>
          </a:bodyPr>
          <a:lstStyle/>
          <a:p>
            <a:pPr marL="0" lvl="0" indent="0" algn="l" rtl="0">
              <a:lnSpc>
                <a:spcPct val="90000"/>
              </a:lnSpc>
              <a:spcBef>
                <a:spcPts val="0"/>
              </a:spcBef>
              <a:spcAft>
                <a:spcPts val="0"/>
              </a:spcAft>
              <a:buSzPts val="4400"/>
              <a:buNone/>
            </a:pPr>
            <a:r>
              <a:rPr lang="en-US">
                <a:solidFill>
                  <a:schemeClr val="lt1"/>
                </a:solidFill>
                <a:latin typeface="Open Sans"/>
                <a:ea typeface="Open Sans"/>
                <a:cs typeface="Open Sans"/>
                <a:sym typeface="Open Sans"/>
              </a:rPr>
              <a:t>Integration of Hibernate with Spring</a:t>
            </a:r>
            <a:endParaRPr b="0">
              <a:solidFill>
                <a:schemeClr val="lt1"/>
              </a:solidFill>
              <a:latin typeface="Open Sans"/>
              <a:ea typeface="Open Sans"/>
              <a:cs typeface="Open Sans"/>
              <a:sym typeface="Open Sans"/>
            </a:endParaRPr>
          </a:p>
        </p:txBody>
      </p:sp>
      <p:sp>
        <p:nvSpPr>
          <p:cNvPr id="996" name="Google Shape;996;p60"/>
          <p:cNvSpPr txBox="1">
            <a:spLocks noGrp="1"/>
          </p:cNvSpPr>
          <p:nvPr>
            <p:ph type="body" idx="1"/>
          </p:nvPr>
        </p:nvSpPr>
        <p:spPr>
          <a:xfrm>
            <a:off x="1902091" y="2363465"/>
            <a:ext cx="12451817" cy="5527418"/>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Clr>
                <a:srgbClr val="000000"/>
              </a:buClr>
              <a:buSzPts val="2200"/>
              <a:buNone/>
            </a:pPr>
            <a:r>
              <a:rPr lang="en-US" b="1">
                <a:solidFill>
                  <a:srgbClr val="3F3F3F"/>
                </a:solidFill>
                <a:latin typeface="Open Sans"/>
                <a:ea typeface="Open Sans"/>
                <a:cs typeface="Open Sans"/>
                <a:sym typeface="Open Sans"/>
              </a:rPr>
              <a:t>Problem Statement: </a:t>
            </a:r>
            <a:endParaRPr/>
          </a:p>
          <a:p>
            <a:pPr marL="50800" lvl="0" indent="0" algn="l" rtl="0">
              <a:lnSpc>
                <a:spcPct val="90000"/>
              </a:lnSpc>
              <a:spcBef>
                <a:spcPts val="1000"/>
              </a:spcBef>
              <a:spcAft>
                <a:spcPts val="0"/>
              </a:spcAft>
              <a:buClr>
                <a:srgbClr val="000000"/>
              </a:buClr>
              <a:buSzPts val="2200"/>
              <a:buNone/>
            </a:pPr>
            <a:r>
              <a:rPr lang="en-US">
                <a:solidFill>
                  <a:srgbClr val="3F3F3F"/>
                </a:solidFill>
                <a:latin typeface="Open Sans"/>
                <a:ea typeface="Open Sans"/>
                <a:cs typeface="Open Sans"/>
                <a:sym typeface="Open Sans"/>
              </a:rPr>
              <a:t>Demonstrate integration of Hibernate with spring.</a:t>
            </a:r>
            <a:endParaRPr/>
          </a:p>
          <a:p>
            <a:pPr marL="50800" lvl="0" indent="0" algn="l" rtl="0">
              <a:lnSpc>
                <a:spcPct val="90000"/>
              </a:lnSpc>
              <a:spcBef>
                <a:spcPts val="1000"/>
              </a:spcBef>
              <a:spcAft>
                <a:spcPts val="0"/>
              </a:spcAft>
              <a:buSzPts val="2800"/>
              <a:buNone/>
            </a:pPr>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1001"/>
        <p:cNvGrpSpPr/>
        <p:nvPr/>
      </p:nvGrpSpPr>
      <p:grpSpPr>
        <a:xfrm>
          <a:off x="0" y="0"/>
          <a:ext cx="0" cy="0"/>
          <a:chOff x="0" y="0"/>
          <a:chExt cx="0" cy="0"/>
        </a:xfrm>
      </p:grpSpPr>
      <p:sp>
        <p:nvSpPr>
          <p:cNvPr id="1002" name="Google Shape;1002;p61"/>
          <p:cNvSpPr txBox="1">
            <a:spLocks noGrp="1"/>
          </p:cNvSpPr>
          <p:nvPr>
            <p:ph type="title"/>
          </p:nvPr>
        </p:nvSpPr>
        <p:spPr>
          <a:xfrm>
            <a:off x="-10160" y="229878"/>
            <a:ext cx="16276320" cy="687244"/>
          </a:xfrm>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rgbClr val="3F3F3F"/>
              </a:buClr>
              <a:buSzPts val="3200"/>
              <a:buNone/>
            </a:pPr>
            <a:r>
              <a:rPr lang="en-US">
                <a:latin typeface="Open Sans"/>
                <a:ea typeface="Open Sans"/>
                <a:cs typeface="Open Sans"/>
                <a:sym typeface="Open Sans"/>
              </a:rPr>
              <a:t>Assisted Practice: Guidelines </a:t>
            </a:r>
            <a:endParaRPr>
              <a:latin typeface="Open Sans"/>
              <a:ea typeface="Open Sans"/>
              <a:cs typeface="Open Sans"/>
              <a:sym typeface="Open Sans"/>
            </a:endParaRPr>
          </a:p>
        </p:txBody>
      </p:sp>
      <p:sp>
        <p:nvSpPr>
          <p:cNvPr id="1003" name="Google Shape;1003;p61"/>
          <p:cNvSpPr txBox="1"/>
          <p:nvPr/>
        </p:nvSpPr>
        <p:spPr>
          <a:xfrm>
            <a:off x="1167722" y="1465330"/>
            <a:ext cx="14057100" cy="7571100"/>
          </a:xfrm>
          <a:prstGeom prst="rect">
            <a:avLst/>
          </a:prstGeom>
          <a:noFill/>
          <a:ln>
            <a:noFill/>
          </a:ln>
        </p:spPr>
        <p:txBody>
          <a:bodyPr spcFirstLastPara="1" wrap="square" lIns="91425" tIns="45700" rIns="91425" bIns="45700" anchor="t" anchorCtr="0">
            <a:spAutoFit/>
          </a:bodyPr>
          <a:lstStyle/>
          <a:p>
            <a:pPr marL="0" marR="0" lvl="0" indent="0" algn="l" rtl="0">
              <a:lnSpc>
                <a:spcPct val="200000"/>
              </a:lnSpc>
              <a:spcBef>
                <a:spcPts val="0"/>
              </a:spcBef>
              <a:spcAft>
                <a:spcPts val="0"/>
              </a:spcAft>
              <a:buNone/>
            </a:pPr>
            <a:r>
              <a:rPr lang="en-US" sz="2200">
                <a:solidFill>
                  <a:srgbClr val="3F3F3F"/>
                </a:solidFill>
                <a:latin typeface="Open Sans"/>
                <a:ea typeface="Open Sans"/>
                <a:cs typeface="Open Sans"/>
                <a:sym typeface="Open Sans"/>
              </a:rPr>
              <a:t>Steps to Demonstrate Hibernate and Spring Integration:</a:t>
            </a:r>
            <a:endParaRPr sz="2200">
              <a:solidFill>
                <a:srgbClr val="3F3F3F"/>
              </a:solidFill>
              <a:latin typeface="Open Sans"/>
              <a:ea typeface="Open Sans"/>
              <a:cs typeface="Open Sans"/>
              <a:sym typeface="Open Sans"/>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Maven web project in Eclipse IDE ; configure pom.xml to include the required dependencies. </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database (e-commerce) and a table (e-product) that contains laptops for sale.</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Configure Hibernate with hibernate.cfg.xml.</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entity, DAO, and controller classes for the table.</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Setup the dispatcher servlet using XML.  </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Create a jsp page to view the e-product table data. Create an HTML file that calls the controller.</a:t>
            </a:r>
            <a:endParaRPr sz="1400" b="0" i="0" u="none" strike="noStrike" cap="none">
              <a:solidFill>
                <a:srgbClr val="000000"/>
              </a:solidFill>
              <a:latin typeface="Arial"/>
              <a:ea typeface="Arial"/>
              <a:cs typeface="Arial"/>
              <a:sym typeface="Arial"/>
            </a:endParaRPr>
          </a:p>
          <a:p>
            <a:pPr marL="457189" marR="0" lvl="0" indent="-457189"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Run the HTML file on the browser.</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Initialize the .git file. Add and commit the program files.</a:t>
            </a:r>
            <a:endParaRPr sz="1400" b="0" i="0" u="none" strike="noStrike" cap="none">
              <a:solidFill>
                <a:srgbClr val="000000"/>
              </a:solidFill>
              <a:latin typeface="Arial"/>
              <a:ea typeface="Arial"/>
              <a:cs typeface="Arial"/>
              <a:sym typeface="Arial"/>
            </a:endParaRPr>
          </a:p>
          <a:p>
            <a:pPr marL="457200" marR="0" lvl="0" indent="-457200" algn="l" rtl="0">
              <a:lnSpc>
                <a:spcPct val="200000"/>
              </a:lnSpc>
              <a:spcBef>
                <a:spcPts val="0"/>
              </a:spcBef>
              <a:spcAft>
                <a:spcPts val="0"/>
              </a:spcAft>
              <a:buClr>
                <a:srgbClr val="3F3F3F"/>
              </a:buClr>
              <a:buSzPts val="2200"/>
              <a:buFont typeface="Open Sans"/>
              <a:buAutoNum type="arabicPeriod"/>
            </a:pPr>
            <a:r>
              <a:rPr lang="en-US" sz="2200" b="0" i="0" u="none" strike="noStrike" cap="none">
                <a:solidFill>
                  <a:srgbClr val="3F3F3F"/>
                </a:solidFill>
                <a:latin typeface="Open Sans"/>
                <a:ea typeface="Open Sans"/>
                <a:cs typeface="Open Sans"/>
                <a:sym typeface="Open Sans"/>
              </a:rPr>
              <a:t>Push the code to your GitHub repository.</a:t>
            </a:r>
            <a:endParaRPr sz="1400" b="0" i="0" u="none" strike="noStrike" cap="none">
              <a:solidFill>
                <a:srgbClr val="000000"/>
              </a:solidFill>
              <a:latin typeface="Arial"/>
              <a:ea typeface="Arial"/>
              <a:cs typeface="Arial"/>
              <a:sym typeface="Arial"/>
            </a:endParaRPr>
          </a:p>
        </p:txBody>
      </p:sp>
      <p:pic>
        <p:nvPicPr>
          <p:cNvPr id="1004" name="Google Shape;1004;p61"/>
          <p:cNvPicPr preferRelativeResize="0"/>
          <p:nvPr/>
        </p:nvPicPr>
        <p:blipFill rotWithShape="1">
          <a:blip r:embed="rId3">
            <a:alphaModFix/>
          </a:blip>
          <a:srcRect/>
          <a:stretch/>
        </p:blipFill>
        <p:spPr>
          <a:xfrm>
            <a:off x="4556275" y="603150"/>
            <a:ext cx="7149050" cy="365775"/>
          </a:xfrm>
          <a:prstGeom prst="rect">
            <a:avLst/>
          </a:prstGeom>
          <a:noFill/>
          <a:ln>
            <a:noFill/>
          </a:ln>
        </p:spPr>
      </p:pic>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1009"/>
        <p:cNvGrpSpPr/>
        <p:nvPr/>
      </p:nvGrpSpPr>
      <p:grpSpPr>
        <a:xfrm>
          <a:off x="0" y="0"/>
          <a:ext cx="0" cy="0"/>
          <a:chOff x="0" y="0"/>
          <a:chExt cx="0" cy="0"/>
        </a:xfrm>
      </p:grpSpPr>
      <p:sp>
        <p:nvSpPr>
          <p:cNvPr id="1010" name="Google Shape;1010;p82"/>
          <p:cNvSpPr txBox="1"/>
          <p:nvPr/>
        </p:nvSpPr>
        <p:spPr>
          <a:xfrm>
            <a:off x="1571075" y="1814020"/>
            <a:ext cx="8946989" cy="70936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Hibernate is open-source, performs fast, has automatic table creation, and provides query statistics. </a:t>
            </a:r>
            <a:endParaRPr sz="1400" b="0" i="0" u="none" strike="noStrike" cap="none">
              <a:solidFill>
                <a:srgbClr val="000000"/>
              </a:solidFill>
              <a:latin typeface="Arial"/>
              <a:ea typeface="Arial"/>
              <a:cs typeface="Arial"/>
              <a:sym typeface="Arial"/>
            </a:endParaRPr>
          </a:p>
        </p:txBody>
      </p:sp>
      <p:sp>
        <p:nvSpPr>
          <p:cNvPr id="1011" name="Google Shape;1011;p82"/>
          <p:cNvSpPr txBox="1"/>
          <p:nvPr/>
        </p:nvSpPr>
        <p:spPr>
          <a:xfrm>
            <a:off x="1571073" y="3364612"/>
            <a:ext cx="8946900" cy="7803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Hibernate supports Oracle database, MySQL database, PostgreSQL database, Front Base database, and Microsoft SQL Server database.</a:t>
            </a:r>
            <a:endParaRPr sz="1400" b="0" i="0" u="none" strike="noStrike" cap="none">
              <a:solidFill>
                <a:srgbClr val="000000"/>
              </a:solidFill>
              <a:latin typeface="Arial"/>
              <a:ea typeface="Arial"/>
              <a:cs typeface="Arial"/>
              <a:sym typeface="Arial"/>
            </a:endParaRPr>
          </a:p>
        </p:txBody>
      </p:sp>
      <p:sp>
        <p:nvSpPr>
          <p:cNvPr id="1012" name="Google Shape;1012;p82"/>
          <p:cNvSpPr txBox="1"/>
          <p:nvPr/>
        </p:nvSpPr>
        <p:spPr>
          <a:xfrm>
            <a:off x="1564900" y="5093634"/>
            <a:ext cx="8946900" cy="5862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US" sz="2200" b="0" i="0" u="none" strike="noStrike" cap="none">
                <a:solidFill>
                  <a:srgbClr val="3F3F3F"/>
                </a:solidFill>
                <a:latin typeface="Open Sans"/>
                <a:ea typeface="Open Sans"/>
                <a:cs typeface="Open Sans"/>
                <a:sym typeface="Open Sans"/>
              </a:rPr>
              <a:t>Hibernate framework uses Log4j and Logback frameworks for logging.</a:t>
            </a:r>
            <a:endParaRPr sz="2200" b="0" i="0" u="none" strike="noStrike" cap="none">
              <a:solidFill>
                <a:srgbClr val="3F3F3F"/>
              </a:solidFill>
              <a:latin typeface="Open Sans"/>
              <a:ea typeface="Open Sans"/>
              <a:cs typeface="Open Sans"/>
              <a:sym typeface="Open Sans"/>
            </a:endParaRPr>
          </a:p>
        </p:txBody>
      </p:sp>
      <p:sp>
        <p:nvSpPr>
          <p:cNvPr id="1013" name="Google Shape;1013;p82"/>
          <p:cNvSpPr txBox="1"/>
          <p:nvPr/>
        </p:nvSpPr>
        <p:spPr>
          <a:xfrm>
            <a:off x="1564900" y="6838896"/>
            <a:ext cx="8946900" cy="5862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2200"/>
              <a:buFont typeface="Arial"/>
              <a:buNone/>
            </a:pPr>
            <a:r>
              <a:rPr lang="en-US" sz="2200">
                <a:solidFill>
                  <a:srgbClr val="3F3F3F"/>
                </a:solidFill>
                <a:latin typeface="Open Sans"/>
                <a:ea typeface="Open Sans"/>
                <a:cs typeface="Open Sans"/>
                <a:sym typeface="Open Sans"/>
              </a:rPr>
              <a:t>Spring framework is a lightweight and comprehensive configuration and programming model designed to develop Java-based applications.</a:t>
            </a:r>
            <a:endParaRPr sz="2200">
              <a:solidFill>
                <a:srgbClr val="3F3F3F"/>
              </a:solidFill>
              <a:latin typeface="Open Sans"/>
              <a:ea typeface="Open Sans"/>
              <a:cs typeface="Open Sans"/>
              <a:sym typeface="Open Sans"/>
            </a:endParaRPr>
          </a:p>
          <a:p>
            <a:pPr marL="0" marR="0" lvl="0" indent="0" algn="l" rtl="0">
              <a:lnSpc>
                <a:spcPct val="100000"/>
              </a:lnSpc>
              <a:spcBef>
                <a:spcPts val="0"/>
              </a:spcBef>
              <a:spcAft>
                <a:spcPts val="0"/>
              </a:spcAft>
              <a:buClr>
                <a:srgbClr val="3F3F3F"/>
              </a:buClr>
              <a:buSzPts val="2200"/>
              <a:buFont typeface="Arial"/>
              <a:buNone/>
            </a:pPr>
            <a:endParaRPr sz="2200">
              <a:solidFill>
                <a:srgbClr val="3F3F3F"/>
              </a:solidFill>
              <a:latin typeface="Open Sans"/>
              <a:ea typeface="Open Sans"/>
              <a:cs typeface="Open Sans"/>
              <a:sym typeface="Open Sans"/>
            </a:endParaRPr>
          </a:p>
        </p:txBody>
      </p:sp>
      <p:pic>
        <p:nvPicPr>
          <p:cNvPr id="1014" name="Google Shape;1014;p82"/>
          <p:cNvPicPr preferRelativeResize="0"/>
          <p:nvPr/>
        </p:nvPicPr>
        <p:blipFill rotWithShape="1">
          <a:blip r:embed="rId3">
            <a:alphaModFix/>
          </a:blip>
          <a:srcRect/>
          <a:stretch/>
        </p:blipFill>
        <p:spPr>
          <a:xfrm>
            <a:off x="906135" y="1854510"/>
            <a:ext cx="489335" cy="489335"/>
          </a:xfrm>
          <a:prstGeom prst="rect">
            <a:avLst/>
          </a:prstGeom>
          <a:noFill/>
          <a:ln>
            <a:noFill/>
          </a:ln>
        </p:spPr>
      </p:pic>
      <p:pic>
        <p:nvPicPr>
          <p:cNvPr id="1015" name="Google Shape;1015;p82"/>
          <p:cNvPicPr preferRelativeResize="0"/>
          <p:nvPr/>
        </p:nvPicPr>
        <p:blipFill rotWithShape="1">
          <a:blip r:embed="rId3">
            <a:alphaModFix/>
          </a:blip>
          <a:srcRect/>
          <a:stretch/>
        </p:blipFill>
        <p:spPr>
          <a:xfrm>
            <a:off x="906135" y="3510093"/>
            <a:ext cx="489335" cy="489335"/>
          </a:xfrm>
          <a:prstGeom prst="rect">
            <a:avLst/>
          </a:prstGeom>
          <a:noFill/>
          <a:ln>
            <a:noFill/>
          </a:ln>
        </p:spPr>
      </p:pic>
      <p:pic>
        <p:nvPicPr>
          <p:cNvPr id="1016" name="Google Shape;1016;p82"/>
          <p:cNvPicPr preferRelativeResize="0"/>
          <p:nvPr/>
        </p:nvPicPr>
        <p:blipFill rotWithShape="1">
          <a:blip r:embed="rId3">
            <a:alphaModFix/>
          </a:blip>
          <a:srcRect/>
          <a:stretch/>
        </p:blipFill>
        <p:spPr>
          <a:xfrm>
            <a:off x="906135" y="5142091"/>
            <a:ext cx="489335" cy="489335"/>
          </a:xfrm>
          <a:prstGeom prst="rect">
            <a:avLst/>
          </a:prstGeom>
          <a:noFill/>
          <a:ln>
            <a:noFill/>
          </a:ln>
        </p:spPr>
      </p:pic>
      <p:pic>
        <p:nvPicPr>
          <p:cNvPr id="1017" name="Google Shape;1017;p82"/>
          <p:cNvPicPr preferRelativeResize="0"/>
          <p:nvPr/>
        </p:nvPicPr>
        <p:blipFill rotWithShape="1">
          <a:blip r:embed="rId3">
            <a:alphaModFix/>
          </a:blip>
          <a:srcRect/>
          <a:stretch/>
        </p:blipFill>
        <p:spPr>
          <a:xfrm>
            <a:off x="906135" y="6430153"/>
            <a:ext cx="489335" cy="489335"/>
          </a:xfrm>
          <a:prstGeom prst="rect">
            <a:avLst/>
          </a:prstGeom>
          <a:noFill/>
          <a:ln>
            <a:noFill/>
          </a:ln>
        </p:spPr>
      </p:pic>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1021"/>
        <p:cNvGrpSpPr/>
        <p:nvPr/>
      </p:nvGrpSpPr>
      <p:grpSpPr>
        <a:xfrm>
          <a:off x="0" y="0"/>
          <a:ext cx="0" cy="0"/>
          <a:chOff x="0" y="0"/>
          <a:chExt cx="0" cy="0"/>
        </a:xfrm>
      </p:grpSpPr>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1025"/>
        <p:cNvGrpSpPr/>
        <p:nvPr/>
      </p:nvGrpSpPr>
      <p:grpSpPr>
        <a:xfrm>
          <a:off x="0" y="0"/>
          <a:ext cx="0" cy="0"/>
          <a:chOff x="0" y="0"/>
          <a:chExt cx="0" cy="0"/>
        </a:xfrm>
      </p:grpSpPr>
      <p:sp>
        <p:nvSpPr>
          <p:cNvPr id="1026" name="Google Shape;1026;p84"/>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1</a:t>
            </a:r>
            <a:endParaRPr/>
          </a:p>
        </p:txBody>
      </p:sp>
      <p:sp>
        <p:nvSpPr>
          <p:cNvPr id="1027" name="Google Shape;1027;p84"/>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When is component mapping used?</a:t>
            </a:r>
            <a:endParaRPr/>
          </a:p>
        </p:txBody>
      </p:sp>
      <p:sp>
        <p:nvSpPr>
          <p:cNvPr id="1028" name="Google Shape;1028;p84"/>
          <p:cNvSpPr txBox="1">
            <a:spLocks noGrp="1"/>
          </p:cNvSpPr>
          <p:nvPr>
            <p:ph type="body" idx="3"/>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When the dependent object has a foreign key</a:t>
            </a:r>
            <a:endParaRPr/>
          </a:p>
        </p:txBody>
      </p:sp>
      <p:sp>
        <p:nvSpPr>
          <p:cNvPr id="1029" name="Google Shape;1029;p84"/>
          <p:cNvSpPr txBox="1">
            <a:spLocks noGrp="1"/>
          </p:cNvSpPr>
          <p:nvPr>
            <p:ph type="body" idx="4"/>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When the dependent object has a primary key</a:t>
            </a:r>
            <a:endParaRPr/>
          </a:p>
        </p:txBody>
      </p:sp>
      <p:sp>
        <p:nvSpPr>
          <p:cNvPr id="1030" name="Google Shape;1030;p84"/>
          <p:cNvSpPr txBox="1">
            <a:spLocks noGrp="1"/>
          </p:cNvSpPr>
          <p:nvPr>
            <p:ph type="body" idx="5"/>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0" lvl="0" indent="0" algn="l" rtl="0">
              <a:lnSpc>
                <a:spcPct val="90000"/>
              </a:lnSpc>
              <a:spcBef>
                <a:spcPts val="0"/>
              </a:spcBef>
              <a:spcAft>
                <a:spcPts val="0"/>
              </a:spcAft>
              <a:buClr>
                <a:srgbClr val="3F3F3F"/>
              </a:buClr>
              <a:buSzPts val="2200"/>
              <a:buNone/>
            </a:pPr>
            <a:r>
              <a:rPr lang="en-US">
                <a:solidFill>
                  <a:srgbClr val="333333"/>
                </a:solidFill>
              </a:rPr>
              <a:t>When the dependent object does not have a foreign key</a:t>
            </a:r>
            <a:endParaRPr/>
          </a:p>
        </p:txBody>
      </p:sp>
      <p:sp>
        <p:nvSpPr>
          <p:cNvPr id="1031" name="Google Shape;1031;p84"/>
          <p:cNvSpPr txBox="1">
            <a:spLocks noGrp="1"/>
          </p:cNvSpPr>
          <p:nvPr>
            <p:ph type="body" idx="6"/>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0" lvl="0" indent="0" algn="l" rtl="0">
              <a:lnSpc>
                <a:spcPct val="90000"/>
              </a:lnSpc>
              <a:spcBef>
                <a:spcPts val="0"/>
              </a:spcBef>
              <a:spcAft>
                <a:spcPts val="0"/>
              </a:spcAft>
              <a:buClr>
                <a:srgbClr val="3F3F3F"/>
              </a:buClr>
              <a:buSzPts val="2200"/>
              <a:buNone/>
            </a:pPr>
            <a:r>
              <a:rPr lang="en-US">
                <a:solidFill>
                  <a:srgbClr val="333333"/>
                </a:solidFill>
              </a:rPr>
              <a:t>When the dependent object does not have a primary key</a:t>
            </a:r>
            <a:endParaRP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1035"/>
        <p:cNvGrpSpPr/>
        <p:nvPr/>
      </p:nvGrpSpPr>
      <p:grpSpPr>
        <a:xfrm>
          <a:off x="0" y="0"/>
          <a:ext cx="0" cy="0"/>
          <a:chOff x="0" y="0"/>
          <a:chExt cx="0" cy="0"/>
        </a:xfrm>
      </p:grpSpPr>
      <p:sp>
        <p:nvSpPr>
          <p:cNvPr id="1036" name="Google Shape;1036;p85"/>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1</a:t>
            </a:r>
            <a:endParaRPr/>
          </a:p>
        </p:txBody>
      </p:sp>
      <p:sp>
        <p:nvSpPr>
          <p:cNvPr id="1037" name="Google Shape;1037;p85"/>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When is component mapping used?</a:t>
            </a:r>
            <a:endParaRPr/>
          </a:p>
        </p:txBody>
      </p:sp>
      <p:sp>
        <p:nvSpPr>
          <p:cNvPr id="1038" name="Google Shape;1038;p85"/>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p>
            <a:pPr marL="50800" lvl="0" indent="0" algn="l" rtl="0">
              <a:lnSpc>
                <a:spcPct val="90000"/>
              </a:lnSpc>
              <a:spcBef>
                <a:spcPts val="1000"/>
              </a:spcBef>
              <a:spcAft>
                <a:spcPts val="0"/>
              </a:spcAft>
              <a:buSzPts val="2800"/>
              <a:buNone/>
            </a:pPr>
            <a:r>
              <a:rPr lang="en-US"/>
              <a:t>Component mapping is used when the dependent object does not have a primary key.</a:t>
            </a:r>
            <a:endParaRPr/>
          </a:p>
        </p:txBody>
      </p:sp>
      <p:sp>
        <p:nvSpPr>
          <p:cNvPr id="1039" name="Google Shape;1039;p85"/>
          <p:cNvSpPr txBox="1">
            <a:spLocks noGrp="1"/>
          </p:cNvSpPr>
          <p:nvPr>
            <p:ph type="body" idx="4"/>
          </p:nvPr>
        </p:nvSpPr>
        <p:spPr>
          <a:xfrm>
            <a:off x="3346904" y="7368182"/>
            <a:ext cx="9022188" cy="400110"/>
          </a:xfrm>
          <a:prstGeom prst="rect">
            <a:avLst/>
          </a:prstGeom>
          <a:noFill/>
          <a:ln>
            <a:noFill/>
          </a:ln>
        </p:spPr>
        <p:txBody>
          <a:bodyPr spcFirstLastPara="1" wrap="square" lIns="91425" tIns="0" rIns="91425" bIns="0" anchor="b" anchorCtr="0">
            <a:noAutofit/>
          </a:bodyPr>
          <a:lstStyle/>
          <a:p>
            <a:pPr marL="50800" lvl="0" indent="0" algn="l" rtl="0">
              <a:lnSpc>
                <a:spcPct val="90000"/>
              </a:lnSpc>
              <a:spcBef>
                <a:spcPts val="1000"/>
              </a:spcBef>
              <a:spcAft>
                <a:spcPts val="0"/>
              </a:spcAft>
              <a:buSzPts val="2800"/>
              <a:buNone/>
            </a:pPr>
            <a:r>
              <a:rPr lang="en-US"/>
              <a:t>D. When the dependent object does not have a primary key</a:t>
            </a:r>
            <a:endParaRPr/>
          </a:p>
        </p:txBody>
      </p:sp>
      <p:sp>
        <p:nvSpPr>
          <p:cNvPr id="1040" name="Google Shape;1040;p85"/>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When the dependent object has a foreign key</a:t>
            </a:r>
            <a:endParaRPr/>
          </a:p>
        </p:txBody>
      </p:sp>
      <p:sp>
        <p:nvSpPr>
          <p:cNvPr id="1041" name="Google Shape;1041;p85"/>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When the dependent object has a primary key</a:t>
            </a:r>
            <a:endParaRPr/>
          </a:p>
        </p:txBody>
      </p:sp>
      <p:sp>
        <p:nvSpPr>
          <p:cNvPr id="1042" name="Google Shape;1042;p85"/>
          <p:cNvSpPr txBox="1">
            <a:spLocks noGrp="1"/>
          </p:cNvSpPr>
          <p:nvPr>
            <p:ph type="body" idx="7"/>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0" lvl="0" indent="0" algn="l" rtl="0">
              <a:lnSpc>
                <a:spcPct val="90000"/>
              </a:lnSpc>
              <a:spcBef>
                <a:spcPts val="0"/>
              </a:spcBef>
              <a:spcAft>
                <a:spcPts val="0"/>
              </a:spcAft>
              <a:buClr>
                <a:srgbClr val="3F3F3F"/>
              </a:buClr>
              <a:buSzPts val="2200"/>
              <a:buNone/>
            </a:pPr>
            <a:r>
              <a:rPr lang="en-US">
                <a:solidFill>
                  <a:srgbClr val="333333"/>
                </a:solidFill>
              </a:rPr>
              <a:t>When the dependent object does not have a foreign key</a:t>
            </a:r>
            <a:endParaRPr/>
          </a:p>
        </p:txBody>
      </p:sp>
      <p:sp>
        <p:nvSpPr>
          <p:cNvPr id="1043" name="Google Shape;1043;p85"/>
          <p:cNvSpPr txBox="1">
            <a:spLocks noGrp="1"/>
          </p:cNvSpPr>
          <p:nvPr>
            <p:ph type="body" idx="8"/>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0" lvl="0" indent="0" algn="l" rtl="0">
              <a:lnSpc>
                <a:spcPct val="90000"/>
              </a:lnSpc>
              <a:spcBef>
                <a:spcPts val="0"/>
              </a:spcBef>
              <a:spcAft>
                <a:spcPts val="0"/>
              </a:spcAft>
              <a:buClr>
                <a:srgbClr val="3F3F3F"/>
              </a:buClr>
              <a:buSzPts val="2200"/>
              <a:buNone/>
            </a:pPr>
            <a:r>
              <a:rPr lang="en-US">
                <a:solidFill>
                  <a:srgbClr val="333333"/>
                </a:solidFill>
              </a:rPr>
              <a:t>When the dependent object does not have a primary key</a:t>
            </a:r>
            <a:endParaRP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1047"/>
        <p:cNvGrpSpPr/>
        <p:nvPr/>
      </p:nvGrpSpPr>
      <p:grpSpPr>
        <a:xfrm>
          <a:off x="0" y="0"/>
          <a:ext cx="0" cy="0"/>
          <a:chOff x="0" y="0"/>
          <a:chExt cx="0" cy="0"/>
        </a:xfrm>
      </p:grpSpPr>
      <p:sp>
        <p:nvSpPr>
          <p:cNvPr id="1048" name="Google Shape;1048;p86"/>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2</a:t>
            </a:r>
            <a:endParaRPr/>
          </a:p>
        </p:txBody>
      </p:sp>
      <p:sp>
        <p:nvSpPr>
          <p:cNvPr id="1049" name="Google Shape;1049;p86"/>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All EJB 3-compliant ORM applications must use ________ for mapping.</a:t>
            </a:r>
            <a:endParaRPr/>
          </a:p>
        </p:txBody>
      </p:sp>
      <p:sp>
        <p:nvSpPr>
          <p:cNvPr id="1050" name="Google Shape;1050;p86"/>
          <p:cNvSpPr txBox="1">
            <a:spLocks noGrp="1"/>
          </p:cNvSpPr>
          <p:nvPr>
            <p:ph type="body" idx="3"/>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Annotations</a:t>
            </a:r>
            <a:endParaRPr/>
          </a:p>
        </p:txBody>
      </p:sp>
      <p:sp>
        <p:nvSpPr>
          <p:cNvPr id="1051" name="Google Shape;1051;p86"/>
          <p:cNvSpPr txBox="1">
            <a:spLocks noGrp="1"/>
          </p:cNvSpPr>
          <p:nvPr>
            <p:ph type="body" idx="4"/>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XML file</a:t>
            </a:r>
            <a:endParaRPr/>
          </a:p>
        </p:txBody>
      </p:sp>
      <p:sp>
        <p:nvSpPr>
          <p:cNvPr id="1052" name="Google Shape;1052;p86"/>
          <p:cNvSpPr txBox="1">
            <a:spLocks noGrp="1"/>
          </p:cNvSpPr>
          <p:nvPr>
            <p:ph type="body" idx="5"/>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Component mapping</a:t>
            </a:r>
            <a:endParaRPr/>
          </a:p>
        </p:txBody>
      </p:sp>
      <p:sp>
        <p:nvSpPr>
          <p:cNvPr id="1053" name="Google Shape;1053;p86"/>
          <p:cNvSpPr txBox="1">
            <a:spLocks noGrp="1"/>
          </p:cNvSpPr>
          <p:nvPr>
            <p:ph type="body" idx="6"/>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Bidirectional mapping</a:t>
            </a:r>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1057"/>
        <p:cNvGrpSpPr/>
        <p:nvPr/>
      </p:nvGrpSpPr>
      <p:grpSpPr>
        <a:xfrm>
          <a:off x="0" y="0"/>
          <a:ext cx="0" cy="0"/>
          <a:chOff x="0" y="0"/>
          <a:chExt cx="0" cy="0"/>
        </a:xfrm>
      </p:grpSpPr>
      <p:sp>
        <p:nvSpPr>
          <p:cNvPr id="1058" name="Google Shape;1058;p87"/>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2</a:t>
            </a:r>
            <a:endParaRPr/>
          </a:p>
        </p:txBody>
      </p:sp>
      <p:sp>
        <p:nvSpPr>
          <p:cNvPr id="1059" name="Google Shape;1059;p87"/>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All EJB 3-compliant ORM applications must use ________ for mapping.</a:t>
            </a:r>
            <a:endParaRPr/>
          </a:p>
        </p:txBody>
      </p:sp>
      <p:sp>
        <p:nvSpPr>
          <p:cNvPr id="1060" name="Google Shape;1060;p87"/>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p>
            <a:pPr marL="50800" lvl="0" indent="0" algn="l" rtl="0">
              <a:lnSpc>
                <a:spcPct val="90000"/>
              </a:lnSpc>
              <a:spcBef>
                <a:spcPts val="1000"/>
              </a:spcBef>
              <a:spcAft>
                <a:spcPts val="0"/>
              </a:spcAft>
              <a:buSzPts val="2800"/>
              <a:buNone/>
            </a:pPr>
            <a:r>
              <a:rPr lang="en-US"/>
              <a:t>All EJB 3 compliant ORM applications must use annotations for mapping.</a:t>
            </a:r>
            <a:endParaRPr/>
          </a:p>
        </p:txBody>
      </p:sp>
      <p:sp>
        <p:nvSpPr>
          <p:cNvPr id="1061" name="Google Shape;1061;p87"/>
          <p:cNvSpPr txBox="1">
            <a:spLocks noGrp="1"/>
          </p:cNvSpPr>
          <p:nvPr>
            <p:ph type="body" idx="4"/>
          </p:nvPr>
        </p:nvSpPr>
        <p:spPr>
          <a:xfrm>
            <a:off x="3346904" y="7368182"/>
            <a:ext cx="9022188" cy="400110"/>
          </a:xfrm>
          <a:prstGeom prst="rect">
            <a:avLst/>
          </a:prstGeom>
          <a:noFill/>
          <a:ln>
            <a:noFill/>
          </a:ln>
        </p:spPr>
        <p:txBody>
          <a:bodyPr spcFirstLastPara="1" wrap="square" lIns="91425" tIns="0" rIns="91425" bIns="0" anchor="b" anchorCtr="0">
            <a:noAutofit/>
          </a:bodyPr>
          <a:lstStyle/>
          <a:p>
            <a:pPr marL="50800" lvl="0" indent="0" algn="l" rtl="0">
              <a:lnSpc>
                <a:spcPct val="90000"/>
              </a:lnSpc>
              <a:spcBef>
                <a:spcPts val="1000"/>
              </a:spcBef>
              <a:spcAft>
                <a:spcPts val="0"/>
              </a:spcAft>
              <a:buSzPts val="2800"/>
              <a:buNone/>
            </a:pPr>
            <a:r>
              <a:rPr lang="en-US"/>
              <a:t>A. Annotations</a:t>
            </a:r>
            <a:endParaRPr/>
          </a:p>
        </p:txBody>
      </p:sp>
      <p:sp>
        <p:nvSpPr>
          <p:cNvPr id="1062" name="Google Shape;1062;p87"/>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Annotations</a:t>
            </a:r>
            <a:endParaRPr/>
          </a:p>
        </p:txBody>
      </p:sp>
      <p:sp>
        <p:nvSpPr>
          <p:cNvPr id="1063" name="Google Shape;1063;p87"/>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XML file</a:t>
            </a:r>
            <a:endParaRPr/>
          </a:p>
        </p:txBody>
      </p:sp>
      <p:sp>
        <p:nvSpPr>
          <p:cNvPr id="1064" name="Google Shape;1064;p87"/>
          <p:cNvSpPr txBox="1">
            <a:spLocks noGrp="1"/>
          </p:cNvSpPr>
          <p:nvPr>
            <p:ph type="body" idx="7"/>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Component mapping</a:t>
            </a:r>
            <a:endParaRPr/>
          </a:p>
        </p:txBody>
      </p:sp>
      <p:sp>
        <p:nvSpPr>
          <p:cNvPr id="1065" name="Google Shape;1065;p87"/>
          <p:cNvSpPr txBox="1">
            <a:spLocks noGrp="1"/>
          </p:cNvSpPr>
          <p:nvPr>
            <p:ph type="body" idx="8"/>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Bidirectional mapping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1069"/>
        <p:cNvGrpSpPr/>
        <p:nvPr/>
      </p:nvGrpSpPr>
      <p:grpSpPr>
        <a:xfrm>
          <a:off x="0" y="0"/>
          <a:ext cx="0" cy="0"/>
          <a:chOff x="0" y="0"/>
          <a:chExt cx="0" cy="0"/>
        </a:xfrm>
      </p:grpSpPr>
      <p:sp>
        <p:nvSpPr>
          <p:cNvPr id="1070" name="Google Shape;1070;p88"/>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3</a:t>
            </a:r>
            <a:endParaRPr/>
          </a:p>
        </p:txBody>
      </p:sp>
      <p:sp>
        <p:nvSpPr>
          <p:cNvPr id="1071" name="Google Shape;1071;p88"/>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Which of the following is not a feature of Hibernate?</a:t>
            </a:r>
            <a:endParaRPr/>
          </a:p>
        </p:txBody>
      </p:sp>
      <p:sp>
        <p:nvSpPr>
          <p:cNvPr id="1072" name="Google Shape;1072;p88"/>
          <p:cNvSpPr txBox="1">
            <a:spLocks noGrp="1"/>
          </p:cNvSpPr>
          <p:nvPr>
            <p:ph type="body" idx="3"/>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Full-text search support</a:t>
            </a:r>
            <a:endParaRPr/>
          </a:p>
        </p:txBody>
      </p:sp>
      <p:sp>
        <p:nvSpPr>
          <p:cNvPr id="1073" name="Google Shape;1073;p88"/>
          <p:cNvSpPr txBox="1">
            <a:spLocks noGrp="1"/>
          </p:cNvSpPr>
          <p:nvPr>
            <p:ph type="body" idx="4"/>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Provision for smart query generation</a:t>
            </a:r>
            <a:endParaRPr/>
          </a:p>
        </p:txBody>
      </p:sp>
      <p:sp>
        <p:nvSpPr>
          <p:cNvPr id="1074" name="Google Shape;1074;p88"/>
          <p:cNvSpPr txBox="1">
            <a:spLocks noGrp="1"/>
          </p:cNvSpPr>
          <p:nvPr>
            <p:ph type="body" idx="5"/>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Query criteria support</a:t>
            </a:r>
            <a:endParaRPr/>
          </a:p>
        </p:txBody>
      </p:sp>
      <p:sp>
        <p:nvSpPr>
          <p:cNvPr id="1075" name="Google Shape;1075;p88"/>
          <p:cNvSpPr txBox="1">
            <a:spLocks noGrp="1"/>
          </p:cNvSpPr>
          <p:nvPr>
            <p:ph type="body" idx="6"/>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Translator for compile-time exception conversion</a:t>
            </a:r>
            <a:endParaRP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1079"/>
        <p:cNvGrpSpPr/>
        <p:nvPr/>
      </p:nvGrpSpPr>
      <p:grpSpPr>
        <a:xfrm>
          <a:off x="0" y="0"/>
          <a:ext cx="0" cy="0"/>
          <a:chOff x="0" y="0"/>
          <a:chExt cx="0" cy="0"/>
        </a:xfrm>
      </p:grpSpPr>
      <p:sp>
        <p:nvSpPr>
          <p:cNvPr id="1080" name="Google Shape;1080;p89"/>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3</a:t>
            </a:r>
            <a:endParaRPr/>
          </a:p>
        </p:txBody>
      </p:sp>
      <p:sp>
        <p:nvSpPr>
          <p:cNvPr id="1081" name="Google Shape;1081;p89"/>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Which of the following is not a feature of Hibernate?</a:t>
            </a:r>
            <a:endParaRPr/>
          </a:p>
        </p:txBody>
      </p:sp>
      <p:sp>
        <p:nvSpPr>
          <p:cNvPr id="1082" name="Google Shape;1082;p89"/>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p>
            <a:pPr marL="50800" lvl="0" indent="0" algn="l" rtl="0">
              <a:lnSpc>
                <a:spcPct val="90000"/>
              </a:lnSpc>
              <a:spcBef>
                <a:spcPts val="1000"/>
              </a:spcBef>
              <a:spcAft>
                <a:spcPts val="0"/>
              </a:spcAft>
              <a:buSzPts val="2800"/>
              <a:buNone/>
            </a:pPr>
            <a:r>
              <a:rPr lang="en-US"/>
              <a:t>Hibernate does not provide a translator for compile-time exception conversion.</a:t>
            </a:r>
            <a:endParaRPr/>
          </a:p>
        </p:txBody>
      </p:sp>
      <p:sp>
        <p:nvSpPr>
          <p:cNvPr id="1083" name="Google Shape;1083;p89"/>
          <p:cNvSpPr txBox="1">
            <a:spLocks noGrp="1"/>
          </p:cNvSpPr>
          <p:nvPr>
            <p:ph type="body" idx="4"/>
          </p:nvPr>
        </p:nvSpPr>
        <p:spPr>
          <a:xfrm>
            <a:off x="3346904" y="7368182"/>
            <a:ext cx="9022188" cy="400110"/>
          </a:xfrm>
          <a:prstGeom prst="rect">
            <a:avLst/>
          </a:prstGeom>
          <a:noFill/>
          <a:ln>
            <a:noFill/>
          </a:ln>
        </p:spPr>
        <p:txBody>
          <a:bodyPr spcFirstLastPara="1" wrap="square" lIns="91425" tIns="0" rIns="91425" bIns="0" anchor="b" anchorCtr="0">
            <a:noAutofit/>
          </a:bodyPr>
          <a:lstStyle/>
          <a:p>
            <a:pPr marL="50800" lvl="0" indent="0" algn="l" rtl="0">
              <a:lnSpc>
                <a:spcPct val="90000"/>
              </a:lnSpc>
              <a:spcBef>
                <a:spcPts val="1000"/>
              </a:spcBef>
              <a:spcAft>
                <a:spcPts val="0"/>
              </a:spcAft>
              <a:buSzPts val="2800"/>
              <a:buNone/>
            </a:pPr>
            <a:r>
              <a:rPr lang="en-US"/>
              <a:t>D. Translator for compile-time exception conversion</a:t>
            </a:r>
            <a:endParaRPr/>
          </a:p>
        </p:txBody>
      </p:sp>
      <p:sp>
        <p:nvSpPr>
          <p:cNvPr id="1084" name="Google Shape;1084;p89"/>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Full-text search support</a:t>
            </a:r>
            <a:endParaRPr/>
          </a:p>
        </p:txBody>
      </p:sp>
      <p:sp>
        <p:nvSpPr>
          <p:cNvPr id="1085" name="Google Shape;1085;p89"/>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Provision for smart query generation</a:t>
            </a:r>
            <a:endParaRPr/>
          </a:p>
        </p:txBody>
      </p:sp>
      <p:sp>
        <p:nvSpPr>
          <p:cNvPr id="1086" name="Google Shape;1086;p89"/>
          <p:cNvSpPr txBox="1">
            <a:spLocks noGrp="1"/>
          </p:cNvSpPr>
          <p:nvPr>
            <p:ph type="body" idx="7"/>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Query criteria support</a:t>
            </a:r>
            <a:endParaRPr/>
          </a:p>
        </p:txBody>
      </p:sp>
      <p:sp>
        <p:nvSpPr>
          <p:cNvPr id="1087" name="Google Shape;1087;p89"/>
          <p:cNvSpPr txBox="1">
            <a:spLocks noGrp="1"/>
          </p:cNvSpPr>
          <p:nvPr>
            <p:ph type="body" idx="8"/>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Translator for compile-time exception conversion</a:t>
            </a:r>
            <a:endParaRP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90"/>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4</a:t>
            </a:r>
            <a:endParaRPr/>
          </a:p>
        </p:txBody>
      </p:sp>
      <p:sp>
        <p:nvSpPr>
          <p:cNvPr id="1093" name="Google Shape;1093;p90"/>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Component mapping allows mapping of dependent objects as ________.</a:t>
            </a:r>
            <a:endParaRPr/>
          </a:p>
        </p:txBody>
      </p:sp>
      <p:sp>
        <p:nvSpPr>
          <p:cNvPr id="1094" name="Google Shape;1094;p90"/>
          <p:cNvSpPr txBox="1">
            <a:spLocks noGrp="1"/>
          </p:cNvSpPr>
          <p:nvPr>
            <p:ph type="body" idx="3"/>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Relation</a:t>
            </a:r>
            <a:endParaRPr/>
          </a:p>
        </p:txBody>
      </p:sp>
      <p:sp>
        <p:nvSpPr>
          <p:cNvPr id="1095" name="Google Shape;1095;p90"/>
          <p:cNvSpPr txBox="1">
            <a:spLocks noGrp="1"/>
          </p:cNvSpPr>
          <p:nvPr>
            <p:ph type="body" idx="4"/>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Independent objects</a:t>
            </a:r>
            <a:endParaRPr/>
          </a:p>
        </p:txBody>
      </p:sp>
      <p:sp>
        <p:nvSpPr>
          <p:cNvPr id="1096" name="Google Shape;1096;p90"/>
          <p:cNvSpPr txBox="1">
            <a:spLocks noGrp="1"/>
          </p:cNvSpPr>
          <p:nvPr>
            <p:ph type="body" idx="5"/>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Unique objects</a:t>
            </a:r>
            <a:endParaRPr/>
          </a:p>
        </p:txBody>
      </p:sp>
      <p:sp>
        <p:nvSpPr>
          <p:cNvPr id="1097" name="Google Shape;1097;p90"/>
          <p:cNvSpPr txBox="1">
            <a:spLocks noGrp="1"/>
          </p:cNvSpPr>
          <p:nvPr>
            <p:ph type="body" idx="6"/>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Components</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1101"/>
        <p:cNvGrpSpPr/>
        <p:nvPr/>
      </p:nvGrpSpPr>
      <p:grpSpPr>
        <a:xfrm>
          <a:off x="0" y="0"/>
          <a:ext cx="0" cy="0"/>
          <a:chOff x="0" y="0"/>
          <a:chExt cx="0" cy="0"/>
        </a:xfrm>
      </p:grpSpPr>
      <p:sp>
        <p:nvSpPr>
          <p:cNvPr id="1102" name="Google Shape;1102;p91"/>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4</a:t>
            </a:r>
            <a:endParaRPr/>
          </a:p>
        </p:txBody>
      </p:sp>
      <p:sp>
        <p:nvSpPr>
          <p:cNvPr id="1103" name="Google Shape;1103;p91"/>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Component mapping allows mapping of dependent objects as ________.</a:t>
            </a:r>
            <a:endParaRPr/>
          </a:p>
        </p:txBody>
      </p:sp>
      <p:sp>
        <p:nvSpPr>
          <p:cNvPr id="1104" name="Google Shape;1104;p91"/>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p>
            <a:pPr marL="50800" lvl="0" indent="0" algn="l" rtl="0">
              <a:lnSpc>
                <a:spcPct val="90000"/>
              </a:lnSpc>
              <a:spcBef>
                <a:spcPts val="1000"/>
              </a:spcBef>
              <a:spcAft>
                <a:spcPts val="0"/>
              </a:spcAft>
              <a:buSzPts val="2800"/>
              <a:buNone/>
            </a:pPr>
            <a:r>
              <a:rPr lang="en-US"/>
              <a:t>Component mapping allows mapping of dependent objects as components.</a:t>
            </a:r>
            <a:endParaRPr/>
          </a:p>
        </p:txBody>
      </p:sp>
      <p:sp>
        <p:nvSpPr>
          <p:cNvPr id="1105" name="Google Shape;1105;p91"/>
          <p:cNvSpPr txBox="1">
            <a:spLocks noGrp="1"/>
          </p:cNvSpPr>
          <p:nvPr>
            <p:ph type="body" idx="4"/>
          </p:nvPr>
        </p:nvSpPr>
        <p:spPr>
          <a:xfrm>
            <a:off x="3346904" y="7368182"/>
            <a:ext cx="9022188" cy="400110"/>
          </a:xfrm>
          <a:prstGeom prst="rect">
            <a:avLst/>
          </a:prstGeom>
          <a:noFill/>
          <a:ln>
            <a:noFill/>
          </a:ln>
        </p:spPr>
        <p:txBody>
          <a:bodyPr spcFirstLastPara="1" wrap="square" lIns="91425" tIns="0" rIns="91425" bIns="0" anchor="b" anchorCtr="0">
            <a:noAutofit/>
          </a:bodyPr>
          <a:lstStyle/>
          <a:p>
            <a:pPr marL="50800" lvl="0" indent="0" algn="l" rtl="0">
              <a:lnSpc>
                <a:spcPct val="90000"/>
              </a:lnSpc>
              <a:spcBef>
                <a:spcPts val="1000"/>
              </a:spcBef>
              <a:spcAft>
                <a:spcPts val="0"/>
              </a:spcAft>
              <a:buSzPts val="2800"/>
              <a:buNone/>
            </a:pPr>
            <a:r>
              <a:rPr lang="en-US"/>
              <a:t>D. Components</a:t>
            </a:r>
            <a:endParaRPr/>
          </a:p>
        </p:txBody>
      </p:sp>
      <p:sp>
        <p:nvSpPr>
          <p:cNvPr id="1106" name="Google Shape;1106;p91"/>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Relation</a:t>
            </a:r>
            <a:endParaRPr/>
          </a:p>
        </p:txBody>
      </p:sp>
      <p:sp>
        <p:nvSpPr>
          <p:cNvPr id="1107" name="Google Shape;1107;p91"/>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Independent objects</a:t>
            </a:r>
            <a:endParaRPr/>
          </a:p>
        </p:txBody>
      </p:sp>
      <p:sp>
        <p:nvSpPr>
          <p:cNvPr id="1108" name="Google Shape;1108;p91"/>
          <p:cNvSpPr txBox="1">
            <a:spLocks noGrp="1"/>
          </p:cNvSpPr>
          <p:nvPr>
            <p:ph type="body" idx="7"/>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Unique objects</a:t>
            </a:r>
            <a:endParaRPr/>
          </a:p>
        </p:txBody>
      </p:sp>
      <p:sp>
        <p:nvSpPr>
          <p:cNvPr id="1109" name="Google Shape;1109;p91"/>
          <p:cNvSpPr txBox="1">
            <a:spLocks noGrp="1"/>
          </p:cNvSpPr>
          <p:nvPr>
            <p:ph type="body" idx="8"/>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Components</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1113"/>
        <p:cNvGrpSpPr/>
        <p:nvPr/>
      </p:nvGrpSpPr>
      <p:grpSpPr>
        <a:xfrm>
          <a:off x="0" y="0"/>
          <a:ext cx="0" cy="0"/>
          <a:chOff x="0" y="0"/>
          <a:chExt cx="0" cy="0"/>
        </a:xfrm>
      </p:grpSpPr>
      <p:sp>
        <p:nvSpPr>
          <p:cNvPr id="1114" name="Google Shape;1114;p92"/>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5</a:t>
            </a:r>
            <a:endParaRPr/>
          </a:p>
        </p:txBody>
      </p:sp>
      <p:sp>
        <p:nvSpPr>
          <p:cNvPr id="1115" name="Google Shape;1115;p92"/>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spcBef>
                <a:spcPts val="1000"/>
              </a:spcBef>
              <a:spcAft>
                <a:spcPts val="0"/>
              </a:spcAft>
              <a:buSzPts val="2800"/>
              <a:buNone/>
            </a:pPr>
            <a:r>
              <a:rPr lang="en-US"/>
              <a:t>___________ is a lightweight open source Object Relational Mapping (ORM) framework. </a:t>
            </a:r>
            <a:endParaRPr/>
          </a:p>
        </p:txBody>
      </p:sp>
      <p:sp>
        <p:nvSpPr>
          <p:cNvPr id="1116" name="Google Shape;1116;p92"/>
          <p:cNvSpPr txBox="1">
            <a:spLocks noGrp="1"/>
          </p:cNvSpPr>
          <p:nvPr>
            <p:ph type="body" idx="5"/>
          </p:nvPr>
        </p:nvSpPr>
        <p:spPr>
          <a:xfrm>
            <a:off x="2329744" y="2788417"/>
            <a:ext cx="11250600" cy="701700"/>
          </a:xfrm>
          <a:prstGeom prst="rect">
            <a:avLst/>
          </a:prstGeom>
          <a:noFill/>
          <a:ln>
            <a:noFill/>
          </a:ln>
        </p:spPr>
        <p:txBody>
          <a:bodyPr spcFirstLastPara="1" wrap="square" lIns="91425" tIns="0" rIns="91425" bIns="0" anchor="t" anchorCtr="0">
            <a:noAutofit/>
          </a:bodyPr>
          <a:lstStyle/>
          <a:p>
            <a:pPr marL="50800" lvl="0" indent="0" algn="l" rtl="0">
              <a:lnSpc>
                <a:spcPct val="90000"/>
              </a:lnSpc>
              <a:spcBef>
                <a:spcPts val="1000"/>
              </a:spcBef>
              <a:spcAft>
                <a:spcPts val="0"/>
              </a:spcAft>
              <a:buSzPts val="2800"/>
              <a:buNone/>
            </a:pPr>
            <a:r>
              <a:rPr lang="en-US">
                <a:solidFill>
                  <a:srgbClr val="434343"/>
                </a:solidFill>
              </a:rPr>
              <a:t>Bidirectional Mapping</a:t>
            </a:r>
            <a:endParaRPr>
              <a:solidFill>
                <a:srgbClr val="434343"/>
              </a:solidFill>
            </a:endParaRPr>
          </a:p>
        </p:txBody>
      </p:sp>
      <p:sp>
        <p:nvSpPr>
          <p:cNvPr id="1117" name="Google Shape;1117;p92"/>
          <p:cNvSpPr txBox="1">
            <a:spLocks noGrp="1"/>
          </p:cNvSpPr>
          <p:nvPr>
            <p:ph type="body" idx="6"/>
          </p:nvPr>
        </p:nvSpPr>
        <p:spPr>
          <a:xfrm>
            <a:off x="2329744" y="3609022"/>
            <a:ext cx="11250600" cy="701700"/>
          </a:xfrm>
          <a:prstGeom prst="rect">
            <a:avLst/>
          </a:prstGeom>
          <a:noFill/>
          <a:ln>
            <a:noFill/>
          </a:ln>
        </p:spPr>
        <p:txBody>
          <a:bodyPr spcFirstLastPara="1" wrap="square" lIns="91425" tIns="0" rIns="91425" bIns="0" anchor="t" anchorCtr="0">
            <a:noAutofit/>
          </a:bodyPr>
          <a:lstStyle/>
          <a:p>
            <a:pPr marL="50800" lvl="0" indent="0" algn="l" rtl="0">
              <a:lnSpc>
                <a:spcPct val="90000"/>
              </a:lnSpc>
              <a:spcBef>
                <a:spcPts val="1000"/>
              </a:spcBef>
              <a:spcAft>
                <a:spcPts val="0"/>
              </a:spcAft>
              <a:buSzPts val="2800"/>
              <a:buNone/>
            </a:pPr>
            <a:r>
              <a:rPr lang="en-US">
                <a:solidFill>
                  <a:srgbClr val="434343"/>
                </a:solidFill>
              </a:rPr>
              <a:t>Spring</a:t>
            </a:r>
            <a:endParaRPr>
              <a:solidFill>
                <a:srgbClr val="434343"/>
              </a:solidFill>
            </a:endParaRPr>
          </a:p>
        </p:txBody>
      </p:sp>
      <p:sp>
        <p:nvSpPr>
          <p:cNvPr id="1118" name="Google Shape;1118;p92"/>
          <p:cNvSpPr txBox="1">
            <a:spLocks noGrp="1"/>
          </p:cNvSpPr>
          <p:nvPr>
            <p:ph type="body" idx="4294967295"/>
          </p:nvPr>
        </p:nvSpPr>
        <p:spPr>
          <a:xfrm>
            <a:off x="2329744" y="4429627"/>
            <a:ext cx="11250600" cy="701700"/>
          </a:xfrm>
          <a:prstGeom prst="rect">
            <a:avLst/>
          </a:prstGeom>
          <a:noFill/>
          <a:ln>
            <a:noFill/>
          </a:ln>
        </p:spPr>
        <p:txBody>
          <a:bodyPr spcFirstLastPara="1" wrap="square" lIns="91425" tIns="0" rIns="91425" bIns="0" anchor="t" anchorCtr="0">
            <a:noAutofit/>
          </a:bodyPr>
          <a:lstStyle/>
          <a:p>
            <a:pPr marL="50800" lvl="0" indent="0" algn="l" rtl="0">
              <a:lnSpc>
                <a:spcPct val="90000"/>
              </a:lnSpc>
              <a:spcBef>
                <a:spcPts val="1000"/>
              </a:spcBef>
              <a:spcAft>
                <a:spcPts val="0"/>
              </a:spcAft>
              <a:buSzPts val="2800"/>
              <a:buNone/>
            </a:pPr>
            <a:r>
              <a:rPr lang="en-US" sz="2000">
                <a:solidFill>
                  <a:srgbClr val="434343"/>
                </a:solidFill>
                <a:latin typeface="Open Sans"/>
                <a:ea typeface="Open Sans"/>
                <a:cs typeface="Open Sans"/>
                <a:sym typeface="Open Sans"/>
              </a:rPr>
              <a:t>Hibernate</a:t>
            </a:r>
            <a:endParaRPr sz="2000">
              <a:solidFill>
                <a:srgbClr val="434343"/>
              </a:solidFill>
              <a:latin typeface="Open Sans"/>
              <a:ea typeface="Open Sans"/>
              <a:cs typeface="Open Sans"/>
              <a:sym typeface="Open Sans"/>
            </a:endParaRPr>
          </a:p>
        </p:txBody>
      </p:sp>
      <p:sp>
        <p:nvSpPr>
          <p:cNvPr id="1119" name="Google Shape;1119;p92"/>
          <p:cNvSpPr txBox="1">
            <a:spLocks noGrp="1"/>
          </p:cNvSpPr>
          <p:nvPr>
            <p:ph type="body" idx="4294967295"/>
          </p:nvPr>
        </p:nvSpPr>
        <p:spPr>
          <a:xfrm>
            <a:off x="2329744" y="5250232"/>
            <a:ext cx="11250600" cy="701700"/>
          </a:xfrm>
          <a:prstGeom prst="rect">
            <a:avLst/>
          </a:prstGeom>
          <a:noFill/>
          <a:ln>
            <a:noFill/>
          </a:ln>
        </p:spPr>
        <p:txBody>
          <a:bodyPr spcFirstLastPara="1" wrap="square" lIns="91425" tIns="0" rIns="91425" bIns="0" anchor="t" anchorCtr="0">
            <a:noAutofit/>
          </a:bodyPr>
          <a:lstStyle/>
          <a:p>
            <a:pPr marL="50800" lvl="0" indent="0" algn="l" rtl="0">
              <a:lnSpc>
                <a:spcPct val="90000"/>
              </a:lnSpc>
              <a:spcBef>
                <a:spcPts val="1000"/>
              </a:spcBef>
              <a:spcAft>
                <a:spcPts val="0"/>
              </a:spcAft>
              <a:buSzPts val="2800"/>
              <a:buNone/>
            </a:pPr>
            <a:r>
              <a:rPr lang="en-US" sz="2000">
                <a:solidFill>
                  <a:srgbClr val="434343"/>
                </a:solidFill>
                <a:latin typeface="Open Sans"/>
                <a:ea typeface="Open Sans"/>
                <a:cs typeface="Open Sans"/>
                <a:sym typeface="Open Sans"/>
              </a:rPr>
              <a:t>Collection Mapping</a:t>
            </a:r>
            <a:endParaRPr sz="2000">
              <a:solidFill>
                <a:srgbClr val="434343"/>
              </a:solidFill>
              <a:latin typeface="Open Sans"/>
              <a:ea typeface="Open Sans"/>
              <a:cs typeface="Open Sans"/>
              <a:sym typeface="Open Sans"/>
            </a:endParaRP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1123"/>
        <p:cNvGrpSpPr/>
        <p:nvPr/>
      </p:nvGrpSpPr>
      <p:grpSpPr>
        <a:xfrm>
          <a:off x="0" y="0"/>
          <a:ext cx="0" cy="0"/>
          <a:chOff x="0" y="0"/>
          <a:chExt cx="0" cy="0"/>
        </a:xfrm>
      </p:grpSpPr>
      <p:sp>
        <p:nvSpPr>
          <p:cNvPr id="1124" name="Google Shape;1124;p93"/>
          <p:cNvSpPr txBox="1">
            <a:spLocks noGrp="1"/>
          </p:cNvSpPr>
          <p:nvPr>
            <p:ph type="body" idx="1"/>
          </p:nvPr>
        </p:nvSpPr>
        <p:spPr>
          <a:xfrm>
            <a:off x="1280469" y="1281797"/>
            <a:ext cx="1698904" cy="674183"/>
          </a:xfrm>
          <a:prstGeom prst="rect">
            <a:avLst/>
          </a:prstGeom>
          <a:noFill/>
          <a:ln>
            <a:noFill/>
          </a:ln>
        </p:spPr>
        <p:txBody>
          <a:bodyPr spcFirstLastPara="1" wrap="square" lIns="91425" tIns="45700" rIns="91425" bIns="45700" anchor="t" anchorCtr="0">
            <a:normAutofit/>
          </a:bodyPr>
          <a:lstStyle/>
          <a:p>
            <a:pPr marL="50800" lvl="0" indent="0" algn="ctr" rtl="0">
              <a:lnSpc>
                <a:spcPct val="90000"/>
              </a:lnSpc>
              <a:spcBef>
                <a:spcPts val="1000"/>
              </a:spcBef>
              <a:spcAft>
                <a:spcPts val="0"/>
              </a:spcAft>
              <a:buSzPts val="2800"/>
              <a:buNone/>
            </a:pPr>
            <a:r>
              <a:rPr lang="en-US"/>
              <a:t>5</a:t>
            </a:r>
            <a:endParaRPr/>
          </a:p>
        </p:txBody>
      </p:sp>
      <p:sp>
        <p:nvSpPr>
          <p:cNvPr id="1125" name="Google Shape;1125;p93"/>
          <p:cNvSpPr txBox="1">
            <a:spLocks noGrp="1"/>
          </p:cNvSpPr>
          <p:nvPr>
            <p:ph type="body" idx="2"/>
          </p:nvPr>
        </p:nvSpPr>
        <p:spPr>
          <a:xfrm>
            <a:off x="3012031" y="571937"/>
            <a:ext cx="12323689" cy="1424965"/>
          </a:xfrm>
          <a:prstGeom prst="rect">
            <a:avLst/>
          </a:prstGeom>
          <a:noFill/>
          <a:ln>
            <a:noFill/>
          </a:ln>
        </p:spPr>
        <p:txBody>
          <a:bodyPr spcFirstLastPara="1" wrap="square" lIns="91425" tIns="45700" rIns="91425" bIns="45700" anchor="ctr" anchorCtr="0">
            <a:normAutofit/>
          </a:bodyPr>
          <a:lstStyle/>
          <a:p>
            <a:pPr marL="50800" lvl="0" indent="0" algn="l" rtl="0">
              <a:lnSpc>
                <a:spcPct val="90000"/>
              </a:lnSpc>
              <a:spcBef>
                <a:spcPts val="1000"/>
              </a:spcBef>
              <a:spcAft>
                <a:spcPts val="0"/>
              </a:spcAft>
              <a:buSzPts val="2800"/>
              <a:buNone/>
            </a:pPr>
            <a:r>
              <a:rPr lang="en-US"/>
              <a:t>___________ is a lightweight open source Object Relational Mapping (ORM) framework. </a:t>
            </a:r>
            <a:endParaRPr/>
          </a:p>
        </p:txBody>
      </p:sp>
      <p:sp>
        <p:nvSpPr>
          <p:cNvPr id="1126" name="Google Shape;1126;p93"/>
          <p:cNvSpPr txBox="1">
            <a:spLocks noGrp="1"/>
          </p:cNvSpPr>
          <p:nvPr>
            <p:ph type="body" idx="3"/>
          </p:nvPr>
        </p:nvSpPr>
        <p:spPr>
          <a:xfrm>
            <a:off x="670033" y="7935120"/>
            <a:ext cx="15194414" cy="99867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200"/>
              <a:buFont typeface="Arial"/>
              <a:buNone/>
            </a:pPr>
            <a:r>
              <a:rPr lang="en-US" sz="2200"/>
              <a:t>Hibernate is a lightweight open source Object Relational Mapping (ORM) framework.</a:t>
            </a:r>
            <a:endParaRPr sz="2200"/>
          </a:p>
          <a:p>
            <a:pPr marL="50800" lvl="0" indent="0" algn="l" rtl="0">
              <a:lnSpc>
                <a:spcPct val="90000"/>
              </a:lnSpc>
              <a:spcBef>
                <a:spcPts val="1000"/>
              </a:spcBef>
              <a:spcAft>
                <a:spcPts val="0"/>
              </a:spcAft>
              <a:buSzPts val="2800"/>
              <a:buNone/>
            </a:pPr>
            <a:endParaRPr/>
          </a:p>
        </p:txBody>
      </p:sp>
      <p:sp>
        <p:nvSpPr>
          <p:cNvPr id="1127" name="Google Shape;1127;p93"/>
          <p:cNvSpPr txBox="1">
            <a:spLocks noGrp="1"/>
          </p:cNvSpPr>
          <p:nvPr>
            <p:ph type="body" idx="4"/>
          </p:nvPr>
        </p:nvSpPr>
        <p:spPr>
          <a:xfrm>
            <a:off x="3346904" y="7368182"/>
            <a:ext cx="9022188" cy="400110"/>
          </a:xfrm>
          <a:prstGeom prst="rect">
            <a:avLst/>
          </a:prstGeom>
          <a:noFill/>
          <a:ln>
            <a:noFill/>
          </a:ln>
        </p:spPr>
        <p:txBody>
          <a:bodyPr spcFirstLastPara="1" wrap="square" lIns="91425" tIns="0" rIns="91425" bIns="0" anchor="b" anchorCtr="0">
            <a:noAutofit/>
          </a:bodyPr>
          <a:lstStyle/>
          <a:p>
            <a:pPr marL="50800" lvl="0" indent="0" algn="l" rtl="0">
              <a:lnSpc>
                <a:spcPct val="90000"/>
              </a:lnSpc>
              <a:spcBef>
                <a:spcPts val="1000"/>
              </a:spcBef>
              <a:spcAft>
                <a:spcPts val="0"/>
              </a:spcAft>
              <a:buSzPts val="2800"/>
              <a:buNone/>
            </a:pPr>
            <a:r>
              <a:rPr lang="en-US"/>
              <a:t>C. Hibernate</a:t>
            </a:r>
            <a:endParaRPr/>
          </a:p>
        </p:txBody>
      </p:sp>
      <p:sp>
        <p:nvSpPr>
          <p:cNvPr id="1128" name="Google Shape;1128;p93"/>
          <p:cNvSpPr txBox="1">
            <a:spLocks noGrp="1"/>
          </p:cNvSpPr>
          <p:nvPr>
            <p:ph type="body" idx="5"/>
          </p:nvPr>
        </p:nvSpPr>
        <p:spPr>
          <a:xfrm>
            <a:off x="2329744" y="278841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solidFill>
                  <a:srgbClr val="333333"/>
                </a:solidFill>
              </a:rPr>
              <a:t>Bidirectional Mapping</a:t>
            </a:r>
            <a:endParaRPr/>
          </a:p>
        </p:txBody>
      </p:sp>
      <p:sp>
        <p:nvSpPr>
          <p:cNvPr id="1129" name="Google Shape;1129;p93"/>
          <p:cNvSpPr txBox="1">
            <a:spLocks noGrp="1"/>
          </p:cNvSpPr>
          <p:nvPr>
            <p:ph type="body" idx="6"/>
          </p:nvPr>
        </p:nvSpPr>
        <p:spPr>
          <a:xfrm>
            <a:off x="2329744" y="360902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Spring</a:t>
            </a:r>
            <a:endParaRPr/>
          </a:p>
        </p:txBody>
      </p:sp>
      <p:sp>
        <p:nvSpPr>
          <p:cNvPr id="1130" name="Google Shape;1130;p93"/>
          <p:cNvSpPr txBox="1">
            <a:spLocks noGrp="1"/>
          </p:cNvSpPr>
          <p:nvPr>
            <p:ph type="body" idx="7"/>
          </p:nvPr>
        </p:nvSpPr>
        <p:spPr>
          <a:xfrm>
            <a:off x="2329744" y="4429627"/>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Hibernate</a:t>
            </a:r>
            <a:endParaRPr/>
          </a:p>
        </p:txBody>
      </p:sp>
      <p:sp>
        <p:nvSpPr>
          <p:cNvPr id="1131" name="Google Shape;1131;p93"/>
          <p:cNvSpPr txBox="1">
            <a:spLocks noGrp="1"/>
          </p:cNvSpPr>
          <p:nvPr>
            <p:ph type="body" idx="8"/>
          </p:nvPr>
        </p:nvSpPr>
        <p:spPr>
          <a:xfrm>
            <a:off x="2329744" y="5250232"/>
            <a:ext cx="11250640" cy="701711"/>
          </a:xfrm>
          <a:prstGeom prst="rect">
            <a:avLst/>
          </a:prstGeom>
          <a:noFill/>
          <a:ln>
            <a:noFill/>
          </a:ln>
        </p:spPr>
        <p:txBody>
          <a:bodyPr spcFirstLastPara="1" wrap="square" lIns="91425" tIns="0" rIns="91425" bIns="0" anchor="t" anchorCtr="0">
            <a:normAutofit/>
          </a:bodyPr>
          <a:lstStyle/>
          <a:p>
            <a:pPr marL="50800" lvl="0" indent="0" algn="l" rtl="0">
              <a:lnSpc>
                <a:spcPct val="90000"/>
              </a:lnSpc>
              <a:spcBef>
                <a:spcPts val="1000"/>
              </a:spcBef>
              <a:spcAft>
                <a:spcPts val="0"/>
              </a:spcAft>
              <a:buSzPts val="2800"/>
              <a:buNone/>
            </a:pPr>
            <a:r>
              <a:rPr lang="en-US"/>
              <a:t>Collection Mapping</a:t>
            </a:r>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1136"/>
        <p:cNvGrpSpPr/>
        <p:nvPr/>
      </p:nvGrpSpPr>
      <p:grpSpPr>
        <a:xfrm>
          <a:off x="0" y="0"/>
          <a:ext cx="0" cy="0"/>
          <a:chOff x="0" y="0"/>
          <a:chExt cx="0" cy="0"/>
        </a:xfrm>
      </p:grpSpPr>
      <p:sp>
        <p:nvSpPr>
          <p:cNvPr id="1137" name="Google Shape;1137;p94"/>
          <p:cNvSpPr txBox="1"/>
          <p:nvPr/>
        </p:nvSpPr>
        <p:spPr>
          <a:xfrm>
            <a:off x="12365180" y="1370492"/>
            <a:ext cx="3461693" cy="437526"/>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rgbClr val="0F547B"/>
              </a:buClr>
              <a:buSzPts val="700"/>
              <a:buFont typeface="Arial"/>
              <a:buNone/>
            </a:pPr>
            <a:r>
              <a:rPr lang="en-US" sz="2200" b="1" i="0" u="none" strike="noStrike" cap="none">
                <a:solidFill>
                  <a:schemeClr val="lt1"/>
                </a:solidFill>
                <a:latin typeface="Open Sans"/>
                <a:ea typeface="Open Sans"/>
                <a:cs typeface="Open Sans"/>
                <a:sym typeface="Open Sans"/>
              </a:rPr>
              <a:t>Duration: 45 min.</a:t>
            </a:r>
            <a:endParaRPr sz="2200" b="1" i="0" u="none" strike="noStrike" cap="none">
              <a:solidFill>
                <a:schemeClr val="lt1"/>
              </a:solidFill>
              <a:latin typeface="Open Sans"/>
              <a:ea typeface="Open Sans"/>
              <a:cs typeface="Open Sans"/>
              <a:sym typeface="Open Sans"/>
            </a:endParaRPr>
          </a:p>
        </p:txBody>
      </p:sp>
      <p:sp>
        <p:nvSpPr>
          <p:cNvPr id="1138" name="Google Shape;1138;p94"/>
          <p:cNvSpPr txBox="1">
            <a:spLocks noGrp="1"/>
          </p:cNvSpPr>
          <p:nvPr>
            <p:ph type="title"/>
          </p:nvPr>
        </p:nvSpPr>
        <p:spPr>
          <a:xfrm>
            <a:off x="0" y="539514"/>
            <a:ext cx="16256001" cy="665045"/>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3F3F3F"/>
              </a:buClr>
              <a:buSzPts val="3200"/>
              <a:buFont typeface="Open Sans ExtraBold"/>
              <a:buNone/>
            </a:pPr>
            <a:r>
              <a:rPr lang="en-US"/>
              <a:t>Adding a New Product in the Database</a:t>
            </a:r>
            <a:endParaRPr/>
          </a:p>
        </p:txBody>
      </p:sp>
      <p:sp>
        <p:nvSpPr>
          <p:cNvPr id="1139" name="Google Shape;1139;p94"/>
          <p:cNvSpPr txBox="1">
            <a:spLocks noGrp="1"/>
          </p:cNvSpPr>
          <p:nvPr>
            <p:ph type="body" idx="1"/>
          </p:nvPr>
        </p:nvSpPr>
        <p:spPr>
          <a:xfrm>
            <a:off x="4699001" y="1770191"/>
            <a:ext cx="9956800" cy="5527418"/>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Clr>
                <a:srgbClr val="000000"/>
              </a:buClr>
              <a:buSzPts val="2200"/>
              <a:buNone/>
            </a:pPr>
            <a:r>
              <a:rPr lang="en-US" b="1">
                <a:latin typeface="Open Sans"/>
                <a:ea typeface="Open Sans"/>
                <a:cs typeface="Open Sans"/>
                <a:sym typeface="Open Sans"/>
              </a:rPr>
              <a:t>Problem Statement: </a:t>
            </a:r>
            <a:endParaRPr/>
          </a:p>
          <a:p>
            <a:pPr marL="0" lvl="0" indent="0" algn="l" rtl="0">
              <a:lnSpc>
                <a:spcPct val="90000"/>
              </a:lnSpc>
              <a:spcBef>
                <a:spcPts val="0"/>
              </a:spcBef>
              <a:spcAft>
                <a:spcPts val="0"/>
              </a:spcAft>
              <a:buClr>
                <a:srgbClr val="000000"/>
              </a:buClr>
              <a:buSzPts val="2200"/>
              <a:buNone/>
            </a:pPr>
            <a:r>
              <a:rPr lang="en-US">
                <a:latin typeface="Open Sans"/>
                <a:ea typeface="Open Sans"/>
                <a:cs typeface="Open Sans"/>
                <a:sym typeface="Open Sans"/>
              </a:rPr>
              <a:t>Create a Java program to add a new product into the database.</a:t>
            </a:r>
            <a:endParaRPr b="1">
              <a:latin typeface="Open Sans"/>
              <a:ea typeface="Open Sans"/>
              <a:cs typeface="Open Sans"/>
              <a:sym typeface="Open Sans"/>
            </a:endParaRPr>
          </a:p>
          <a:p>
            <a:pPr marL="0" lvl="0" indent="0" algn="l" rtl="0">
              <a:lnSpc>
                <a:spcPct val="90000"/>
              </a:lnSpc>
              <a:spcBef>
                <a:spcPts val="0"/>
              </a:spcBef>
              <a:spcAft>
                <a:spcPts val="0"/>
              </a:spcAft>
              <a:buClr>
                <a:srgbClr val="000000"/>
              </a:buClr>
              <a:buSzPts val="2800"/>
              <a:buNone/>
            </a:pPr>
            <a:endParaRPr>
              <a:latin typeface="Open Sans"/>
              <a:ea typeface="Open Sans"/>
              <a:cs typeface="Open Sans"/>
              <a:sym typeface="Open Sans"/>
            </a:endParaRP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1144"/>
        <p:cNvGrpSpPr/>
        <p:nvPr/>
      </p:nvGrpSpPr>
      <p:grpSpPr>
        <a:xfrm>
          <a:off x="0" y="0"/>
          <a:ext cx="0" cy="0"/>
          <a:chOff x="0" y="0"/>
          <a:chExt cx="0" cy="0"/>
        </a:xfrm>
      </p:grpSpPr>
      <p:sp>
        <p:nvSpPr>
          <p:cNvPr id="1145" name="Google Shape;1145;p156"/>
          <p:cNvSpPr txBox="1">
            <a:spLocks noGrp="1"/>
          </p:cNvSpPr>
          <p:nvPr>
            <p:ph type="body" idx="1"/>
          </p:nvPr>
        </p:nvSpPr>
        <p:spPr>
          <a:xfrm>
            <a:off x="1120875" y="1808291"/>
            <a:ext cx="8092571" cy="5527418"/>
          </a:xfrm>
          <a:prstGeom prst="rect">
            <a:avLst/>
          </a:prstGeom>
          <a:noFill/>
          <a:ln>
            <a:noFill/>
          </a:ln>
        </p:spPr>
        <p:txBody>
          <a:bodyPr spcFirstLastPara="1" wrap="square" lIns="91425" tIns="0" rIns="91425" bIns="0" anchor="t" anchorCtr="0">
            <a:normAutofit/>
          </a:bodyPr>
          <a:lstStyle/>
          <a:p>
            <a:pPr marL="457200" lvl="0" indent="-317500" algn="l" rtl="0">
              <a:lnSpc>
                <a:spcPct val="250000"/>
              </a:lnSpc>
              <a:spcBef>
                <a:spcPts val="0"/>
              </a:spcBef>
              <a:spcAft>
                <a:spcPts val="0"/>
              </a:spcAft>
              <a:buSzPts val="2200"/>
              <a:buNone/>
            </a:pPr>
            <a:r>
              <a:rPr lang="en-US" b="1"/>
              <a:t>Course: </a:t>
            </a:r>
            <a:r>
              <a:rPr lang="en-US"/>
              <a:t>Java Certification Training Course</a:t>
            </a:r>
            <a:endParaRPr/>
          </a:p>
          <a:p>
            <a:pPr marL="457200" lvl="0" indent="-317500" algn="l" rtl="0">
              <a:lnSpc>
                <a:spcPct val="250000"/>
              </a:lnSpc>
              <a:spcBef>
                <a:spcPts val="0"/>
              </a:spcBef>
              <a:spcAft>
                <a:spcPts val="0"/>
              </a:spcAft>
              <a:buSzPts val="2200"/>
              <a:buNone/>
            </a:pPr>
            <a:r>
              <a:rPr lang="en-US" b="1"/>
              <a:t>You should be able to: </a:t>
            </a:r>
            <a:endParaRPr/>
          </a:p>
          <a:p>
            <a:pPr marL="342900" lvl="0" indent="-342900" algn="l" rtl="0">
              <a:lnSpc>
                <a:spcPct val="150000"/>
              </a:lnSpc>
              <a:spcBef>
                <a:spcPts val="1000"/>
              </a:spcBef>
              <a:spcAft>
                <a:spcPts val="0"/>
              </a:spcAft>
              <a:buClr>
                <a:schemeClr val="lt1"/>
              </a:buClr>
              <a:buSzPts val="2200"/>
              <a:buFont typeface="Noto Sans Symbols"/>
              <a:buChar char="▪"/>
            </a:pPr>
            <a:r>
              <a:rPr lang="en-US">
                <a:latin typeface="Open Sans"/>
                <a:ea typeface="Open Sans"/>
                <a:cs typeface="Open Sans"/>
                <a:sym typeface="Open Sans"/>
              </a:rPr>
              <a:t>Explain JSP life cycle</a:t>
            </a:r>
            <a:endParaRPr/>
          </a:p>
          <a:p>
            <a:pPr marL="342900" lvl="0" indent="-342900" algn="l" rtl="0">
              <a:lnSpc>
                <a:spcPct val="150000"/>
              </a:lnSpc>
              <a:spcBef>
                <a:spcPts val="1000"/>
              </a:spcBef>
              <a:spcAft>
                <a:spcPts val="0"/>
              </a:spcAft>
              <a:buClr>
                <a:schemeClr val="lt1"/>
              </a:buClr>
              <a:buSzPts val="2200"/>
              <a:buFont typeface="Noto Sans Symbols"/>
              <a:buChar char="▪"/>
            </a:pPr>
            <a:r>
              <a:rPr lang="en-US"/>
              <a:t>Create JSP elements</a:t>
            </a:r>
            <a:endParaRPr/>
          </a:p>
          <a:p>
            <a:pPr marL="342900" lvl="0" indent="-342900" algn="l" rtl="0">
              <a:lnSpc>
                <a:spcPct val="150000"/>
              </a:lnSpc>
              <a:spcBef>
                <a:spcPts val="1000"/>
              </a:spcBef>
              <a:spcAft>
                <a:spcPts val="0"/>
              </a:spcAft>
              <a:buClr>
                <a:schemeClr val="lt1"/>
              </a:buClr>
              <a:buSzPts val="2200"/>
              <a:buFont typeface="Noto Sans Symbols"/>
              <a:buChar char="▪"/>
            </a:pPr>
            <a:r>
              <a:rPr lang="en-US"/>
              <a:t>Demonstrate JSP standard actions</a:t>
            </a:r>
            <a:endParaRPr/>
          </a:p>
          <a:p>
            <a:pPr marL="342900" lvl="0" indent="-342900" algn="l" rtl="0">
              <a:lnSpc>
                <a:spcPct val="150000"/>
              </a:lnSpc>
              <a:spcBef>
                <a:spcPts val="1000"/>
              </a:spcBef>
              <a:spcAft>
                <a:spcPts val="0"/>
              </a:spcAft>
              <a:buClr>
                <a:schemeClr val="lt1"/>
              </a:buClr>
              <a:buSzPts val="2200"/>
              <a:buFont typeface="Noto Sans Symbols"/>
              <a:buChar char="▪"/>
            </a:pPr>
            <a:r>
              <a:rPr lang="en-US"/>
              <a:t>Use JSTL and custom tag libraries</a:t>
            </a:r>
            <a:endParaRPr/>
          </a:p>
        </p:txBody>
      </p:sp>
    </p:spTree>
  </p:cSld>
  <p:clrMapOvr>
    <a:masterClrMapping/>
  </p:clrMapOvr>
</p:sld>
</file>

<file path=ppt/theme/theme1.xml><?xml version="1.0" encoding="utf-8"?>
<a:theme xmlns:a="http://schemas.openxmlformats.org/drawingml/2006/main" name="Digital Marketing">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3880</Words>
  <Application>Microsoft Office PowerPoint</Application>
  <PresentationFormat>Custom</PresentationFormat>
  <Paragraphs>731</Paragraphs>
  <Slides>75</Slides>
  <Notes>75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75</vt:i4>
      </vt:variant>
    </vt:vector>
  </HeadingPairs>
  <TitlesOfParts>
    <vt:vector size="82" baseType="lpstr">
      <vt:lpstr>Arial</vt:lpstr>
      <vt:lpstr>Noto Sans Symbols</vt:lpstr>
      <vt:lpstr>Calibri</vt:lpstr>
      <vt:lpstr>Courier New</vt:lpstr>
      <vt:lpstr>Open Sans ExtraBold</vt:lpstr>
      <vt:lpstr>Open Sans</vt:lpstr>
      <vt:lpstr>Digital Marketing</vt:lpstr>
      <vt:lpstr>PowerPoint Presentation</vt:lpstr>
      <vt:lpstr>PowerPoint Presentation</vt:lpstr>
      <vt:lpstr>PowerPoint Presentation</vt:lpstr>
      <vt:lpstr>PowerPoint Presentation</vt:lpstr>
      <vt:lpstr>PowerPoint Presentation</vt:lpstr>
      <vt:lpstr>PowerPoint Presentation</vt:lpstr>
      <vt:lpstr>Hibernate Overview</vt:lpstr>
      <vt:lpstr>Hibernate Features</vt:lpstr>
      <vt:lpstr>Hibernate Features</vt:lpstr>
      <vt:lpstr>Hibernate-Supported Databases and Technologies </vt:lpstr>
      <vt:lpstr>High-Level Hibernate Architecture</vt:lpstr>
      <vt:lpstr>Hibernate Architecture</vt:lpstr>
      <vt:lpstr>Hibernate Architecture: Elements</vt:lpstr>
      <vt:lpstr>Steps to Create a Hibernate Application on Command Prompt</vt:lpstr>
      <vt:lpstr>Configuration of Hibernate</vt:lpstr>
      <vt:lpstr>Assisted Practice: Guidelines </vt:lpstr>
      <vt:lpstr>Hibernate Configuration Using XML in Eclipse</vt:lpstr>
      <vt:lpstr>Assisted Practice: Guidelines</vt:lpstr>
      <vt:lpstr>Hibernate Configuration Using Annotations in Eclipse</vt:lpstr>
      <vt:lpstr>Assisted Practice: Guidelines </vt:lpstr>
      <vt:lpstr>PowerPoint Presentation</vt:lpstr>
      <vt:lpstr>Hibernate Logging</vt:lpstr>
      <vt:lpstr>Hibernate Logging by Log4j Using log4j.xml </vt:lpstr>
      <vt:lpstr>Hibernate Logging by Log4j Using log4j.properties</vt:lpstr>
      <vt:lpstr>Hibernate Logging by Log4j</vt:lpstr>
      <vt:lpstr>Assisted Practice: Guidelines </vt:lpstr>
      <vt:lpstr>PowerPoint Presentation</vt:lpstr>
      <vt:lpstr>Collection Mapping in Hibernate</vt:lpstr>
      <vt:lpstr>Collection Mapping Elements in Hibernate</vt:lpstr>
      <vt:lpstr>PowerPoint Presentation</vt:lpstr>
      <vt:lpstr>Mapping List in Collection Using XML File</vt:lpstr>
      <vt:lpstr>Mapping Bag in Collection Using XML File</vt:lpstr>
      <vt:lpstr>Mapping Set in Collection Using XML File</vt:lpstr>
      <vt:lpstr>Mapping Map in Collection Using XML File</vt:lpstr>
      <vt:lpstr>Collection Mapping in Hibernate</vt:lpstr>
      <vt:lpstr>Assisted Practice: Guidelines </vt:lpstr>
      <vt:lpstr>PowerPoint Presentation</vt:lpstr>
      <vt:lpstr>Association Mapping</vt:lpstr>
      <vt:lpstr>Association Mapping</vt:lpstr>
      <vt:lpstr>Hibernate Mapping Using XML</vt:lpstr>
      <vt:lpstr>Hibernate Mapping Using XML</vt:lpstr>
      <vt:lpstr>PowerPoint Presentation</vt:lpstr>
      <vt:lpstr>Hibernate Mapping Using Annotations</vt:lpstr>
      <vt:lpstr>Hibernate Mapping Using Annotations</vt:lpstr>
      <vt:lpstr>PowerPoint Presentation</vt:lpstr>
      <vt:lpstr>Bidirectional Mapping</vt:lpstr>
      <vt:lpstr>Bidirectional Mapping: Rules</vt:lpstr>
      <vt:lpstr>PowerPoint Presentation</vt:lpstr>
      <vt:lpstr>Lazy Collection</vt:lpstr>
      <vt:lpstr>Hibernate Lazy Collection</vt:lpstr>
      <vt:lpstr>Assisted Practice: Guidelines </vt:lpstr>
      <vt:lpstr>PowerPoint Presentation</vt:lpstr>
      <vt:lpstr>Component Mapping</vt:lpstr>
      <vt:lpstr>Component Mapping</vt:lpstr>
      <vt:lpstr>Component Mapping</vt:lpstr>
      <vt:lpstr>Assisted Practice: Guidelines </vt:lpstr>
      <vt:lpstr>PowerPoint Presentation</vt:lpstr>
      <vt:lpstr>Spring</vt:lpstr>
      <vt:lpstr>Steps to Integrate Hibernate with Spring</vt:lpstr>
      <vt:lpstr>Integration of Hibernate with Spring</vt:lpstr>
      <vt:lpstr>Assisted Practice: Guidelines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Adding a New Product in the Database</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
  <cp:revision>1</cp:revision>
  <dcterms:created xsi:type="dcterms:W3CDTF">2016-12-06T06:58:02Z</dcterms:created>
  <dcterms:modified xsi:type="dcterms:W3CDTF">2020-05-08T11:38:25Z</dcterms:modified>
</cp:coreProperties>
</file>